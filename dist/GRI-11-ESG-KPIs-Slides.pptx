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ESG = Environmental, Social and Governance. GRI = Global Reporting Initiative.
Open with the Nigerian hook: the NGX guidelines point at GRI, and the FRC has adopted IFRS S1 and S2.
Reporting is no longer discretionary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rule is the heart of GRI 11. It is what stops a refinery publishing a report about tree planting
and community football while saying nothing about flaring, process safety or payments to governments.
GRI 11 was the first sector standard GRI ever published.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all 22 aloud. Point at the four groups, then name the highlighted ones.
11.8 asset integrity is measured as Tier 1 and Tier 2 process safety events under API RP 754 —
the same loss-of-containment work as our CDU integrity study, now as a public disclosure.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Twelve of roughly forty. The full set with formulas is in the brief.
Flag the injury rate basis: 200,000 hours is US practice, much of the industry uses 1,000,000 —
comparing the two without saying which is a fivefold error.
EII = Energy Intensity Index; VOC = volatile organic compounds.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last line and stop. Do not summarise.
If asked which framework to pick: GRI as the backbone, IFRS S2 for the investor climate section,
SASB where a precise industry number is wanted, IPIECA for how to measure it. One data dictionary
underneath all of them, or you publish contradictory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40" kern="0" dirty="0">
                <a:solidFill>
                  <a:srgbClr val="A8C6E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QUESTION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810512"/>
            <a:ext cx="98115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ESG Key Performance</a:t>
            </a:r>
            <a:endParaRPr lang="en-US" sz="50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Indicators under GRI 11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640080" y="3803904"/>
            <a:ext cx="2194560" cy="82296"/>
          </a:xfrm>
          <a:prstGeom prst="rect">
            <a:avLst/>
          </a:prstGeom>
          <a:solidFill>
            <a:srgbClr val="4C86C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059936"/>
            <a:ext cx="9628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DCE8F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22 questions a refinery is not allowed to ignore — and the metrics that answer them.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55778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C6E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GRI 11: Oil and Gas Sector 2021 · effective 1 January 2023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5943600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60" kern="0" dirty="0">
                <a:solidFill>
                  <a:srgbClr val="7FA8C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GROUP C  (29 MEMBERS)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60" kern="0" dirty="0">
                <a:solidFill>
                  <a:srgbClr val="4C86C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STRUCTURE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Three layers, used in order.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700784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C6B7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sector layer is what makes the report about refining rather than about anything.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422904" cy="2377440"/>
          </a:xfrm>
          <a:prstGeom prst="roundRect">
            <a:avLst>
              <a:gd name="adj" fmla="val 2308"/>
            </a:avLst>
          </a:prstGeom>
          <a:solidFill>
            <a:srgbClr val="DCE8F5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2542032"/>
            <a:ext cx="512064" cy="51206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950976" y="25420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CE8F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09344" y="2542032"/>
            <a:ext cx="2142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UNIVERSAL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50976" y="3200400"/>
            <a:ext cx="2801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86C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GRI 1, 2 and 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50976" y="3602736"/>
            <a:ext cx="280111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5C6B7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Who you are, and how you</a:t>
            </a:r>
            <a:endParaRPr lang="en-US" sz="16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5C6B7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decide what matters.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117848" y="3310128"/>
            <a:ext cx="210312" cy="329184"/>
          </a:xfrm>
          <a:prstGeom prst="rightArrow">
            <a:avLst/>
          </a:prstGeom>
          <a:solidFill>
            <a:srgbClr val="A8C6E5"/>
          </a:solidFill>
          <a:ln/>
        </p:spPr>
      </p:sp>
      <p:sp>
        <p:nvSpPr>
          <p:cNvPr id="12" name="Shape 10"/>
          <p:cNvSpPr/>
          <p:nvPr/>
        </p:nvSpPr>
        <p:spPr>
          <a:xfrm>
            <a:off x="4383024" y="2286000"/>
            <a:ext cx="3422904" cy="2377440"/>
          </a:xfrm>
          <a:prstGeom prst="roundRect">
            <a:avLst>
              <a:gd name="adj" fmla="val 2308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27000" dist="25400" dir="5400000">
              <a:srgbClr val="8A99AC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93920" y="2542032"/>
            <a:ext cx="512064" cy="512064"/>
          </a:xfrm>
          <a:prstGeom prst="ellipse">
            <a:avLst/>
          </a:prstGeom>
          <a:solidFill>
            <a:srgbClr val="4C86C6"/>
          </a:solidFill>
          <a:ln/>
        </p:spPr>
      </p:sp>
      <p:sp>
        <p:nvSpPr>
          <p:cNvPr id="14" name="Text 12"/>
          <p:cNvSpPr/>
          <p:nvPr/>
        </p:nvSpPr>
        <p:spPr>
          <a:xfrm>
            <a:off x="4693920" y="25420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352288" y="2542032"/>
            <a:ext cx="2142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SECTOR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4693920" y="3200400"/>
            <a:ext cx="2801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C6E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GRI 11 — Oil and Gas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93920" y="3602736"/>
            <a:ext cx="280111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DCE8F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22 topics likely to be</a:t>
            </a:r>
            <a:endParaRPr lang="en-US" sz="16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DCE8F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material to this industry.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860792" y="3310128"/>
            <a:ext cx="210312" cy="329184"/>
          </a:xfrm>
          <a:prstGeom prst="rightArrow">
            <a:avLst/>
          </a:prstGeom>
          <a:solidFill>
            <a:srgbClr val="A8C6E5"/>
          </a:solidFill>
          <a:ln/>
        </p:spPr>
      </p:sp>
      <p:sp>
        <p:nvSpPr>
          <p:cNvPr id="19" name="Shape 17"/>
          <p:cNvSpPr/>
          <p:nvPr/>
        </p:nvSpPr>
        <p:spPr>
          <a:xfrm>
            <a:off x="8125968" y="2286000"/>
            <a:ext cx="3422904" cy="2377440"/>
          </a:xfrm>
          <a:prstGeom prst="roundRect">
            <a:avLst>
              <a:gd name="adj" fmla="val 2308"/>
            </a:avLst>
          </a:prstGeom>
          <a:solidFill>
            <a:srgbClr val="DCE8F5"/>
          </a:solidFill>
          <a:ln/>
        </p:spPr>
      </p:sp>
      <p:sp>
        <p:nvSpPr>
          <p:cNvPr id="20" name="Shape 18"/>
          <p:cNvSpPr/>
          <p:nvPr/>
        </p:nvSpPr>
        <p:spPr>
          <a:xfrm>
            <a:off x="8436864" y="2542032"/>
            <a:ext cx="512064" cy="51206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1" name="Text 19"/>
          <p:cNvSpPr/>
          <p:nvPr/>
        </p:nvSpPr>
        <p:spPr>
          <a:xfrm>
            <a:off x="8436864" y="25420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CE8F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095232" y="2542032"/>
            <a:ext cx="2142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TOPIC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8436864" y="3200400"/>
            <a:ext cx="2801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86C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GRI 200 / 300 / 400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436864" y="3602736"/>
            <a:ext cx="280111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5C6B7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actual metrics, such as</a:t>
            </a:r>
            <a:endParaRPr lang="en-US" sz="16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5C6B7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305-1 or 403-9.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" y="4901184"/>
            <a:ext cx="10908792" cy="1188720"/>
          </a:xfrm>
          <a:prstGeom prst="roundRect">
            <a:avLst>
              <a:gd name="adj" fmla="val 4615"/>
            </a:avLst>
          </a:prstGeom>
          <a:solidFill>
            <a:srgbClr val="0B2545"/>
          </a:solidFill>
          <a:ln/>
        </p:spPr>
      </p:sp>
      <p:sp>
        <p:nvSpPr>
          <p:cNvPr id="26" name="Text 24"/>
          <p:cNvSpPr/>
          <p:nvPr/>
        </p:nvSpPr>
        <p:spPr>
          <a:xfrm>
            <a:off x="969264" y="5029200"/>
            <a:ext cx="10250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C6E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report-or-explain rule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69264" y="5431536"/>
            <a:ext cx="10250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All 22 topics must be reviewed. Any you call immaterial must be listed, with the reason.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640080" y="6272784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8B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ESG KPIs for a refinery under GRI Sector Standard 11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000232" y="627278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C86C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60" kern="0" dirty="0">
                <a:solidFill>
                  <a:srgbClr val="4C86C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GRI 11 — THE WHOLE MAP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22 topics. For a refinery, most are material.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700784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C6B7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Grouped here for legibility; the standard numbers them 11.1 to 11.22.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249424"/>
            <a:ext cx="2603754" cy="3310128"/>
          </a:xfrm>
          <a:prstGeom prst="roundRect">
            <a:avLst>
              <a:gd name="adj" fmla="val 2107"/>
            </a:avLst>
          </a:prstGeom>
          <a:solidFill>
            <a:srgbClr val="DCE8F5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377440"/>
            <a:ext cx="22014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C86C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ENVIRONMENT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798064"/>
            <a:ext cx="2420874" cy="365760"/>
          </a:xfrm>
          <a:prstGeom prst="roundRect">
            <a:avLst>
              <a:gd name="adj" fmla="val 10000"/>
            </a:avLst>
          </a:prstGeom>
          <a:solidFill>
            <a:srgbClr val="0B2545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779776"/>
            <a:ext cx="22745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11.1  GHG emissions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200400"/>
            <a:ext cx="2420874" cy="365760"/>
          </a:xfrm>
          <a:prstGeom prst="roundRect">
            <a:avLst>
              <a:gd name="adj" fmla="val 10000"/>
            </a:avLst>
          </a:prstGeom>
          <a:solidFill>
            <a:srgbClr val="0B254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182112"/>
            <a:ext cx="22745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11.2  Climate transition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602736"/>
            <a:ext cx="2420874" cy="365760"/>
          </a:xfrm>
          <a:prstGeom prst="roundRect">
            <a:avLst>
              <a:gd name="adj" fmla="val 10000"/>
            </a:avLst>
          </a:prstGeom>
          <a:solidFill>
            <a:srgbClr val="0B2545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584448"/>
            <a:ext cx="22745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11.3  Air emissions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986784"/>
            <a:ext cx="22745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141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11.4  Biodiversity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4407408"/>
            <a:ext cx="2420874" cy="365760"/>
          </a:xfrm>
          <a:prstGeom prst="roundRect">
            <a:avLst>
              <a:gd name="adj" fmla="val 10000"/>
            </a:avLst>
          </a:prstGeom>
          <a:solidFill>
            <a:srgbClr val="0B2545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389120"/>
            <a:ext cx="22745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11.5  Waste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4809744"/>
            <a:ext cx="2420874" cy="365760"/>
          </a:xfrm>
          <a:prstGeom prst="roundRect">
            <a:avLst>
              <a:gd name="adj" fmla="val 10000"/>
            </a:avLst>
          </a:prstGeom>
          <a:solidFill>
            <a:srgbClr val="0B2545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791456"/>
            <a:ext cx="22745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11.6  Water and effluent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5193792"/>
            <a:ext cx="22745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141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11.7  Closure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408426" y="2249424"/>
            <a:ext cx="2603754" cy="3310128"/>
          </a:xfrm>
          <a:prstGeom prst="roundRect">
            <a:avLst>
              <a:gd name="adj" fmla="val 2107"/>
            </a:avLst>
          </a:prstGeom>
          <a:solidFill>
            <a:srgbClr val="DCE8F5"/>
          </a:solidFill>
          <a:ln/>
        </p:spPr>
      </p:sp>
      <p:sp>
        <p:nvSpPr>
          <p:cNvPr id="20" name="Text 18"/>
          <p:cNvSpPr/>
          <p:nvPr/>
        </p:nvSpPr>
        <p:spPr>
          <a:xfrm>
            <a:off x="3609594" y="2377440"/>
            <a:ext cx="22014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C86C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SAFETY AND PEOPLE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99866" y="2798064"/>
            <a:ext cx="2420874" cy="365760"/>
          </a:xfrm>
          <a:prstGeom prst="roundRect">
            <a:avLst>
              <a:gd name="adj" fmla="val 10000"/>
            </a:avLst>
          </a:prstGeom>
          <a:solidFill>
            <a:srgbClr val="0B2545"/>
          </a:solidFill>
          <a:ln/>
        </p:spPr>
      </p:sp>
      <p:sp>
        <p:nvSpPr>
          <p:cNvPr id="22" name="Text 20"/>
          <p:cNvSpPr/>
          <p:nvPr/>
        </p:nvSpPr>
        <p:spPr>
          <a:xfrm>
            <a:off x="3591306" y="2779776"/>
            <a:ext cx="22745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11.8  Asset integrity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499866" y="3200400"/>
            <a:ext cx="2420874" cy="365760"/>
          </a:xfrm>
          <a:prstGeom prst="roundRect">
            <a:avLst>
              <a:gd name="adj" fmla="val 10000"/>
            </a:avLst>
          </a:prstGeom>
          <a:solidFill>
            <a:srgbClr val="0B2545"/>
          </a:solidFill>
          <a:ln/>
        </p:spPr>
      </p:sp>
      <p:sp>
        <p:nvSpPr>
          <p:cNvPr id="24" name="Text 22"/>
          <p:cNvSpPr/>
          <p:nvPr/>
        </p:nvSpPr>
        <p:spPr>
          <a:xfrm>
            <a:off x="3591306" y="3182112"/>
            <a:ext cx="22745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11.9  Health and safety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591306" y="3584448"/>
            <a:ext cx="22745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141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11.10  Employment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591306" y="3986784"/>
            <a:ext cx="22745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141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11.11  Equal opportunity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91306" y="4389120"/>
            <a:ext cx="22745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141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11.12  Forced labour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591306" y="4791456"/>
            <a:ext cx="22745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141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11.13  Association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176772" y="2249424"/>
            <a:ext cx="2603754" cy="3310128"/>
          </a:xfrm>
          <a:prstGeom prst="roundRect">
            <a:avLst>
              <a:gd name="adj" fmla="val 2107"/>
            </a:avLst>
          </a:prstGeom>
          <a:solidFill>
            <a:srgbClr val="DCE8F5"/>
          </a:solidFill>
          <a:ln/>
        </p:spPr>
      </p:sp>
      <p:sp>
        <p:nvSpPr>
          <p:cNvPr id="30" name="Text 28"/>
          <p:cNvSpPr/>
          <p:nvPr/>
        </p:nvSpPr>
        <p:spPr>
          <a:xfrm>
            <a:off x="6377940" y="2377440"/>
            <a:ext cx="22014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C86C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SOCIETY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268212" y="2798064"/>
            <a:ext cx="2420874" cy="365760"/>
          </a:xfrm>
          <a:prstGeom prst="roundRect">
            <a:avLst>
              <a:gd name="adj" fmla="val 10000"/>
            </a:avLst>
          </a:prstGeom>
          <a:solidFill>
            <a:srgbClr val="0B2545"/>
          </a:solidFill>
          <a:ln/>
        </p:spPr>
      </p:sp>
      <p:sp>
        <p:nvSpPr>
          <p:cNvPr id="32" name="Text 30"/>
          <p:cNvSpPr/>
          <p:nvPr/>
        </p:nvSpPr>
        <p:spPr>
          <a:xfrm>
            <a:off x="6359652" y="2779776"/>
            <a:ext cx="22745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11.14  Economic impacts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268212" y="3200400"/>
            <a:ext cx="2420874" cy="365760"/>
          </a:xfrm>
          <a:prstGeom prst="roundRect">
            <a:avLst>
              <a:gd name="adj" fmla="val 10000"/>
            </a:avLst>
          </a:prstGeom>
          <a:solidFill>
            <a:srgbClr val="0B2545"/>
          </a:solidFill>
          <a:ln/>
        </p:spPr>
      </p:sp>
      <p:sp>
        <p:nvSpPr>
          <p:cNvPr id="34" name="Text 32"/>
          <p:cNvSpPr/>
          <p:nvPr/>
        </p:nvSpPr>
        <p:spPr>
          <a:xfrm>
            <a:off x="6359652" y="3182112"/>
            <a:ext cx="22745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11.15  Local communities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359652" y="3584448"/>
            <a:ext cx="22745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141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11.16  Land rights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359652" y="3986784"/>
            <a:ext cx="22745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141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11.17  Indigenous rights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359652" y="4389120"/>
            <a:ext cx="22745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141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11.18  Conflict/security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945118" y="2249424"/>
            <a:ext cx="2603754" cy="3310128"/>
          </a:xfrm>
          <a:prstGeom prst="roundRect">
            <a:avLst>
              <a:gd name="adj" fmla="val 2107"/>
            </a:avLst>
          </a:prstGeom>
          <a:solidFill>
            <a:srgbClr val="DCE8F5"/>
          </a:solidFill>
          <a:ln/>
        </p:spPr>
      </p:sp>
      <p:sp>
        <p:nvSpPr>
          <p:cNvPr id="39" name="Text 37"/>
          <p:cNvSpPr/>
          <p:nvPr/>
        </p:nvSpPr>
        <p:spPr>
          <a:xfrm>
            <a:off x="9146286" y="2377440"/>
            <a:ext cx="22014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C86C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GOVERNANCE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127998" y="2779776"/>
            <a:ext cx="22745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141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11.19  Anti-competitive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9036558" y="3200400"/>
            <a:ext cx="2420874" cy="365760"/>
          </a:xfrm>
          <a:prstGeom prst="roundRect">
            <a:avLst>
              <a:gd name="adj" fmla="val 10000"/>
            </a:avLst>
          </a:prstGeom>
          <a:solidFill>
            <a:srgbClr val="0B2545"/>
          </a:solidFill>
          <a:ln/>
        </p:spPr>
      </p:sp>
      <p:sp>
        <p:nvSpPr>
          <p:cNvPr id="42" name="Text 40"/>
          <p:cNvSpPr/>
          <p:nvPr/>
        </p:nvSpPr>
        <p:spPr>
          <a:xfrm>
            <a:off x="9127998" y="3182112"/>
            <a:ext cx="22745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11.20  Anti-corruption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9036558" y="3602736"/>
            <a:ext cx="2420874" cy="365760"/>
          </a:xfrm>
          <a:prstGeom prst="roundRect">
            <a:avLst>
              <a:gd name="adj" fmla="val 10000"/>
            </a:avLst>
          </a:prstGeom>
          <a:solidFill>
            <a:srgbClr val="0B2545"/>
          </a:solidFill>
          <a:ln/>
        </p:spPr>
      </p:sp>
      <p:sp>
        <p:nvSpPr>
          <p:cNvPr id="44" name="Text 42"/>
          <p:cNvSpPr/>
          <p:nvPr/>
        </p:nvSpPr>
        <p:spPr>
          <a:xfrm>
            <a:off x="9127998" y="3584448"/>
            <a:ext cx="22745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11.21  Payments to govt.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9127998" y="3986784"/>
            <a:ext cx="22745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141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11.22  Public policy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40080" y="5669280"/>
            <a:ext cx="310896" cy="274320"/>
          </a:xfrm>
          <a:prstGeom prst="roundRect">
            <a:avLst>
              <a:gd name="adj" fmla="val 13333"/>
            </a:avLst>
          </a:prstGeom>
          <a:solidFill>
            <a:srgbClr val="0B2545"/>
          </a:solidFill>
          <a:ln/>
        </p:spPr>
      </p:sp>
      <p:sp>
        <p:nvSpPr>
          <p:cNvPr id="47" name="Text 45"/>
          <p:cNvSpPr/>
          <p:nvPr/>
        </p:nvSpPr>
        <p:spPr>
          <a:xfrm>
            <a:off x="1097280" y="5614416"/>
            <a:ext cx="10451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7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Always material at a refinery — the rest depend on the site, and each must be justified.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40080" y="6272784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8B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ESG KPIs for a refinery under GRI Sector Standard 11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1000232" y="627278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C86C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60" kern="0" dirty="0">
                <a:solidFill>
                  <a:srgbClr val="4C86C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ANSWER SHEET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metrics that carry the report.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700784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C6B7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Every one has a GRI code, a unit and a named owner. No code, no credibility.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4899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A8C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40864"/>
            <a:ext cx="3124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86C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305-1/2/3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211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141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Scope 1, 2 and 3 emissions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813304" y="2560320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tCO₂e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9496" y="2286000"/>
            <a:ext cx="34899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A8C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32376" y="2340864"/>
            <a:ext cx="3124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86C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305-4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32376" y="2560320"/>
            <a:ext cx="211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141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GHG intensity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22720" y="2560320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tCO₂e / t crude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58912" y="2286000"/>
            <a:ext cx="34899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A8C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41792" y="2340864"/>
            <a:ext cx="3124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86C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302-3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41792" y="2560320"/>
            <a:ext cx="211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141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Energy intensity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232136" y="2560320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Solomon EII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090672"/>
            <a:ext cx="34899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A8C6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145536"/>
            <a:ext cx="3124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86C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Sector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3364992"/>
            <a:ext cx="211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141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Flared and vented gas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813304" y="3364992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million Nm³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49496" y="3090672"/>
            <a:ext cx="34899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A8C6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32376" y="3145536"/>
            <a:ext cx="3124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86C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305-7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32376" y="3364992"/>
            <a:ext cx="211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141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SO₂, NOₓ, particulates, VOC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22720" y="3364992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tonnes / yr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58912" y="3090672"/>
            <a:ext cx="34899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A8C6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41792" y="3145536"/>
            <a:ext cx="3124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86C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303-3/5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41792" y="3364992"/>
            <a:ext cx="211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141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Water withdrawal and consumption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232136" y="3364992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megalitres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" y="3895344"/>
            <a:ext cx="34899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A8C6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3950208"/>
            <a:ext cx="3124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86C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306-3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" y="4169664"/>
            <a:ext cx="211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141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Hazardous waste, spent catalyst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2813304" y="4169664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tonnes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349496" y="3895344"/>
            <a:ext cx="34899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A8C6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32376" y="3950208"/>
            <a:ext cx="3124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86C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Sector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32376" y="4169664"/>
            <a:ext cx="211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141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Tier 1 process safety events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522720" y="4169664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count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058912" y="3895344"/>
            <a:ext cx="34899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A8C6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41792" y="3950208"/>
            <a:ext cx="3124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86C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403-9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241792" y="4169664"/>
            <a:ext cx="211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141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Recordable injury rate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0232136" y="4169664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per 200,000 h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40080" y="4700016"/>
            <a:ext cx="34899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A8C6E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" y="4754880"/>
            <a:ext cx="3124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86C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204-1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22960" y="4974336"/>
            <a:ext cx="211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141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Spend with local suppliers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2813304" y="4974336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%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349496" y="4700016"/>
            <a:ext cx="34899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A8C6E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32376" y="4754880"/>
            <a:ext cx="3124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86C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205-3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532376" y="4974336"/>
            <a:ext cx="211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141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Confirmed corruption incidents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6522720" y="4974336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count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8058912" y="4700016"/>
            <a:ext cx="34899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A8C6E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241792" y="4754880"/>
            <a:ext cx="3124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86C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207-4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8241792" y="4974336"/>
            <a:ext cx="211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141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Payments to governments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10232136" y="4974336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₦ million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640080" y="5541264"/>
            <a:ext cx="10908792" cy="566928"/>
          </a:xfrm>
          <a:prstGeom prst="roundRect">
            <a:avLst>
              <a:gd name="adj" fmla="val 9677"/>
            </a:avLst>
          </a:prstGeom>
          <a:solidFill>
            <a:srgbClr val="0B2545"/>
          </a:solidFill>
          <a:ln/>
        </p:spPr>
      </p:sp>
      <p:sp>
        <p:nvSpPr>
          <p:cNvPr id="54" name="Text 52"/>
          <p:cNvSpPr/>
          <p:nvPr/>
        </p:nvSpPr>
        <p:spPr>
          <a:xfrm>
            <a:off x="914400" y="5541264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GHG inventory from Question 1 is the input. This is where it gets published.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640080" y="6272784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8B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ESG KPIs for a refinery under GRI Sector Standard 11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11000232" y="627278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C86C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12064"/>
            <a:ext cx="10908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80" kern="0" dirty="0">
                <a:solidFill>
                  <a:srgbClr val="A8C6E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WHAT ELSE EXISTS, AND HOW IT GETS SIGNED OFF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Different readers, same plant.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47088"/>
            <a:ext cx="1673352" cy="1920240"/>
          </a:xfrm>
          <a:prstGeom prst="roundRect">
            <a:avLst>
              <a:gd name="adj" fmla="val 3279"/>
            </a:avLst>
          </a:prstGeom>
          <a:solidFill>
            <a:srgbClr val="4C86C6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993392"/>
            <a:ext cx="134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GRI + GRI 11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04672" y="2578608"/>
            <a:ext cx="1344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All stakeholders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2889504"/>
            <a:ext cx="1344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CE8F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What we did to the world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487168" y="1847088"/>
            <a:ext cx="1673352" cy="1920240"/>
          </a:xfrm>
          <a:prstGeom prst="roundRect">
            <a:avLst>
              <a:gd name="adj" fmla="val 3279"/>
            </a:avLst>
          </a:prstGeom>
          <a:solidFill>
            <a:srgbClr val="17395F"/>
          </a:solidFill>
          <a:ln/>
        </p:spPr>
      </p:sp>
      <p:sp>
        <p:nvSpPr>
          <p:cNvPr id="9" name="Text 7"/>
          <p:cNvSpPr/>
          <p:nvPr/>
        </p:nvSpPr>
        <p:spPr>
          <a:xfrm>
            <a:off x="2651760" y="1993392"/>
            <a:ext cx="134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IFRS S1 &amp; S2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51760" y="2578608"/>
            <a:ext cx="1344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6E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Investors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51760" y="2889504"/>
            <a:ext cx="1344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CE8F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What the world may cost us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34256" y="1847088"/>
            <a:ext cx="1673352" cy="1920240"/>
          </a:xfrm>
          <a:prstGeom prst="roundRect">
            <a:avLst>
              <a:gd name="adj" fmla="val 3279"/>
            </a:avLst>
          </a:prstGeom>
          <a:solidFill>
            <a:srgbClr val="17395F"/>
          </a:solidFill>
          <a:ln/>
        </p:spPr>
      </p:sp>
      <p:sp>
        <p:nvSpPr>
          <p:cNvPr id="13" name="Text 11"/>
          <p:cNvSpPr/>
          <p:nvPr/>
        </p:nvSpPr>
        <p:spPr>
          <a:xfrm>
            <a:off x="4498848" y="1993392"/>
            <a:ext cx="134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SASB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98848" y="2578608"/>
            <a:ext cx="1344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6E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Investors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98848" y="2889504"/>
            <a:ext cx="1344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CE8F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Precise industry metrics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81344" y="1847088"/>
            <a:ext cx="1673352" cy="1920240"/>
          </a:xfrm>
          <a:prstGeom prst="roundRect">
            <a:avLst>
              <a:gd name="adj" fmla="val 3279"/>
            </a:avLst>
          </a:prstGeom>
          <a:solidFill>
            <a:srgbClr val="17395F"/>
          </a:solidFill>
          <a:ln/>
        </p:spPr>
      </p:sp>
      <p:sp>
        <p:nvSpPr>
          <p:cNvPr id="17" name="Text 15"/>
          <p:cNvSpPr/>
          <p:nvPr/>
        </p:nvSpPr>
        <p:spPr>
          <a:xfrm>
            <a:off x="6345936" y="1993392"/>
            <a:ext cx="134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IPIECA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45936" y="2578608"/>
            <a:ext cx="1344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6E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sector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45936" y="2889504"/>
            <a:ext cx="1344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CE8F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How to measure them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28432" y="1847088"/>
            <a:ext cx="1673352" cy="1920240"/>
          </a:xfrm>
          <a:prstGeom prst="roundRect">
            <a:avLst>
              <a:gd name="adj" fmla="val 3279"/>
            </a:avLst>
          </a:prstGeom>
          <a:solidFill>
            <a:srgbClr val="17395F"/>
          </a:solidFill>
          <a:ln/>
        </p:spPr>
      </p:sp>
      <p:sp>
        <p:nvSpPr>
          <p:cNvPr id="21" name="Text 19"/>
          <p:cNvSpPr/>
          <p:nvPr/>
        </p:nvSpPr>
        <p:spPr>
          <a:xfrm>
            <a:off x="8193024" y="1993392"/>
            <a:ext cx="134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CDP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193024" y="2578608"/>
            <a:ext cx="1344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6E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Buyers, lenders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193024" y="2889504"/>
            <a:ext cx="1344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CE8F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 score, A to D−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875520" y="1847088"/>
            <a:ext cx="1673352" cy="1920240"/>
          </a:xfrm>
          <a:prstGeom prst="roundRect">
            <a:avLst>
              <a:gd name="adj" fmla="val 3279"/>
            </a:avLst>
          </a:prstGeom>
          <a:solidFill>
            <a:srgbClr val="17395F"/>
          </a:solidFill>
          <a:ln/>
        </p:spPr>
      </p:sp>
      <p:sp>
        <p:nvSpPr>
          <p:cNvPr id="25" name="Text 23"/>
          <p:cNvSpPr/>
          <p:nvPr/>
        </p:nvSpPr>
        <p:spPr>
          <a:xfrm>
            <a:off x="10040112" y="1993392"/>
            <a:ext cx="134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NEITI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040112" y="2578608"/>
            <a:ext cx="1344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6E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Citizens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40112" y="2889504"/>
            <a:ext cx="1344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CE8F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Proof of what we paid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391363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A8C6E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GRI is the backbone. The others answer the same data to a different reader.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640080" y="4443984"/>
            <a:ext cx="5577840" cy="1298448"/>
          </a:xfrm>
          <a:prstGeom prst="roundRect">
            <a:avLst>
              <a:gd name="adj" fmla="val 4225"/>
            </a:avLst>
          </a:prstGeom>
          <a:solidFill>
            <a:srgbClr val="17395F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4572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4C86C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ASSURANCE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14400" y="4846320"/>
            <a:ext cx="5029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DCE8F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ISAE 3000 and ISAE 3410.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DCE8F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Limited assurance is the floor; reasonable is the expectation.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583680" y="4443984"/>
            <a:ext cx="4965192" cy="1298448"/>
          </a:xfrm>
          <a:prstGeom prst="roundRect">
            <a:avLst>
              <a:gd name="adj" fmla="val 4225"/>
            </a:avLst>
          </a:prstGeom>
          <a:solidFill>
            <a:srgbClr val="4C86C6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0" y="4572000"/>
            <a:ext cx="4416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TEST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858000" y="4846320"/>
            <a:ext cx="44165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 report is judged by what it refuses to leave out.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40080" y="59436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FA8C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Group C (29 Members)  ·  Thank you — questions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GRI 11 ESG KPIs for a Refinery</dc:title>
  <dc:subject>PptxGenJS Presentation</dc:subject>
  <dc:creator>Group C (29 Members)</dc:creator>
  <cp:lastModifiedBy>Group C (29 Members)</cp:lastModifiedBy>
  <cp:revision>1</cp:revision>
  <dcterms:created xsi:type="dcterms:W3CDTF">2026-08-27T12:31:58Z</dcterms:created>
  <dcterms:modified xsi:type="dcterms:W3CDTF">2026-08-27T12:31:58Z</dcterms:modified>
</cp:coreProperties>
</file>