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I joined on 9 February as Maintenance Engineer in M&amp;R, and this is a review of the first six months against the contract, the working JD and the assigned 2026 KPI framework.
Set the frame with the four stages along the bottom: I came in learning the plant and the systems, moved to supporting the work, then took ownership of specific parts of it — CMMS and stores in particular — and I am asking to be assessed as ready for more.
Say up front that every figure in this deck is traceable to a record: Ultimo, the monthly inventory reports, procurement records, PTWs and the M&amp;R shared folder. Then move on — do not linger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review in one slide — if the conversation goes somewhere else after this, these are the four things I want remembered.
01 CMMS is where the change is clearest: I arrived with no Ultimo experience and now run the day-to-day maintenance control in it.
02 Stores is where the measurable improvement is: 300+ items tagged, monthly reporting running since April.
03 Documentation is honest work in progress — the records exist and are traceable, but I want to move from uploading when due to capturing as produced.
04 Maintenance support is breadth: valves, gauges, PRVs, pipeline testing, corrosion control, contractor supervision.
Land the takeaway line and move to the baseline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agree the yardstick before I claim anything against it.
Left is the contracted role — six duties from the employment contract and the working JD.
Right is what I was actually assigned to own day to day, grouped into the six 2026 KPI themes. The rest of the deck follows the first four of these.
One caveat to state openly: the JD in the shared folder is treated as a working reference rather than a signed document, so I have also worked to the responsibilities and KPI framework I was assigned directly. If HR has a more current JD I would welcome it.
Do not read the six themes out — point at them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area, so spend the most time here.
The four figures are deliberately stated as weekly minimums held since mid-March, not averages — they are the floor, and I would rather understate than have a number challenged. If the reviewer wants exact totals I can pull the Ultimo export.
BEFORE PRESENTING: pull the Ultimo Excel export and replace the three '+' minimums with the exact six-month totals. Stronger evidence, and it pre-empts the obvious question. The generator holds these numbers in one place near the top of the CMMS section.
The five items on the left are the honest test of independence: I do all five without being asked and without checking. What I do not yet do well is close out promptly — say that before they do. That is why 'close work orders promptly' is the first commitment on the right, and it links directly to the work-order tracking challenge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make here is that this is the area with a measurable before and after, and it is the one a reviewer can walk into the store and verify in five minutes.
Before: items were hard to identify and there was no monthly reporting cycle.
After: 300+ items tagged, reconciliation supported, and a monthly report circulated since April.
The operational value line is the one that matters to the business — an untagged spare is a maintenance delay waiting to happen. Frame the value as avoided downtime, not tidiness.
If asked what is next: the Dynamics transition. I want to be part of that rather than have inventory move systems around me. Say it as an offer, not a request.
BEFORE PRESENTING: confirm the current item count against the latest monthly report so '300+' is still the right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one honestly — it is the weakest of the four areas and saying so first is worth more than being told.
What is true: the records exist, across all six categories on the left, and they are traceable. Nothing is missing.
What is not yet true: capture is not immediate. Documentation gets deferred when higher-priority maintenance is running, and it is then uploaded when it is due rather than when it is produced.
That is the whole point of the right-hand column — 'upload when due' to 'capture as produced' is the behaviour change I am committing to, and the three bullets under it are how.
If asked about automation: I am not proposing a system purchase. I mean practical routing and naming — templates, a consistent convention, and using what we already have so filing is not a separate task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breadth, not depth — the message is that there is very little on this terminal I have not now been near.
Column 1 is work I did or led. Column 2 is integrity and project work I supported or supervised — the T101 decommissioning and the corrosion-control campaign are the two worth naming out loud. Column 3 is routine exposure that has built the judgement behind the other two.
Be precise about the qualifiers. '~' means an estimate from my own records, not an Ultimo count. 'Supervised' means I oversaw a contractor doing it; 'replaced' means hands on. Do not blur those two — being exact here is what makes the rest of the deck credible.
The takeaway bar is the ask in miniature: I am not claiming I can run major jobs alone. I am claiming readiness for independent routine inspections and basic maintenance, with contractors still used for major and specialised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supporting systems on one slide, so keep it moving — about two minutes total.
Safety: the message is participation is routine, not occasional. Daily and weekly toolbox, monthly Safety Council, employee forums, and I have handled a Safety Beacon session myself. PTW, TRA and LOTO are applied as a matter of course to maintenance and contractor work, not treated as paperwork.
Contractors: six disciplines is the credibility point. It says I can hold a contractor to a scope across trades, which is what makes the readiness claim on the previous slide reasonable.
Procurement: 30+ RFQs and 10+ POs shows I can move a maintenance requirement through the commercial process rather than stopping at 'we need the part'. The named examples keep it concrete.
The chip is the honest limit: I can supply and supervise, but I cannot yet plan a project end to end. That is the bridge into the development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up if the conversation turns into questions — everything a reviewer might want to check is on it, with its source underneath.
Do not read the tiles out. Say: these are the eight figures I would stand behind, each one traceable to the record named under it, and I can produce any of them.
Be clear about precision. '+' and '/ wk' are sustained minimums, not averages. '~' is my own estimate from maintenance records. The exact counts are 1, 2, 10+, 30+ and 300+.
BEFORE PRESENTING: replace the two Ultimo weekly minimums with exact six-month totals from the Ultimo Excel export if it is available. A precise number is worth more than a defensible floor, and it removes the only soft spot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or apologise through it. Volunteering the three weaknesses, each with the change already made, is more persuasive than the achievements — it shows self-assessment without supervision.
Row 1 links back to the CMMS commitment: the fix is a tracking trigger, using the original required completion date instead of waiting for the deadline to pass.
Row 2 is the underlying cause of the other two — five workstreams converging. The fix is sequencing, not working longer.
Row 3 is the documentation gap already admitted on slide 6. Consistency between the two is the point.
If asked which is still open: record keeping. Work-order tracking is improving and measurable; filing discipline is the one I am still building the habit for.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left to right, not top to bottom — the arrow is the argument.
The two rows to say out loud are CMMS / Ultimo, because 'zero prior knowledge' to independent operation is the sharpest movement in the deck, and contractor management, because it is what makes the readiness ask credible.
The 'when I joined' column is deliberately unflattering. Being honest about starting at limited or zero is what gives the current column its weight.
If asked which competency is furthest behind: project planning — it is not on this table because it barely started, which is exactly why it is item 5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commitments, not aspirations — each one answers a gap already admitted in the deck, and I expect to be measured against them at the next review.
1 answers the readiness positioning on slide 7. Note the deliberate limit: routine work unsupervised, contractors still used for major and specialised jobs. Do not overclaim.
2 answers the closeout weakness on slide 4 and the tracking challenge on slide 10.
3 and 4 answer the stores and documentation next-focus items.
5 answers the planning limit admitted on slide 8.
6 is the only one needing support from the company — a Maintenance &amp; Reliability certification, and the chance to see one major project through to closure.
Item 6 is the one thing to actively ask for. Make it a clear ask, then stop talking and let them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verbs, not on a summary. Own, control, support, develop — that is the shape of the six months and the shape of what I am asking for.
Say the teal line out loud, in full: ready for greater responsibility, with continued development in technical independence, time management and documentation. It concedes and it asks in the same sentence, which is the right note to end on.
Then stop and hand over. Do not fill the silence.
Have ready for questions: the Ultimo export, the latest monthly inventory report, the T101 decommissioning detail, and the certification I want to pursue with rough cost and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66928" y="1243584"/>
            <a:ext cx="11055096" cy="274320"/>
          </a:xfrm>
          <a:prstGeom prst="rect">
            <a:avLst/>
          </a:prstGeom>
          <a:noFill/>
          <a:ln/>
        </p:spPr>
        <p:txBody>
          <a:bodyPr wrap="square" lIns="0" tIns="0" rIns="0" bIns="0" rtlCol="0" anchor="ctr"/>
          <a:lstStyle/>
          <a:p>
            <a:pPr indent="0" marL="0">
              <a:buNone/>
            </a:pPr>
            <a:r>
              <a:rPr lang="en-US" sz="1150" b="1" spc="200" kern="0" dirty="0">
                <a:solidFill>
                  <a:srgbClr val="7FA8CE"/>
                </a:solidFill>
                <a:latin typeface="Calibri" pitchFamily="34" charset="0"/>
                <a:ea typeface="Calibri" pitchFamily="34" charset="-122"/>
                <a:cs typeface="Calibri" pitchFamily="34" charset="-120"/>
              </a:rPr>
              <a:t>6-MONTH PERFORMANCE REVIEW  ·  PROBATION</a:t>
            </a:r>
            <a:endParaRPr lang="en-US" sz="1150" dirty="0"/>
          </a:p>
        </p:txBody>
      </p:sp>
      <p:sp>
        <p:nvSpPr>
          <p:cNvPr id="3" name="Text 1"/>
          <p:cNvSpPr txBox="1"/>
          <p:nvPr/>
        </p:nvSpPr>
        <p:spPr>
          <a:xfrm>
            <a:off x="566928" y="1536192"/>
            <a:ext cx="11055096"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Maintenance Engineer</a:t>
            </a:r>
            <a:endParaRPr lang="en-US" sz="5000" dirty="0"/>
          </a:p>
        </p:txBody>
      </p:sp>
      <p:sp>
        <p:nvSpPr>
          <p:cNvPr id="4" name="Text 2"/>
          <p:cNvSpPr txBox="1"/>
          <p:nvPr/>
        </p:nvSpPr>
        <p:spPr>
          <a:xfrm>
            <a:off x="566928" y="2505456"/>
            <a:ext cx="11055096" cy="329184"/>
          </a:xfrm>
          <a:prstGeom prst="rect">
            <a:avLst/>
          </a:prstGeom>
          <a:noFill/>
          <a:ln/>
        </p:spPr>
        <p:txBody>
          <a:bodyPr wrap="square" lIns="0" tIns="0" rIns="0" bIns="0" rtlCol="0" anchor="ctr"/>
          <a:lstStyle/>
          <a:p>
            <a:pPr indent="0" marL="0">
              <a:buNone/>
            </a:pPr>
            <a:r>
              <a:rPr lang="en-US" sz="1600" dirty="0">
                <a:solidFill>
                  <a:srgbClr val="B9CBDD"/>
                </a:solidFill>
                <a:latin typeface="Calibri" pitchFamily="34" charset="0"/>
                <a:ea typeface="Calibri" pitchFamily="34" charset="-122"/>
                <a:cs typeface="Calibri" pitchFamily="34" charset="-120"/>
              </a:rPr>
              <a:t>NAVGAS Limited  ·  Maintenance &amp; Reliability (M&amp;R)</a:t>
            </a:r>
            <a:endParaRPr lang="en-US" sz="1600" dirty="0"/>
          </a:p>
        </p:txBody>
      </p:sp>
      <p:sp>
        <p:nvSpPr>
          <p:cNvPr id="5" name="Text 3"/>
          <p:cNvSpPr txBox="1"/>
          <p:nvPr/>
        </p:nvSpPr>
        <p:spPr>
          <a:xfrm>
            <a:off x="566928" y="2852928"/>
            <a:ext cx="11055096" cy="292608"/>
          </a:xfrm>
          <a:prstGeom prst="rect">
            <a:avLst/>
          </a:prstGeom>
          <a:noFill/>
          <a:ln/>
        </p:spPr>
        <p:txBody>
          <a:bodyPr wrap="square" lIns="0" tIns="0" rIns="0" bIns="0" rtlCol="0" anchor="ctr"/>
          <a:lstStyle/>
          <a:p>
            <a:pPr indent="0" marL="0">
              <a:buNone/>
            </a:pPr>
            <a:r>
              <a:rPr lang="en-US" sz="1300" i="1" dirty="0">
                <a:solidFill>
                  <a:srgbClr val="88A6C4"/>
                </a:solidFill>
                <a:latin typeface="Calibri" pitchFamily="34" charset="0"/>
                <a:ea typeface="Calibri" pitchFamily="34" charset="-122"/>
                <a:cs typeface="Calibri" pitchFamily="34" charset="-120"/>
              </a:rPr>
              <a:t>February – August 2026  ·  Start date 9 February 2026  ·  Probation period 6 months</a:t>
            </a:r>
            <a:endParaRPr lang="en-US" sz="1300" dirty="0"/>
          </a:p>
        </p:txBody>
      </p:sp>
      <p:sp>
        <p:nvSpPr>
          <p:cNvPr id="6" name="Text 4"/>
          <p:cNvSpPr txBox="1"/>
          <p:nvPr/>
        </p:nvSpPr>
        <p:spPr>
          <a:xfrm>
            <a:off x="566928" y="3877056"/>
            <a:ext cx="11055096" cy="256032"/>
          </a:xfrm>
          <a:prstGeom prst="rect">
            <a:avLst/>
          </a:prstGeom>
          <a:noFill/>
          <a:ln/>
        </p:spPr>
        <p:txBody>
          <a:bodyPr wrap="square" lIns="0" tIns="0" rIns="0" bIns="0" rtlCol="0" anchor="ctr"/>
          <a:lstStyle/>
          <a:p>
            <a:pPr indent="0" marL="0">
              <a:buNone/>
            </a:pPr>
            <a:r>
              <a:rPr lang="en-US" sz="1050" b="1" spc="160" kern="0" dirty="0">
                <a:solidFill>
                  <a:srgbClr val="7FA8CE"/>
                </a:solidFill>
                <a:latin typeface="Calibri" pitchFamily="34" charset="0"/>
                <a:ea typeface="Calibri" pitchFamily="34" charset="-122"/>
                <a:cs typeface="Calibri" pitchFamily="34" charset="-120"/>
              </a:rPr>
              <a:t>THE ARC OF THE FIRST SIX MONTHS</a:t>
            </a:r>
            <a:endParaRPr lang="en-US" sz="1050" dirty="0"/>
          </a:p>
        </p:txBody>
      </p:sp>
      <p:sp>
        <p:nvSpPr>
          <p:cNvPr id="7" name="Shape 5"/>
          <p:cNvSpPr/>
          <p:nvPr/>
        </p:nvSpPr>
        <p:spPr>
          <a:xfrm>
            <a:off x="566928" y="4187952"/>
            <a:ext cx="2615184" cy="603504"/>
          </a:xfrm>
          <a:prstGeom prst="roundRect">
            <a:avLst>
              <a:gd name="adj" fmla="val 7576"/>
            </a:avLst>
          </a:prstGeom>
          <a:solidFill>
            <a:srgbClr val="16324F"/>
          </a:solidFill>
          <a:ln w="9525">
            <a:solidFill>
              <a:srgbClr val="35597F"/>
            </a:solidFill>
            <a:prstDash val="solid"/>
          </a:ln>
        </p:spPr>
      </p:sp>
      <p:sp>
        <p:nvSpPr>
          <p:cNvPr id="8" name="Text 6"/>
          <p:cNvSpPr txBox="1"/>
          <p:nvPr/>
        </p:nvSpPr>
        <p:spPr>
          <a:xfrm>
            <a:off x="676656" y="4187952"/>
            <a:ext cx="2395728"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9" name="Text 7"/>
          <p:cNvSpPr txBox="1"/>
          <p:nvPr/>
        </p:nvSpPr>
        <p:spPr>
          <a:xfrm>
            <a:off x="3182112" y="4187952"/>
            <a:ext cx="173736" cy="603504"/>
          </a:xfrm>
          <a:prstGeom prst="rect">
            <a:avLst/>
          </a:prstGeom>
          <a:noFill/>
          <a:ln/>
        </p:spPr>
        <p:txBody>
          <a:bodyPr wrap="square" lIns="0" tIns="0" rIns="0" bIns="0" rtlCol="0" anchor="ctr"/>
          <a:lstStyle/>
          <a:p>
            <a:pPr algn="ctr" indent="0" marL="0">
              <a:buNone/>
            </a:pPr>
            <a:r>
              <a:rPr lang="en-US" sz="1200" dirty="0">
                <a:solidFill>
                  <a:srgbClr val="7FA8CE"/>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3355848" y="4187952"/>
            <a:ext cx="2615184" cy="603504"/>
          </a:xfrm>
          <a:prstGeom prst="roundRect">
            <a:avLst>
              <a:gd name="adj" fmla="val 7576"/>
            </a:avLst>
          </a:prstGeom>
          <a:solidFill>
            <a:srgbClr val="16324F"/>
          </a:solidFill>
          <a:ln w="9525">
            <a:solidFill>
              <a:srgbClr val="35597F"/>
            </a:solidFill>
            <a:prstDash val="solid"/>
          </a:ln>
        </p:spPr>
      </p:sp>
      <p:sp>
        <p:nvSpPr>
          <p:cNvPr id="11" name="Text 9"/>
          <p:cNvSpPr txBox="1"/>
          <p:nvPr/>
        </p:nvSpPr>
        <p:spPr>
          <a:xfrm>
            <a:off x="3465576" y="4187952"/>
            <a:ext cx="2395728"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Supporting</a:t>
            </a:r>
            <a:endParaRPr lang="en-US" sz="1200" dirty="0"/>
          </a:p>
        </p:txBody>
      </p:sp>
      <p:sp>
        <p:nvSpPr>
          <p:cNvPr id="12" name="Text 10"/>
          <p:cNvSpPr txBox="1"/>
          <p:nvPr/>
        </p:nvSpPr>
        <p:spPr>
          <a:xfrm>
            <a:off x="5971032" y="4187952"/>
            <a:ext cx="173736" cy="603504"/>
          </a:xfrm>
          <a:prstGeom prst="rect">
            <a:avLst/>
          </a:prstGeom>
          <a:noFill/>
          <a:ln/>
        </p:spPr>
        <p:txBody>
          <a:bodyPr wrap="square" lIns="0" tIns="0" rIns="0" bIns="0" rtlCol="0" anchor="ctr"/>
          <a:lstStyle/>
          <a:p>
            <a:pPr algn="ctr" indent="0" marL="0">
              <a:buNone/>
            </a:pPr>
            <a:r>
              <a:rPr lang="en-US" sz="1200" dirty="0">
                <a:solidFill>
                  <a:srgbClr val="7FA8CE"/>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6144768" y="4187952"/>
            <a:ext cx="2615184" cy="603504"/>
          </a:xfrm>
          <a:prstGeom prst="roundRect">
            <a:avLst>
              <a:gd name="adj" fmla="val 7576"/>
            </a:avLst>
          </a:prstGeom>
          <a:solidFill>
            <a:srgbClr val="16324F"/>
          </a:solidFill>
          <a:ln w="9525">
            <a:solidFill>
              <a:srgbClr val="35597F"/>
            </a:solidFill>
            <a:prstDash val="solid"/>
          </a:ln>
        </p:spPr>
      </p:sp>
      <p:sp>
        <p:nvSpPr>
          <p:cNvPr id="14" name="Text 12"/>
          <p:cNvSpPr txBox="1"/>
          <p:nvPr/>
        </p:nvSpPr>
        <p:spPr>
          <a:xfrm>
            <a:off x="6254496" y="4187952"/>
            <a:ext cx="2395728"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Taking ownership</a:t>
            </a:r>
            <a:endParaRPr lang="en-US" sz="1200" dirty="0"/>
          </a:p>
        </p:txBody>
      </p:sp>
      <p:sp>
        <p:nvSpPr>
          <p:cNvPr id="15" name="Text 13"/>
          <p:cNvSpPr txBox="1"/>
          <p:nvPr/>
        </p:nvSpPr>
        <p:spPr>
          <a:xfrm>
            <a:off x="8759952" y="4187952"/>
            <a:ext cx="173736" cy="603504"/>
          </a:xfrm>
          <a:prstGeom prst="rect">
            <a:avLst/>
          </a:prstGeom>
          <a:noFill/>
          <a:ln/>
        </p:spPr>
        <p:txBody>
          <a:bodyPr wrap="square" lIns="0" tIns="0" rIns="0" bIns="0" rtlCol="0" anchor="ctr"/>
          <a:lstStyle/>
          <a:p>
            <a:pPr algn="ctr" indent="0" marL="0">
              <a:buNone/>
            </a:pPr>
            <a:r>
              <a:rPr lang="en-US" sz="1200" dirty="0">
                <a:solidFill>
                  <a:srgbClr val="7FA8CE"/>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8933688" y="4187952"/>
            <a:ext cx="2615184" cy="603504"/>
          </a:xfrm>
          <a:prstGeom prst="roundRect">
            <a:avLst>
              <a:gd name="adj" fmla="val 7576"/>
            </a:avLst>
          </a:prstGeom>
          <a:solidFill>
            <a:srgbClr val="16324F"/>
          </a:solidFill>
          <a:ln w="9525">
            <a:solidFill>
              <a:srgbClr val="35597F"/>
            </a:solidFill>
            <a:prstDash val="solid"/>
          </a:ln>
        </p:spPr>
      </p:sp>
      <p:sp>
        <p:nvSpPr>
          <p:cNvPr id="17" name="Text 15"/>
          <p:cNvSpPr txBox="1"/>
          <p:nvPr/>
        </p:nvSpPr>
        <p:spPr>
          <a:xfrm>
            <a:off x="9043416" y="4187952"/>
            <a:ext cx="2395728"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Ready for greater responsibility</a:t>
            </a:r>
            <a:endParaRPr lang="en-US" sz="1200" dirty="0"/>
          </a:p>
        </p:txBody>
      </p:sp>
      <p:sp>
        <p:nvSpPr>
          <p:cNvPr id="18" name="Text 16"/>
          <p:cNvSpPr txBox="1"/>
          <p:nvPr/>
        </p:nvSpPr>
        <p:spPr>
          <a:xfrm>
            <a:off x="566928" y="5943600"/>
            <a:ext cx="11055096" cy="274320"/>
          </a:xfrm>
          <a:prstGeom prst="rect">
            <a:avLst/>
          </a:prstGeom>
          <a:noFill/>
          <a:ln/>
        </p:spPr>
        <p:txBody>
          <a:bodyPr wrap="square" lIns="0" tIns="0" rIns="0" bIns="0" rtlCol="0" anchor="ctr"/>
          <a:lstStyle/>
          <a:p>
            <a:pPr indent="0" marL="0">
              <a:buNone/>
            </a:pPr>
            <a:r>
              <a:rPr lang="en-US" sz="1100" dirty="0">
                <a:solidFill>
                  <a:srgbClr val="6E8CAB"/>
                </a:solidFill>
                <a:latin typeface="Calibri" pitchFamily="34" charset="0"/>
                <a:ea typeface="Calibri" pitchFamily="34" charset="-122"/>
                <a:cs typeface="Calibri" pitchFamily="34" charset="-120"/>
              </a:rPr>
              <a:t>Prepared by Aniekeme Umoren  ·  28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Four areas carried the first six months.</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CMMS ownership, stores control, documentation and hands-on maintenance support — in that order of contribution.</a:t>
            </a:r>
            <a:endParaRPr lang="en-US" sz="1200" dirty="0"/>
          </a:p>
        </p:txBody>
      </p:sp>
      <p:sp>
        <p:nvSpPr>
          <p:cNvPr id="5" name="Shape 3"/>
          <p:cNvSpPr/>
          <p:nvPr/>
        </p:nvSpPr>
        <p:spPr>
          <a:xfrm>
            <a:off x="566928" y="1645920"/>
            <a:ext cx="5399532" cy="1965960"/>
          </a:xfrm>
          <a:prstGeom prst="roundRect">
            <a:avLst>
              <a:gd name="adj" fmla="val 2326"/>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6" name="Shape 4"/>
          <p:cNvSpPr/>
          <p:nvPr/>
        </p:nvSpPr>
        <p:spPr>
          <a:xfrm>
            <a:off x="822960" y="1920240"/>
            <a:ext cx="512064" cy="512064"/>
          </a:xfrm>
          <a:prstGeom prst="ellipse">
            <a:avLst/>
          </a:prstGeom>
          <a:solidFill>
            <a:srgbClr val="147D7E"/>
          </a:solidFill>
          <a:ln/>
        </p:spPr>
      </p:sp>
      <p:sp>
        <p:nvSpPr>
          <p:cNvPr id="7" name="Text 5"/>
          <p:cNvSpPr txBox="1"/>
          <p:nvPr/>
        </p:nvSpPr>
        <p:spPr>
          <a:xfrm>
            <a:off x="822960" y="1920240"/>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txBox="1"/>
          <p:nvPr/>
        </p:nvSpPr>
        <p:spPr>
          <a:xfrm>
            <a:off x="1481328" y="1920240"/>
            <a:ext cx="4229100" cy="384048"/>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CMMS / Ultimo</a:t>
            </a:r>
            <a:endParaRPr lang="en-US" sz="1700" dirty="0"/>
          </a:p>
        </p:txBody>
      </p:sp>
      <p:sp>
        <p:nvSpPr>
          <p:cNvPr id="9" name="Text 7"/>
          <p:cNvSpPr txBox="1"/>
          <p:nvPr/>
        </p:nvSpPr>
        <p:spPr>
          <a:xfrm>
            <a:off x="1481328" y="2377440"/>
            <a:ext cx="4229100" cy="87782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Raise and schedule work orders, create contractor PTWs, and follow up execution and closeout — now done independently.</a:t>
            </a:r>
            <a:endParaRPr lang="en-US" sz="1200" dirty="0"/>
          </a:p>
        </p:txBody>
      </p:sp>
      <p:sp>
        <p:nvSpPr>
          <p:cNvPr id="10" name="Shape 8"/>
          <p:cNvSpPr/>
          <p:nvPr/>
        </p:nvSpPr>
        <p:spPr>
          <a:xfrm>
            <a:off x="6222492" y="1645920"/>
            <a:ext cx="5399532" cy="1965960"/>
          </a:xfrm>
          <a:prstGeom prst="roundRect">
            <a:avLst>
              <a:gd name="adj" fmla="val 2326"/>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1" name="Shape 9"/>
          <p:cNvSpPr/>
          <p:nvPr/>
        </p:nvSpPr>
        <p:spPr>
          <a:xfrm>
            <a:off x="6478524" y="1920240"/>
            <a:ext cx="512064" cy="512064"/>
          </a:xfrm>
          <a:prstGeom prst="ellipse">
            <a:avLst/>
          </a:prstGeom>
          <a:solidFill>
            <a:srgbClr val="1F4E79"/>
          </a:solidFill>
          <a:ln/>
        </p:spPr>
      </p:sp>
      <p:sp>
        <p:nvSpPr>
          <p:cNvPr id="12" name="Text 10"/>
          <p:cNvSpPr txBox="1"/>
          <p:nvPr/>
        </p:nvSpPr>
        <p:spPr>
          <a:xfrm>
            <a:off x="6478524" y="1920240"/>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txBox="1"/>
          <p:nvPr/>
        </p:nvSpPr>
        <p:spPr>
          <a:xfrm>
            <a:off x="7136892" y="1920240"/>
            <a:ext cx="4229100" cy="384048"/>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Stores / Inventory</a:t>
            </a:r>
            <a:endParaRPr lang="en-US" sz="1700" dirty="0"/>
          </a:p>
        </p:txBody>
      </p:sp>
      <p:sp>
        <p:nvSpPr>
          <p:cNvPr id="14" name="Text 12"/>
          <p:cNvSpPr txBox="1"/>
          <p:nvPr/>
        </p:nvSpPr>
        <p:spPr>
          <a:xfrm>
            <a:off x="7136892" y="2377440"/>
            <a:ext cx="4229100" cy="87782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Reorganised the store, tagged 300+ items, started monthly reporting in April and keep consumables replenished.</a:t>
            </a:r>
            <a:endParaRPr lang="en-US" sz="1200" dirty="0"/>
          </a:p>
        </p:txBody>
      </p:sp>
      <p:sp>
        <p:nvSpPr>
          <p:cNvPr id="15" name="Shape 13"/>
          <p:cNvSpPr/>
          <p:nvPr/>
        </p:nvSpPr>
        <p:spPr>
          <a:xfrm>
            <a:off x="566928" y="3831336"/>
            <a:ext cx="5399532" cy="1965960"/>
          </a:xfrm>
          <a:prstGeom prst="roundRect">
            <a:avLst>
              <a:gd name="adj" fmla="val 2326"/>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6" name="Shape 14"/>
          <p:cNvSpPr/>
          <p:nvPr/>
        </p:nvSpPr>
        <p:spPr>
          <a:xfrm>
            <a:off x="822960" y="4105656"/>
            <a:ext cx="512064" cy="512064"/>
          </a:xfrm>
          <a:prstGeom prst="ellipse">
            <a:avLst/>
          </a:prstGeom>
          <a:solidFill>
            <a:srgbClr val="C9942E"/>
          </a:solidFill>
          <a:ln/>
        </p:spPr>
      </p:sp>
      <p:sp>
        <p:nvSpPr>
          <p:cNvPr id="17" name="Text 15"/>
          <p:cNvSpPr txBox="1"/>
          <p:nvPr/>
        </p:nvSpPr>
        <p:spPr>
          <a:xfrm>
            <a:off x="822960" y="4105656"/>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txBox="1"/>
          <p:nvPr/>
        </p:nvSpPr>
        <p:spPr>
          <a:xfrm>
            <a:off x="1481328" y="4105656"/>
            <a:ext cx="4229100" cy="384048"/>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Documentation</a:t>
            </a:r>
            <a:endParaRPr lang="en-US" sz="1700" dirty="0"/>
          </a:p>
        </p:txBody>
      </p:sp>
      <p:sp>
        <p:nvSpPr>
          <p:cNvPr id="19" name="Text 17"/>
          <p:cNvSpPr txBox="1"/>
          <p:nvPr/>
        </p:nvSpPr>
        <p:spPr>
          <a:xfrm>
            <a:off x="1481328" y="4562856"/>
            <a:ext cx="4229100" cy="87782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Maintain a traceable record of maintenance, inventory and project activity across Ultimo and the M&amp;R shared folder.</a:t>
            </a:r>
            <a:endParaRPr lang="en-US" sz="1200" dirty="0"/>
          </a:p>
        </p:txBody>
      </p:sp>
      <p:sp>
        <p:nvSpPr>
          <p:cNvPr id="20" name="Shape 18"/>
          <p:cNvSpPr/>
          <p:nvPr/>
        </p:nvSpPr>
        <p:spPr>
          <a:xfrm>
            <a:off x="6222492" y="3831336"/>
            <a:ext cx="5399532" cy="1965960"/>
          </a:xfrm>
          <a:prstGeom prst="roundRect">
            <a:avLst>
              <a:gd name="adj" fmla="val 2326"/>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21" name="Shape 19"/>
          <p:cNvSpPr/>
          <p:nvPr/>
        </p:nvSpPr>
        <p:spPr>
          <a:xfrm>
            <a:off x="6478524" y="4105656"/>
            <a:ext cx="512064" cy="512064"/>
          </a:xfrm>
          <a:prstGeom prst="ellipse">
            <a:avLst/>
          </a:prstGeom>
          <a:solidFill>
            <a:srgbClr val="2F7D4B"/>
          </a:solidFill>
          <a:ln/>
        </p:spPr>
      </p:sp>
      <p:sp>
        <p:nvSpPr>
          <p:cNvPr id="22" name="Text 20"/>
          <p:cNvSpPr txBox="1"/>
          <p:nvPr/>
        </p:nvSpPr>
        <p:spPr>
          <a:xfrm>
            <a:off x="6478524" y="4105656"/>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txBox="1"/>
          <p:nvPr/>
        </p:nvSpPr>
        <p:spPr>
          <a:xfrm>
            <a:off x="7136892" y="4105656"/>
            <a:ext cx="4229100" cy="384048"/>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Maintenance support</a:t>
            </a:r>
            <a:endParaRPr lang="en-US" sz="1700" dirty="0"/>
          </a:p>
        </p:txBody>
      </p:sp>
      <p:sp>
        <p:nvSpPr>
          <p:cNvPr id="24" name="Text 22"/>
          <p:cNvSpPr txBox="1"/>
          <p:nvPr/>
        </p:nvSpPr>
        <p:spPr>
          <a:xfrm>
            <a:off x="7136892" y="4562856"/>
            <a:ext cx="4229100" cy="87782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Support terminal maintenance, asset integrity, contractor supervision and troubleshooting across the site.</a:t>
            </a:r>
            <a:endParaRPr lang="en-US" sz="1200" dirty="0"/>
          </a:p>
        </p:txBody>
      </p:sp>
      <p:sp>
        <p:nvSpPr>
          <p:cNvPr id="25" name="Shape 23"/>
          <p:cNvSpPr/>
          <p:nvPr/>
        </p:nvSpPr>
        <p:spPr>
          <a:xfrm>
            <a:off x="566928" y="5943600"/>
            <a:ext cx="11055096" cy="475488"/>
          </a:xfrm>
          <a:prstGeom prst="roundRect">
            <a:avLst>
              <a:gd name="adj" fmla="val 11538"/>
            </a:avLst>
          </a:prstGeom>
          <a:solidFill>
            <a:srgbClr val="0B1F33"/>
          </a:solidFill>
          <a:ln/>
        </p:spPr>
      </p:sp>
      <p:sp>
        <p:nvSpPr>
          <p:cNvPr id="26" name="Text 24"/>
          <p:cNvSpPr txBox="1"/>
          <p:nvPr/>
        </p:nvSpPr>
        <p:spPr>
          <a:xfrm>
            <a:off x="768096" y="5943600"/>
            <a:ext cx="1065276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Overall theme: broader plant familiarity, stronger system ownership, and increasing readiness for independent routine maintenance.</a:t>
            </a:r>
            <a:endParaRPr lang="en-US" sz="1150" dirty="0"/>
          </a:p>
        </p:txBody>
      </p:sp>
      <p:sp>
        <p:nvSpPr>
          <p:cNvPr id="28" name="Text 25"/>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29" name="Text 26"/>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THE BASELINE</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What the role was set up to deliver.</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Taken from the employment contract, the working job description and the assigned 2026 KPI framework.</a:t>
            </a:r>
            <a:endParaRPr lang="en-US" sz="1200" dirty="0"/>
          </a:p>
        </p:txBody>
      </p:sp>
      <p:sp>
        <p:nvSpPr>
          <p:cNvPr id="5" name="Shape 3"/>
          <p:cNvSpPr/>
          <p:nvPr/>
        </p:nvSpPr>
        <p:spPr>
          <a:xfrm>
            <a:off x="566928" y="1645920"/>
            <a:ext cx="3749040" cy="4151376"/>
          </a:xfrm>
          <a:prstGeom prst="roundRect">
            <a:avLst>
              <a:gd name="adj" fmla="val 1220"/>
            </a:avLst>
          </a:prstGeom>
          <a:solidFill>
            <a:srgbClr val="F1F4F8"/>
          </a:solidFill>
          <a:ln w="9525">
            <a:solidFill>
              <a:srgbClr val="CFD8E3"/>
            </a:solidFill>
            <a:prstDash val="solid"/>
          </a:ln>
        </p:spPr>
      </p:sp>
      <p:sp>
        <p:nvSpPr>
          <p:cNvPr id="6" name="Text 4"/>
          <p:cNvSpPr txBox="1"/>
          <p:nvPr/>
        </p:nvSpPr>
        <p:spPr>
          <a:xfrm>
            <a:off x="822960" y="1883664"/>
            <a:ext cx="3236976"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ROLE BASELINE</a:t>
            </a:r>
            <a:endParaRPr lang="en-US" sz="950" dirty="0"/>
          </a:p>
        </p:txBody>
      </p:sp>
      <p:sp>
        <p:nvSpPr>
          <p:cNvPr id="7" name="Text 5"/>
          <p:cNvSpPr txBox="1"/>
          <p:nvPr/>
        </p:nvSpPr>
        <p:spPr>
          <a:xfrm>
            <a:off x="822960" y="2121408"/>
            <a:ext cx="3236976" cy="347472"/>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Maintenance Engineer</a:t>
            </a:r>
            <a:endParaRPr lang="en-US" sz="1700" dirty="0"/>
          </a:p>
        </p:txBody>
      </p:sp>
      <p:sp>
        <p:nvSpPr>
          <p:cNvPr id="8" name="Text 6"/>
          <p:cNvSpPr txBox="1"/>
          <p:nvPr/>
        </p:nvSpPr>
        <p:spPr>
          <a:xfrm>
            <a:off x="822960" y="2468880"/>
            <a:ext cx="3236976" cy="256032"/>
          </a:xfrm>
          <a:prstGeom prst="rect">
            <a:avLst/>
          </a:prstGeom>
          <a:noFill/>
          <a:ln/>
        </p:spPr>
        <p:txBody>
          <a:bodyPr wrap="square" lIns="0" tIns="0" rIns="0" bIns="0" rtlCol="0" anchor="ctr"/>
          <a:lstStyle/>
          <a:p>
            <a:pPr indent="0" marL="0">
              <a:buNone/>
            </a:pPr>
            <a:r>
              <a:rPr lang="en-US" sz="1200" b="1" dirty="0">
                <a:solidFill>
                  <a:srgbClr val="147D7E"/>
                </a:solidFill>
                <a:latin typeface="Calibri" pitchFamily="34" charset="0"/>
                <a:ea typeface="Calibri" pitchFamily="34" charset="-122"/>
                <a:cs typeface="Calibri" pitchFamily="34" charset="-120"/>
              </a:rPr>
              <a:t>Maintenance &amp; Reliability Department</a:t>
            </a:r>
            <a:endParaRPr lang="en-US" sz="1200" dirty="0"/>
          </a:p>
        </p:txBody>
      </p:sp>
      <p:sp>
        <p:nvSpPr>
          <p:cNvPr id="9" name="Text 7"/>
          <p:cNvSpPr txBox="1"/>
          <p:nvPr/>
        </p:nvSpPr>
        <p:spPr>
          <a:xfrm>
            <a:off x="822960" y="2871216"/>
            <a:ext cx="3236976" cy="201168"/>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CONTRACTED DUTIES</a:t>
            </a:r>
            <a:endParaRPr lang="en-US" sz="950" dirty="0"/>
          </a:p>
        </p:txBody>
      </p:sp>
      <p:sp>
        <p:nvSpPr>
          <p:cNvPr id="10" name="Text 8"/>
          <p:cNvSpPr txBox="1"/>
          <p:nvPr/>
        </p:nvSpPr>
        <p:spPr>
          <a:xfrm>
            <a:off x="822960" y="3145536"/>
            <a:ext cx="3236976" cy="256032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100" dirty="0">
                <a:solidFill>
                  <a:srgbClr val="1F2933"/>
                </a:solidFill>
                <a:latin typeface="Calibri" pitchFamily="34" charset="0"/>
                <a:ea typeface="Calibri" pitchFamily="34" charset="-122"/>
                <a:cs typeface="Calibri" pitchFamily="34" charset="-120"/>
              </a:rPr>
              <a:t>Inspect and maintain operating equipment to schedule</a:t>
            </a:r>
            <a:endParaRPr lang="en-US" sz="1100" dirty="0"/>
          </a:p>
          <a:p>
            <a:pPr marL="342900" indent="-342900">
              <a:lnSpc>
                <a:spcPts val="1400"/>
              </a:lnSpc>
              <a:spcAft>
                <a:spcPts val="700"/>
              </a:spcAft>
              <a:buSzPct val="100000"/>
              <a:buChar char="•"/>
            </a:pPr>
            <a:r>
              <a:rPr lang="en-US" sz="1100" dirty="0">
                <a:solidFill>
                  <a:srgbClr val="1F2933"/>
                </a:solidFill>
                <a:latin typeface="Calibri" pitchFamily="34" charset="0"/>
                <a:ea typeface="Calibri" pitchFamily="34" charset="-122"/>
                <a:cs typeface="Calibri" pitchFamily="34" charset="-120"/>
              </a:rPr>
              <a:t>Maintain measurement accuracy through checks and calibration</a:t>
            </a:r>
            <a:endParaRPr lang="en-US" sz="1100" dirty="0"/>
          </a:p>
          <a:p>
            <a:pPr marL="342900" indent="-342900">
              <a:lnSpc>
                <a:spcPts val="1400"/>
              </a:lnSpc>
              <a:spcAft>
                <a:spcPts val="700"/>
              </a:spcAft>
              <a:buSzPct val="100000"/>
              <a:buChar char="•"/>
            </a:pPr>
            <a:r>
              <a:rPr lang="en-US" sz="1100" dirty="0">
                <a:solidFill>
                  <a:srgbClr val="1F2933"/>
                </a:solidFill>
                <a:latin typeface="Calibri" pitchFamily="34" charset="0"/>
                <a:ea typeface="Calibri" pitchFamily="34" charset="-122"/>
                <a:cs typeface="Calibri" pitchFamily="34" charset="-120"/>
              </a:rPr>
              <a:t>Manage and monitor maintenance contractors</a:t>
            </a:r>
            <a:endParaRPr lang="en-US" sz="1100" dirty="0"/>
          </a:p>
          <a:p>
            <a:pPr marL="342900" indent="-342900">
              <a:lnSpc>
                <a:spcPts val="1400"/>
              </a:lnSpc>
              <a:spcAft>
                <a:spcPts val="700"/>
              </a:spcAft>
              <a:buSzPct val="100000"/>
              <a:buChar char="•"/>
            </a:pPr>
            <a:r>
              <a:rPr lang="en-US" sz="1100" dirty="0">
                <a:solidFill>
                  <a:srgbClr val="1F2933"/>
                </a:solidFill>
                <a:latin typeface="Calibri" pitchFamily="34" charset="0"/>
                <a:ea typeface="Calibri" pitchFamily="34" charset="-122"/>
                <a:cs typeface="Calibri" pitchFamily="34" charset="-120"/>
              </a:rPr>
              <a:t>Troubleshoot and improve operations processes</a:t>
            </a:r>
            <a:endParaRPr lang="en-US" sz="1100" dirty="0"/>
          </a:p>
          <a:p>
            <a:pPr marL="342900" indent="-342900">
              <a:lnSpc>
                <a:spcPts val="1400"/>
              </a:lnSpc>
              <a:spcAft>
                <a:spcPts val="700"/>
              </a:spcAft>
              <a:buSzPct val="100000"/>
              <a:buChar char="•"/>
            </a:pPr>
            <a:r>
              <a:rPr lang="en-US" sz="1100" dirty="0">
                <a:solidFill>
                  <a:srgbClr val="1F2933"/>
                </a:solidFill>
                <a:latin typeface="Calibri" pitchFamily="34" charset="0"/>
                <a:ea typeface="Calibri" pitchFamily="34" charset="-122"/>
                <a:cs typeface="Calibri" pitchFamily="34" charset="-120"/>
              </a:rPr>
              <a:t>Support project / construction compliance inspections</a:t>
            </a:r>
            <a:endParaRPr lang="en-US" sz="1100" dirty="0"/>
          </a:p>
          <a:p>
            <a:pPr marL="342900" indent="-342900">
              <a:lnSpc>
                <a:spcPts val="1400"/>
              </a:lnSpc>
              <a:spcAft>
                <a:spcPts val="700"/>
              </a:spcAft>
              <a:buSzPct val="100000"/>
              <a:buChar char="•"/>
            </a:pPr>
            <a:r>
              <a:rPr lang="en-US" sz="1100" dirty="0">
                <a:solidFill>
                  <a:srgbClr val="1F2933"/>
                </a:solidFill>
                <a:latin typeface="Calibri" pitchFamily="34" charset="0"/>
                <a:ea typeface="Calibri" pitchFamily="34" charset="-122"/>
                <a:cs typeface="Calibri" pitchFamily="34" charset="-120"/>
              </a:rPr>
              <a:t>Ensure qualified contractor personnel are engaged</a:t>
            </a:r>
            <a:endParaRPr lang="en-US" sz="1100" dirty="0"/>
          </a:p>
        </p:txBody>
      </p:sp>
      <p:sp>
        <p:nvSpPr>
          <p:cNvPr id="11" name="Shape 9"/>
          <p:cNvSpPr/>
          <p:nvPr/>
        </p:nvSpPr>
        <p:spPr>
          <a:xfrm>
            <a:off x="4590288" y="1645920"/>
            <a:ext cx="7031736" cy="4151376"/>
          </a:xfrm>
          <a:prstGeom prst="roundRect">
            <a:avLst>
              <a:gd name="adj" fmla="val 1101"/>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2" name="Text 10"/>
          <p:cNvSpPr txBox="1"/>
          <p:nvPr/>
        </p:nvSpPr>
        <p:spPr>
          <a:xfrm>
            <a:off x="4846320" y="1883664"/>
            <a:ext cx="6519672"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ASSIGNED OWNERSHIP &amp; 2026 KPI THEMES</a:t>
            </a:r>
            <a:endParaRPr lang="en-US" sz="950" dirty="0"/>
          </a:p>
        </p:txBody>
      </p:sp>
      <p:sp>
        <p:nvSpPr>
          <p:cNvPr id="13" name="Shape 11"/>
          <p:cNvSpPr/>
          <p:nvPr/>
        </p:nvSpPr>
        <p:spPr>
          <a:xfrm>
            <a:off x="4846320" y="2368296"/>
            <a:ext cx="118872" cy="118872"/>
          </a:xfrm>
          <a:prstGeom prst="ellipse">
            <a:avLst/>
          </a:prstGeom>
          <a:solidFill>
            <a:srgbClr val="147D7E"/>
          </a:solidFill>
          <a:ln/>
        </p:spPr>
      </p:sp>
      <p:sp>
        <p:nvSpPr>
          <p:cNvPr id="14" name="Text 12"/>
          <p:cNvSpPr txBox="1"/>
          <p:nvPr/>
        </p:nvSpPr>
        <p:spPr>
          <a:xfrm>
            <a:off x="5065776" y="2176272"/>
            <a:ext cx="2286000" cy="54864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CMMS / Ultimo</a:t>
            </a:r>
            <a:endParaRPr lang="en-US" sz="1150" dirty="0"/>
          </a:p>
        </p:txBody>
      </p:sp>
      <p:sp>
        <p:nvSpPr>
          <p:cNvPr id="15" name="Text 13"/>
          <p:cNvSpPr txBox="1"/>
          <p:nvPr/>
        </p:nvSpPr>
        <p:spPr>
          <a:xfrm>
            <a:off x="7424928" y="2176272"/>
            <a:ext cx="3941064" cy="548640"/>
          </a:xfrm>
          <a:prstGeom prst="rect">
            <a:avLst/>
          </a:prstGeom>
          <a:noFill/>
          <a:ln/>
        </p:spPr>
        <p:txBody>
          <a:bodyPr wrap="square" lIns="0" tIns="0" rIns="0" bIns="0" rtlCol="0" anchor="ctr"/>
          <a:lstStyle/>
          <a:p>
            <a:pPr indent="0" marL="0">
              <a:buNone/>
            </a:pPr>
            <a:r>
              <a:rPr lang="en-US" sz="1100" dirty="0">
                <a:solidFill>
                  <a:srgbClr val="56677A"/>
                </a:solidFill>
                <a:latin typeface="Calibri" pitchFamily="34" charset="0"/>
                <a:ea typeface="Calibri" pitchFamily="34" charset="-122"/>
                <a:cs typeface="Calibri" pitchFamily="34" charset="-120"/>
              </a:rPr>
              <a:t>Work orders · PTWs · scheduling · follow-up · closeout · asset tree</a:t>
            </a:r>
            <a:endParaRPr lang="en-US" sz="1100" dirty="0"/>
          </a:p>
        </p:txBody>
      </p:sp>
      <p:sp>
        <p:nvSpPr>
          <p:cNvPr id="16" name="Shape 14"/>
          <p:cNvSpPr/>
          <p:nvPr/>
        </p:nvSpPr>
        <p:spPr>
          <a:xfrm>
            <a:off x="4846320" y="2724912"/>
            <a:ext cx="6519672" cy="0"/>
          </a:xfrm>
          <a:prstGeom prst="line">
            <a:avLst/>
          </a:prstGeom>
          <a:noFill/>
          <a:ln w="9525">
            <a:solidFill>
              <a:srgbClr val="E4EAF1"/>
            </a:solidFill>
            <a:prstDash val="solid"/>
          </a:ln>
        </p:spPr>
      </p:sp>
      <p:sp>
        <p:nvSpPr>
          <p:cNvPr id="17" name="Shape 15"/>
          <p:cNvSpPr/>
          <p:nvPr/>
        </p:nvSpPr>
        <p:spPr>
          <a:xfrm>
            <a:off x="4846320" y="2916936"/>
            <a:ext cx="118872" cy="118872"/>
          </a:xfrm>
          <a:prstGeom prst="ellipse">
            <a:avLst/>
          </a:prstGeom>
          <a:solidFill>
            <a:srgbClr val="1F4E79"/>
          </a:solidFill>
          <a:ln/>
        </p:spPr>
      </p:sp>
      <p:sp>
        <p:nvSpPr>
          <p:cNvPr id="18" name="Text 16"/>
          <p:cNvSpPr txBox="1"/>
          <p:nvPr/>
        </p:nvSpPr>
        <p:spPr>
          <a:xfrm>
            <a:off x="5065776" y="2724912"/>
            <a:ext cx="2286000" cy="54864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Stores / Inventory</a:t>
            </a:r>
            <a:endParaRPr lang="en-US" sz="1150" dirty="0"/>
          </a:p>
        </p:txBody>
      </p:sp>
      <p:sp>
        <p:nvSpPr>
          <p:cNvPr id="19" name="Text 17"/>
          <p:cNvSpPr txBox="1"/>
          <p:nvPr/>
        </p:nvSpPr>
        <p:spPr>
          <a:xfrm>
            <a:off x="7424928" y="2724912"/>
            <a:ext cx="3941064" cy="548640"/>
          </a:xfrm>
          <a:prstGeom prst="rect">
            <a:avLst/>
          </a:prstGeom>
          <a:noFill/>
          <a:ln/>
        </p:spPr>
        <p:txBody>
          <a:bodyPr wrap="square" lIns="0" tIns="0" rIns="0" bIns="0" rtlCol="0" anchor="ctr"/>
          <a:lstStyle/>
          <a:p>
            <a:pPr indent="0" marL="0">
              <a:buNone/>
            </a:pPr>
            <a:r>
              <a:rPr lang="en-US" sz="1100" dirty="0">
                <a:solidFill>
                  <a:srgbClr val="56677A"/>
                </a:solidFill>
                <a:latin typeface="Calibri" pitchFamily="34" charset="0"/>
                <a:ea typeface="Calibri" pitchFamily="34" charset="-122"/>
                <a:cs typeface="Calibri" pitchFamily="34" charset="-120"/>
              </a:rPr>
              <a:t>Tagging · reconciliation · replenishment · monthly reporting</a:t>
            </a:r>
            <a:endParaRPr lang="en-US" sz="1100" dirty="0"/>
          </a:p>
        </p:txBody>
      </p:sp>
      <p:sp>
        <p:nvSpPr>
          <p:cNvPr id="20" name="Shape 18"/>
          <p:cNvSpPr/>
          <p:nvPr/>
        </p:nvSpPr>
        <p:spPr>
          <a:xfrm>
            <a:off x="4846320" y="3273552"/>
            <a:ext cx="6519672" cy="0"/>
          </a:xfrm>
          <a:prstGeom prst="line">
            <a:avLst/>
          </a:prstGeom>
          <a:noFill/>
          <a:ln w="9525">
            <a:solidFill>
              <a:srgbClr val="E4EAF1"/>
            </a:solidFill>
            <a:prstDash val="solid"/>
          </a:ln>
        </p:spPr>
      </p:sp>
      <p:sp>
        <p:nvSpPr>
          <p:cNvPr id="21" name="Shape 19"/>
          <p:cNvSpPr/>
          <p:nvPr/>
        </p:nvSpPr>
        <p:spPr>
          <a:xfrm>
            <a:off x="4846320" y="3465576"/>
            <a:ext cx="118872" cy="118872"/>
          </a:xfrm>
          <a:prstGeom prst="ellipse">
            <a:avLst/>
          </a:prstGeom>
          <a:solidFill>
            <a:srgbClr val="C9942E"/>
          </a:solidFill>
          <a:ln/>
        </p:spPr>
      </p:sp>
      <p:sp>
        <p:nvSpPr>
          <p:cNvPr id="22" name="Text 20"/>
          <p:cNvSpPr txBox="1"/>
          <p:nvPr/>
        </p:nvSpPr>
        <p:spPr>
          <a:xfrm>
            <a:off x="5065776" y="3273552"/>
            <a:ext cx="2286000" cy="54864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Documentation</a:t>
            </a:r>
            <a:endParaRPr lang="en-US" sz="1150" dirty="0"/>
          </a:p>
        </p:txBody>
      </p:sp>
      <p:sp>
        <p:nvSpPr>
          <p:cNvPr id="23" name="Text 21"/>
          <p:cNvSpPr txBox="1"/>
          <p:nvPr/>
        </p:nvSpPr>
        <p:spPr>
          <a:xfrm>
            <a:off x="7424928" y="3273552"/>
            <a:ext cx="3941064" cy="548640"/>
          </a:xfrm>
          <a:prstGeom prst="rect">
            <a:avLst/>
          </a:prstGeom>
          <a:noFill/>
          <a:ln/>
        </p:spPr>
        <p:txBody>
          <a:bodyPr wrap="square" lIns="0" tIns="0" rIns="0" bIns="0" rtlCol="0" anchor="ctr"/>
          <a:lstStyle/>
          <a:p>
            <a:pPr indent="0" marL="0">
              <a:buNone/>
            </a:pPr>
            <a:r>
              <a:rPr lang="en-US" sz="1100" dirty="0">
                <a:solidFill>
                  <a:srgbClr val="56677A"/>
                </a:solidFill>
                <a:latin typeface="Calibri" pitchFamily="34" charset="0"/>
                <a:ea typeface="Calibri" pitchFamily="34" charset="-122"/>
                <a:cs typeface="Calibri" pitchFamily="34" charset="-120"/>
              </a:rPr>
              <a:t>M&amp;R shared folder · project records · PTW traceability</a:t>
            </a:r>
            <a:endParaRPr lang="en-US" sz="1100" dirty="0"/>
          </a:p>
        </p:txBody>
      </p:sp>
      <p:sp>
        <p:nvSpPr>
          <p:cNvPr id="24" name="Shape 22"/>
          <p:cNvSpPr/>
          <p:nvPr/>
        </p:nvSpPr>
        <p:spPr>
          <a:xfrm>
            <a:off x="4846320" y="3822192"/>
            <a:ext cx="6519672" cy="0"/>
          </a:xfrm>
          <a:prstGeom prst="line">
            <a:avLst/>
          </a:prstGeom>
          <a:noFill/>
          <a:ln w="9525">
            <a:solidFill>
              <a:srgbClr val="E4EAF1"/>
            </a:solidFill>
            <a:prstDash val="solid"/>
          </a:ln>
        </p:spPr>
      </p:sp>
      <p:sp>
        <p:nvSpPr>
          <p:cNvPr id="25" name="Shape 23"/>
          <p:cNvSpPr/>
          <p:nvPr/>
        </p:nvSpPr>
        <p:spPr>
          <a:xfrm>
            <a:off x="4846320" y="4014216"/>
            <a:ext cx="118872" cy="118872"/>
          </a:xfrm>
          <a:prstGeom prst="ellipse">
            <a:avLst/>
          </a:prstGeom>
          <a:solidFill>
            <a:srgbClr val="2F7D4B"/>
          </a:solidFill>
          <a:ln/>
        </p:spPr>
      </p:sp>
      <p:sp>
        <p:nvSpPr>
          <p:cNvPr id="26" name="Text 24"/>
          <p:cNvSpPr txBox="1"/>
          <p:nvPr/>
        </p:nvSpPr>
        <p:spPr>
          <a:xfrm>
            <a:off x="5065776" y="3822192"/>
            <a:ext cx="2286000" cy="54864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Safety &amp; Compliance</a:t>
            </a:r>
            <a:endParaRPr lang="en-US" sz="1150" dirty="0"/>
          </a:p>
        </p:txBody>
      </p:sp>
      <p:sp>
        <p:nvSpPr>
          <p:cNvPr id="27" name="Text 25"/>
          <p:cNvSpPr txBox="1"/>
          <p:nvPr/>
        </p:nvSpPr>
        <p:spPr>
          <a:xfrm>
            <a:off x="7424928" y="3822192"/>
            <a:ext cx="3941064" cy="548640"/>
          </a:xfrm>
          <a:prstGeom prst="rect">
            <a:avLst/>
          </a:prstGeom>
          <a:noFill/>
          <a:ln/>
        </p:spPr>
        <p:txBody>
          <a:bodyPr wrap="square" lIns="0" tIns="0" rIns="0" bIns="0" rtlCol="0" anchor="ctr"/>
          <a:lstStyle/>
          <a:p>
            <a:pPr indent="0" marL="0">
              <a:buNone/>
            </a:pPr>
            <a:r>
              <a:rPr lang="en-US" sz="1100" dirty="0">
                <a:solidFill>
                  <a:srgbClr val="56677A"/>
                </a:solidFill>
                <a:latin typeface="Calibri" pitchFamily="34" charset="0"/>
                <a:ea typeface="Calibri" pitchFamily="34" charset="-122"/>
                <a:cs typeface="Calibri" pitchFamily="34" charset="-120"/>
              </a:rPr>
              <a:t>PTW · TRA · LOTO · SCE · contractor controls · audits</a:t>
            </a:r>
            <a:endParaRPr lang="en-US" sz="1100" dirty="0"/>
          </a:p>
        </p:txBody>
      </p:sp>
      <p:sp>
        <p:nvSpPr>
          <p:cNvPr id="28" name="Shape 26"/>
          <p:cNvSpPr/>
          <p:nvPr/>
        </p:nvSpPr>
        <p:spPr>
          <a:xfrm>
            <a:off x="4846320" y="4370832"/>
            <a:ext cx="6519672" cy="0"/>
          </a:xfrm>
          <a:prstGeom prst="line">
            <a:avLst/>
          </a:prstGeom>
          <a:noFill/>
          <a:ln w="9525">
            <a:solidFill>
              <a:srgbClr val="E4EAF1"/>
            </a:solidFill>
            <a:prstDash val="solid"/>
          </a:ln>
        </p:spPr>
      </p:sp>
      <p:sp>
        <p:nvSpPr>
          <p:cNvPr id="29" name="Shape 27"/>
          <p:cNvSpPr/>
          <p:nvPr/>
        </p:nvSpPr>
        <p:spPr>
          <a:xfrm>
            <a:off x="4846320" y="4562856"/>
            <a:ext cx="118872" cy="118872"/>
          </a:xfrm>
          <a:prstGeom prst="ellipse">
            <a:avLst/>
          </a:prstGeom>
          <a:solidFill>
            <a:srgbClr val="147D7E"/>
          </a:solidFill>
          <a:ln/>
        </p:spPr>
      </p:sp>
      <p:sp>
        <p:nvSpPr>
          <p:cNvPr id="30" name="Text 28"/>
          <p:cNvSpPr txBox="1"/>
          <p:nvPr/>
        </p:nvSpPr>
        <p:spPr>
          <a:xfrm>
            <a:off x="5065776" y="4370832"/>
            <a:ext cx="2286000" cy="54864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Maintenance &amp; Reliability</a:t>
            </a:r>
            <a:endParaRPr lang="en-US" sz="1150" dirty="0"/>
          </a:p>
        </p:txBody>
      </p:sp>
      <p:sp>
        <p:nvSpPr>
          <p:cNvPr id="31" name="Text 29"/>
          <p:cNvSpPr txBox="1"/>
          <p:nvPr/>
        </p:nvSpPr>
        <p:spPr>
          <a:xfrm>
            <a:off x="7424928" y="4370832"/>
            <a:ext cx="3941064" cy="548640"/>
          </a:xfrm>
          <a:prstGeom prst="rect">
            <a:avLst/>
          </a:prstGeom>
          <a:noFill/>
          <a:ln/>
        </p:spPr>
        <p:txBody>
          <a:bodyPr wrap="square" lIns="0" tIns="0" rIns="0" bIns="0" rtlCol="0" anchor="ctr"/>
          <a:lstStyle/>
          <a:p>
            <a:pPr indent="0" marL="0">
              <a:buNone/>
            </a:pPr>
            <a:r>
              <a:rPr lang="en-US" sz="1100" dirty="0">
                <a:solidFill>
                  <a:srgbClr val="56677A"/>
                </a:solidFill>
                <a:latin typeface="Calibri" pitchFamily="34" charset="0"/>
                <a:ea typeface="Calibri" pitchFamily="34" charset="-122"/>
                <a:cs typeface="Calibri" pitchFamily="34" charset="-120"/>
              </a:rPr>
              <a:t>PM / CM execution · equipment reliability · integrity support</a:t>
            </a:r>
            <a:endParaRPr lang="en-US" sz="1100" dirty="0"/>
          </a:p>
        </p:txBody>
      </p:sp>
      <p:sp>
        <p:nvSpPr>
          <p:cNvPr id="32" name="Shape 30"/>
          <p:cNvSpPr/>
          <p:nvPr/>
        </p:nvSpPr>
        <p:spPr>
          <a:xfrm>
            <a:off x="4846320" y="4919472"/>
            <a:ext cx="6519672" cy="0"/>
          </a:xfrm>
          <a:prstGeom prst="line">
            <a:avLst/>
          </a:prstGeom>
          <a:noFill/>
          <a:ln w="9525">
            <a:solidFill>
              <a:srgbClr val="E4EAF1"/>
            </a:solidFill>
            <a:prstDash val="solid"/>
          </a:ln>
        </p:spPr>
      </p:sp>
      <p:sp>
        <p:nvSpPr>
          <p:cNvPr id="33" name="Shape 31"/>
          <p:cNvSpPr/>
          <p:nvPr/>
        </p:nvSpPr>
        <p:spPr>
          <a:xfrm>
            <a:off x="4846320" y="5111496"/>
            <a:ext cx="118872" cy="118872"/>
          </a:xfrm>
          <a:prstGeom prst="ellipse">
            <a:avLst/>
          </a:prstGeom>
          <a:solidFill>
            <a:srgbClr val="1F4E79"/>
          </a:solidFill>
          <a:ln/>
        </p:spPr>
      </p:sp>
      <p:sp>
        <p:nvSpPr>
          <p:cNvPr id="34" name="Text 32"/>
          <p:cNvSpPr txBox="1"/>
          <p:nvPr/>
        </p:nvSpPr>
        <p:spPr>
          <a:xfrm>
            <a:off x="5065776" y="4919472"/>
            <a:ext cx="2286000" cy="54864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Procurement</a:t>
            </a:r>
            <a:endParaRPr lang="en-US" sz="1150" dirty="0"/>
          </a:p>
        </p:txBody>
      </p:sp>
      <p:sp>
        <p:nvSpPr>
          <p:cNvPr id="35" name="Text 33"/>
          <p:cNvSpPr txBox="1"/>
          <p:nvPr/>
        </p:nvSpPr>
        <p:spPr>
          <a:xfrm>
            <a:off x="7424928" y="4919472"/>
            <a:ext cx="3941064" cy="548640"/>
          </a:xfrm>
          <a:prstGeom prst="rect">
            <a:avLst/>
          </a:prstGeom>
          <a:noFill/>
          <a:ln/>
        </p:spPr>
        <p:txBody>
          <a:bodyPr wrap="square" lIns="0" tIns="0" rIns="0" bIns="0" rtlCol="0" anchor="ctr"/>
          <a:lstStyle/>
          <a:p>
            <a:pPr indent="0" marL="0">
              <a:buNone/>
            </a:pPr>
            <a:r>
              <a:rPr lang="en-US" sz="1100" dirty="0">
                <a:solidFill>
                  <a:srgbClr val="56677A"/>
                </a:solidFill>
                <a:latin typeface="Calibri" pitchFamily="34" charset="0"/>
                <a:ea typeface="Calibri" pitchFamily="34" charset="-122"/>
                <a:cs typeface="Calibri" pitchFamily="34" charset="-120"/>
              </a:rPr>
              <a:t>RFQs · requisitions · POs · maintenance material follow-up</a:t>
            </a:r>
            <a:endParaRPr lang="en-US" sz="1100" dirty="0"/>
          </a:p>
        </p:txBody>
      </p:sp>
      <p:sp>
        <p:nvSpPr>
          <p:cNvPr id="36" name="Shape 34"/>
          <p:cNvSpPr/>
          <p:nvPr/>
        </p:nvSpPr>
        <p:spPr>
          <a:xfrm>
            <a:off x="566928" y="5943600"/>
            <a:ext cx="11055096" cy="475488"/>
          </a:xfrm>
          <a:prstGeom prst="roundRect">
            <a:avLst>
              <a:gd name="adj" fmla="val 11538"/>
            </a:avLst>
          </a:prstGeom>
          <a:solidFill>
            <a:srgbClr val="F1F4F8"/>
          </a:solidFill>
          <a:ln w="9525">
            <a:solidFill>
              <a:srgbClr val="CFD8E3"/>
            </a:solidFill>
            <a:prstDash val="solid"/>
          </a:ln>
        </p:spPr>
      </p:sp>
      <p:sp>
        <p:nvSpPr>
          <p:cNvPr id="37" name="Text 35"/>
          <p:cNvSpPr txBox="1"/>
          <p:nvPr/>
        </p:nvSpPr>
        <p:spPr>
          <a:xfrm>
            <a:off x="713232"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Start date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9 February 2026</a:t>
            </a:r>
            <a:endParaRPr lang="en-US" sz="950" dirty="0"/>
          </a:p>
        </p:txBody>
      </p:sp>
      <p:sp>
        <p:nvSpPr>
          <p:cNvPr id="38" name="Text 36"/>
          <p:cNvSpPr txBox="1"/>
          <p:nvPr/>
        </p:nvSpPr>
        <p:spPr>
          <a:xfrm>
            <a:off x="4398264"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Probation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6 months</a:t>
            </a:r>
            <a:endParaRPr lang="en-US" sz="950" dirty="0"/>
          </a:p>
        </p:txBody>
      </p:sp>
      <p:sp>
        <p:nvSpPr>
          <p:cNvPr id="39" name="Text 37"/>
          <p:cNvSpPr txBox="1"/>
          <p:nvPr/>
        </p:nvSpPr>
        <p:spPr>
          <a:xfrm>
            <a:off x="8083296"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Basis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Contract · working JD · 2026 KPI framework</a:t>
            </a:r>
            <a:endParaRPr lang="en-US" sz="950" dirty="0"/>
          </a:p>
        </p:txBody>
      </p:sp>
      <p:sp>
        <p:nvSpPr>
          <p:cNvPr id="41" name="Text 38"/>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42" name="Text 39"/>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FOCUS AREA 01  ·  CMMS / ULTIMO</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From no prior Ultimo experience to daily CMMS ownership.</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Work orders, permits, scheduling and follow-up are now raised and tracked without supervision.</a:t>
            </a:r>
            <a:endParaRPr lang="en-US" sz="1200" dirty="0"/>
          </a:p>
        </p:txBody>
      </p:sp>
      <p:sp>
        <p:nvSpPr>
          <p:cNvPr id="5" name="Shape 3"/>
          <p:cNvSpPr/>
          <p:nvPr/>
        </p:nvSpPr>
        <p:spPr>
          <a:xfrm>
            <a:off x="566928" y="1645920"/>
            <a:ext cx="2558034" cy="1371600"/>
          </a:xfrm>
          <a:prstGeom prst="roundRect">
            <a:avLst>
              <a:gd name="adj" fmla="val 3333"/>
            </a:avLst>
          </a:prstGeom>
          <a:solidFill>
            <a:srgbClr val="FFFFFF"/>
          </a:solidFill>
          <a:ln w="9525">
            <a:solidFill>
              <a:srgbClr val="CFD8E3"/>
            </a:solidFill>
            <a:prstDash val="solid"/>
          </a:ln>
        </p:spPr>
      </p:sp>
      <p:sp>
        <p:nvSpPr>
          <p:cNvPr id="6" name="Text 4"/>
          <p:cNvSpPr txBox="1"/>
          <p:nvPr/>
        </p:nvSpPr>
        <p:spPr>
          <a:xfrm>
            <a:off x="749808" y="1755648"/>
            <a:ext cx="2192274" cy="566928"/>
          </a:xfrm>
          <a:prstGeom prst="rect">
            <a:avLst/>
          </a:prstGeom>
          <a:noFill/>
          <a:ln/>
        </p:spPr>
        <p:txBody>
          <a:bodyPr wrap="square" lIns="0" tIns="0" rIns="0" bIns="0" rtlCol="0" anchor="ctr"/>
          <a:lstStyle/>
          <a:p>
            <a:pPr indent="0" marL="0">
              <a:buNone/>
            </a:pPr>
            <a:r>
              <a:rPr lang="en-US" sz="3000" b="1" dirty="0">
                <a:solidFill>
                  <a:srgbClr val="147D7E"/>
                </a:solidFill>
                <a:latin typeface="Cambria" pitchFamily="34" charset="0"/>
                <a:ea typeface="Cambria" pitchFamily="34" charset="-122"/>
                <a:cs typeface="Cambria" pitchFamily="34" charset="-120"/>
              </a:rPr>
              <a:t>3+</a:t>
            </a:r>
            <a:endParaRPr lang="en-US" sz="3000" dirty="0"/>
          </a:p>
        </p:txBody>
      </p:sp>
      <p:sp>
        <p:nvSpPr>
          <p:cNvPr id="7" name="Text 5"/>
          <p:cNvSpPr txBox="1"/>
          <p:nvPr/>
        </p:nvSpPr>
        <p:spPr>
          <a:xfrm>
            <a:off x="749808"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Work orders raised per week</a:t>
            </a:r>
            <a:endParaRPr lang="en-US" sz="1050" dirty="0"/>
          </a:p>
        </p:txBody>
      </p:sp>
      <p:sp>
        <p:nvSpPr>
          <p:cNvPr id="8" name="Text 6"/>
          <p:cNvSpPr txBox="1"/>
          <p:nvPr/>
        </p:nvSpPr>
        <p:spPr>
          <a:xfrm>
            <a:off x="749808"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Ultimo · since mid-March</a:t>
            </a:r>
            <a:endParaRPr lang="en-US" sz="900" dirty="0"/>
          </a:p>
        </p:txBody>
      </p:sp>
      <p:sp>
        <p:nvSpPr>
          <p:cNvPr id="9" name="Shape 7"/>
          <p:cNvSpPr/>
          <p:nvPr/>
        </p:nvSpPr>
        <p:spPr>
          <a:xfrm>
            <a:off x="3399282" y="1645920"/>
            <a:ext cx="2558034" cy="1371600"/>
          </a:xfrm>
          <a:prstGeom prst="roundRect">
            <a:avLst>
              <a:gd name="adj" fmla="val 3333"/>
            </a:avLst>
          </a:prstGeom>
          <a:solidFill>
            <a:srgbClr val="FFFFFF"/>
          </a:solidFill>
          <a:ln w="9525">
            <a:solidFill>
              <a:srgbClr val="CFD8E3"/>
            </a:solidFill>
            <a:prstDash val="solid"/>
          </a:ln>
        </p:spPr>
      </p:sp>
      <p:sp>
        <p:nvSpPr>
          <p:cNvPr id="10" name="Text 8"/>
          <p:cNvSpPr txBox="1"/>
          <p:nvPr/>
        </p:nvSpPr>
        <p:spPr>
          <a:xfrm>
            <a:off x="3582162" y="1755648"/>
            <a:ext cx="2192274" cy="566928"/>
          </a:xfrm>
          <a:prstGeom prst="rect">
            <a:avLst/>
          </a:prstGeom>
          <a:noFill/>
          <a:ln/>
        </p:spPr>
        <p:txBody>
          <a:bodyPr wrap="square" lIns="0" tIns="0" rIns="0" bIns="0" rtlCol="0" anchor="ctr"/>
          <a:lstStyle/>
          <a:p>
            <a:pPr indent="0" marL="0">
              <a:buNone/>
            </a:pPr>
            <a:r>
              <a:rPr lang="en-US" sz="3000" b="1" dirty="0">
                <a:solidFill>
                  <a:srgbClr val="1F4E79"/>
                </a:solidFill>
                <a:latin typeface="Cambria" pitchFamily="34" charset="0"/>
                <a:ea typeface="Cambria" pitchFamily="34" charset="-122"/>
                <a:cs typeface="Cambria" pitchFamily="34" charset="-120"/>
              </a:rPr>
              <a:t>5+</a:t>
            </a:r>
            <a:endParaRPr lang="en-US" sz="3000" dirty="0"/>
          </a:p>
        </p:txBody>
      </p:sp>
      <p:sp>
        <p:nvSpPr>
          <p:cNvPr id="11" name="Text 9"/>
          <p:cNvSpPr txBox="1"/>
          <p:nvPr/>
        </p:nvSpPr>
        <p:spPr>
          <a:xfrm>
            <a:off x="3582162"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PTWs created per week</a:t>
            </a:r>
            <a:endParaRPr lang="en-US" sz="1050" dirty="0"/>
          </a:p>
        </p:txBody>
      </p:sp>
      <p:sp>
        <p:nvSpPr>
          <p:cNvPr id="12" name="Text 10"/>
          <p:cNvSpPr txBox="1"/>
          <p:nvPr/>
        </p:nvSpPr>
        <p:spPr>
          <a:xfrm>
            <a:off x="3582162"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Ultimo · since mid-March</a:t>
            </a:r>
            <a:endParaRPr lang="en-US" sz="900" dirty="0"/>
          </a:p>
        </p:txBody>
      </p:sp>
      <p:sp>
        <p:nvSpPr>
          <p:cNvPr id="13" name="Shape 11"/>
          <p:cNvSpPr/>
          <p:nvPr/>
        </p:nvSpPr>
        <p:spPr>
          <a:xfrm>
            <a:off x="6231636" y="1645920"/>
            <a:ext cx="2558034" cy="1371600"/>
          </a:xfrm>
          <a:prstGeom prst="roundRect">
            <a:avLst>
              <a:gd name="adj" fmla="val 3333"/>
            </a:avLst>
          </a:prstGeom>
          <a:solidFill>
            <a:srgbClr val="FFFFFF"/>
          </a:solidFill>
          <a:ln w="9525">
            <a:solidFill>
              <a:srgbClr val="CFD8E3"/>
            </a:solidFill>
            <a:prstDash val="solid"/>
          </a:ln>
        </p:spPr>
      </p:sp>
      <p:sp>
        <p:nvSpPr>
          <p:cNvPr id="14" name="Text 12"/>
          <p:cNvSpPr txBox="1"/>
          <p:nvPr/>
        </p:nvSpPr>
        <p:spPr>
          <a:xfrm>
            <a:off x="6414516" y="1755648"/>
            <a:ext cx="2192274" cy="566928"/>
          </a:xfrm>
          <a:prstGeom prst="rect">
            <a:avLst/>
          </a:prstGeom>
          <a:noFill/>
          <a:ln/>
        </p:spPr>
        <p:txBody>
          <a:bodyPr wrap="square" lIns="0" tIns="0" rIns="0" bIns="0" rtlCol="0" anchor="ctr"/>
          <a:lstStyle/>
          <a:p>
            <a:pPr indent="0" marL="0">
              <a:buNone/>
            </a:pPr>
            <a:r>
              <a:rPr lang="en-US" sz="3000" b="1" dirty="0">
                <a:solidFill>
                  <a:srgbClr val="C9942E"/>
                </a:solidFill>
                <a:latin typeface="Cambria" pitchFamily="34" charset="0"/>
                <a:ea typeface="Cambria" pitchFamily="34" charset="-122"/>
                <a:cs typeface="Cambria" pitchFamily="34" charset="-120"/>
              </a:rPr>
              <a:t>5+</a:t>
            </a:r>
            <a:endParaRPr lang="en-US" sz="3000" dirty="0"/>
          </a:p>
        </p:txBody>
      </p:sp>
      <p:sp>
        <p:nvSpPr>
          <p:cNvPr id="15" name="Text 13"/>
          <p:cNvSpPr txBox="1"/>
          <p:nvPr/>
        </p:nvSpPr>
        <p:spPr>
          <a:xfrm>
            <a:off x="6414516"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Contractor jobs processed per week</a:t>
            </a:r>
            <a:endParaRPr lang="en-US" sz="1050" dirty="0"/>
          </a:p>
        </p:txBody>
      </p:sp>
      <p:sp>
        <p:nvSpPr>
          <p:cNvPr id="16" name="Text 14"/>
          <p:cNvSpPr txBox="1"/>
          <p:nvPr/>
        </p:nvSpPr>
        <p:spPr>
          <a:xfrm>
            <a:off x="6414516"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Ultimo · since mid-March</a:t>
            </a:r>
            <a:endParaRPr lang="en-US" sz="900" dirty="0"/>
          </a:p>
        </p:txBody>
      </p:sp>
      <p:sp>
        <p:nvSpPr>
          <p:cNvPr id="17" name="Shape 15"/>
          <p:cNvSpPr/>
          <p:nvPr/>
        </p:nvSpPr>
        <p:spPr>
          <a:xfrm>
            <a:off x="9063990" y="1645920"/>
            <a:ext cx="2558034" cy="1371600"/>
          </a:xfrm>
          <a:prstGeom prst="roundRect">
            <a:avLst>
              <a:gd name="adj" fmla="val 3333"/>
            </a:avLst>
          </a:prstGeom>
          <a:solidFill>
            <a:srgbClr val="FFFFFF"/>
          </a:solidFill>
          <a:ln w="9525">
            <a:solidFill>
              <a:srgbClr val="CFD8E3"/>
            </a:solidFill>
            <a:prstDash val="solid"/>
          </a:ln>
        </p:spPr>
      </p:sp>
      <p:sp>
        <p:nvSpPr>
          <p:cNvPr id="18" name="Text 16"/>
          <p:cNvSpPr txBox="1"/>
          <p:nvPr/>
        </p:nvSpPr>
        <p:spPr>
          <a:xfrm>
            <a:off x="9246870" y="1755648"/>
            <a:ext cx="2192274" cy="566928"/>
          </a:xfrm>
          <a:prstGeom prst="rect">
            <a:avLst/>
          </a:prstGeom>
          <a:noFill/>
          <a:ln/>
        </p:spPr>
        <p:txBody>
          <a:bodyPr wrap="square" lIns="0" tIns="0" rIns="0" bIns="0" rtlCol="0" anchor="ctr"/>
          <a:lstStyle/>
          <a:p>
            <a:pPr indent="0" marL="0">
              <a:buNone/>
            </a:pPr>
            <a:r>
              <a:rPr lang="en-US" sz="2400" b="1" dirty="0">
                <a:solidFill>
                  <a:srgbClr val="2F7D4B"/>
                </a:solidFill>
                <a:latin typeface="Cambria" pitchFamily="34" charset="0"/>
                <a:ea typeface="Cambria" pitchFamily="34" charset="-122"/>
                <a:cs typeface="Cambria" pitchFamily="34" charset="-120"/>
              </a:rPr>
              <a:t>Monthly</a:t>
            </a:r>
            <a:endParaRPr lang="en-US" sz="2400" dirty="0"/>
          </a:p>
        </p:txBody>
      </p:sp>
      <p:sp>
        <p:nvSpPr>
          <p:cNvPr id="19" name="Text 17"/>
          <p:cNvSpPr txBox="1"/>
          <p:nvPr/>
        </p:nvSpPr>
        <p:spPr>
          <a:xfrm>
            <a:off x="9246870"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Work-order reporting and follow-up</a:t>
            </a:r>
            <a:endParaRPr lang="en-US" sz="1050" dirty="0"/>
          </a:p>
        </p:txBody>
      </p:sp>
      <p:sp>
        <p:nvSpPr>
          <p:cNvPr id="20" name="Text 18"/>
          <p:cNvSpPr txBox="1"/>
          <p:nvPr/>
        </p:nvSpPr>
        <p:spPr>
          <a:xfrm>
            <a:off x="9246870"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Reporting cycle</a:t>
            </a:r>
            <a:endParaRPr lang="en-US" sz="900" dirty="0"/>
          </a:p>
        </p:txBody>
      </p:sp>
      <p:sp>
        <p:nvSpPr>
          <p:cNvPr id="21" name="Shape 19"/>
          <p:cNvSpPr/>
          <p:nvPr/>
        </p:nvSpPr>
        <p:spPr>
          <a:xfrm>
            <a:off x="566928" y="3218688"/>
            <a:ext cx="5852160" cy="2578608"/>
          </a:xfrm>
          <a:prstGeom prst="roundRect">
            <a:avLst>
              <a:gd name="adj" fmla="val 1773"/>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22" name="Text 20"/>
          <p:cNvSpPr txBox="1"/>
          <p:nvPr/>
        </p:nvSpPr>
        <p:spPr>
          <a:xfrm>
            <a:off x="822960" y="3438144"/>
            <a:ext cx="5340096"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WHAT I NOW DO INDEPENDENTLY</a:t>
            </a:r>
            <a:endParaRPr lang="en-US" sz="950" dirty="0"/>
          </a:p>
        </p:txBody>
      </p:sp>
      <p:sp>
        <p:nvSpPr>
          <p:cNvPr id="23" name="Text 21"/>
          <p:cNvSpPr txBox="1"/>
          <p:nvPr/>
        </p:nvSpPr>
        <p:spPr>
          <a:xfrm>
            <a:off x="822960" y="3749040"/>
            <a:ext cx="5340096" cy="182880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Create and raise maintenance work orders</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Schedule maintenance activities</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Create permit-to-work requirements for contractors</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Follow up pending work orders and maintenance execution</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Support technical closeout and record visibility</a:t>
            </a:r>
            <a:endParaRPr lang="en-US" sz="1200" dirty="0"/>
          </a:p>
        </p:txBody>
      </p:sp>
      <p:sp>
        <p:nvSpPr>
          <p:cNvPr id="24" name="Shape 22"/>
          <p:cNvSpPr/>
          <p:nvPr/>
        </p:nvSpPr>
        <p:spPr>
          <a:xfrm>
            <a:off x="6693408" y="3218688"/>
            <a:ext cx="4928616" cy="2578608"/>
          </a:xfrm>
          <a:prstGeom prst="roundRect">
            <a:avLst>
              <a:gd name="adj" fmla="val 1773"/>
            </a:avLst>
          </a:prstGeom>
          <a:solidFill>
            <a:srgbClr val="EAF6F6"/>
          </a:solidFill>
          <a:ln w="9525">
            <a:solidFill>
              <a:srgbClr val="BDE0DF"/>
            </a:solidFill>
            <a:prstDash val="solid"/>
          </a:ln>
        </p:spPr>
      </p:sp>
      <p:sp>
        <p:nvSpPr>
          <p:cNvPr id="25" name="Text 23"/>
          <p:cNvSpPr txBox="1"/>
          <p:nvPr/>
        </p:nvSpPr>
        <p:spPr>
          <a:xfrm>
            <a:off x="6949440" y="3438144"/>
            <a:ext cx="4416552"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DEVELOPMENT IMPACT</a:t>
            </a:r>
            <a:endParaRPr lang="en-US" sz="950" dirty="0"/>
          </a:p>
        </p:txBody>
      </p:sp>
      <p:sp>
        <p:nvSpPr>
          <p:cNvPr id="26" name="Text 24"/>
          <p:cNvSpPr txBox="1"/>
          <p:nvPr/>
        </p:nvSpPr>
        <p:spPr>
          <a:xfrm>
            <a:off x="6949440" y="3749040"/>
            <a:ext cx="4416552" cy="1097280"/>
          </a:xfrm>
          <a:prstGeom prst="rect">
            <a:avLst/>
          </a:prstGeom>
          <a:noFill/>
          <a:ln/>
        </p:spPr>
        <p:txBody>
          <a:bodyPr wrap="square" lIns="0" tIns="0" rIns="0" bIns="0" rtlCol="0" anchor="t"/>
          <a:lstStyle/>
          <a:p>
            <a:pPr indent="0" marL="0">
              <a:lnSpc>
                <a:spcPts val="1700"/>
              </a:lnSpc>
              <a:buNone/>
            </a:pPr>
            <a:r>
              <a:rPr lang="en-US" sz="1250" dirty="0">
                <a:solidFill>
                  <a:srgbClr val="0B1F33"/>
                </a:solidFill>
                <a:latin typeface="Calibri" pitchFamily="34" charset="0"/>
                <a:ea typeface="Calibri" pitchFamily="34" charset="-122"/>
                <a:cs typeface="Calibri" pitchFamily="34" charset="-120"/>
              </a:rPr>
              <a:t>I started with zero Ultimo knowledge. The CMMS is now the system I use to control day-to-day maintenance, not one I need help to operate.</a:t>
            </a:r>
            <a:endParaRPr lang="en-US" sz="1250" dirty="0"/>
          </a:p>
        </p:txBody>
      </p:sp>
      <p:sp>
        <p:nvSpPr>
          <p:cNvPr id="27" name="Text 25"/>
          <p:cNvSpPr txBox="1"/>
          <p:nvPr/>
        </p:nvSpPr>
        <p:spPr>
          <a:xfrm>
            <a:off x="6949440" y="4919472"/>
            <a:ext cx="4416552" cy="201168"/>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NEXT FOCUS</a:t>
            </a:r>
            <a:endParaRPr lang="en-US" sz="950" dirty="0"/>
          </a:p>
        </p:txBody>
      </p:sp>
      <p:sp>
        <p:nvSpPr>
          <p:cNvPr id="28" name="Shape 26"/>
          <p:cNvSpPr/>
          <p:nvPr/>
        </p:nvSpPr>
        <p:spPr>
          <a:xfrm>
            <a:off x="6949440" y="5175504"/>
            <a:ext cx="4416552" cy="310896"/>
          </a:xfrm>
          <a:prstGeom prst="roundRect">
            <a:avLst>
              <a:gd name="adj" fmla="val 14706"/>
            </a:avLst>
          </a:prstGeom>
          <a:solidFill>
            <a:srgbClr val="FFFFFF"/>
          </a:solidFill>
          <a:ln w="9525">
            <a:solidFill>
              <a:srgbClr val="147D7E"/>
            </a:solidFill>
            <a:prstDash val="solid"/>
          </a:ln>
        </p:spPr>
      </p:sp>
      <p:sp>
        <p:nvSpPr>
          <p:cNvPr id="29" name="Text 27"/>
          <p:cNvSpPr txBox="1"/>
          <p:nvPr/>
        </p:nvSpPr>
        <p:spPr>
          <a:xfrm>
            <a:off x="7059168" y="5175504"/>
            <a:ext cx="4197096" cy="310896"/>
          </a:xfrm>
          <a:prstGeom prst="rect">
            <a:avLst/>
          </a:prstGeom>
          <a:noFill/>
          <a:ln/>
        </p:spPr>
        <p:txBody>
          <a:bodyPr wrap="square" lIns="0" tIns="0" rIns="0" bIns="0" rtlCol="0" anchor="ctr"/>
          <a:lstStyle/>
          <a:p>
            <a:pPr algn="ctr" indent="0" marL="0">
              <a:buNone/>
            </a:pPr>
            <a:r>
              <a:rPr lang="en-US" sz="950" b="1" dirty="0">
                <a:solidFill>
                  <a:srgbClr val="147D7E"/>
                </a:solidFill>
                <a:latin typeface="Calibri" pitchFamily="34" charset="0"/>
                <a:ea typeface="Calibri" pitchFamily="34" charset="-122"/>
                <a:cs typeface="Calibri" pitchFamily="34" charset="-120"/>
              </a:rPr>
              <a:t>Close work orders promptly</a:t>
            </a:r>
            <a:endParaRPr lang="en-US" sz="950" dirty="0"/>
          </a:p>
        </p:txBody>
      </p:sp>
      <p:sp>
        <p:nvSpPr>
          <p:cNvPr id="30" name="Shape 28"/>
          <p:cNvSpPr/>
          <p:nvPr/>
        </p:nvSpPr>
        <p:spPr>
          <a:xfrm>
            <a:off x="6949440" y="5559552"/>
            <a:ext cx="4416552" cy="310896"/>
          </a:xfrm>
          <a:prstGeom prst="roundRect">
            <a:avLst>
              <a:gd name="adj" fmla="val 14706"/>
            </a:avLst>
          </a:prstGeom>
          <a:solidFill>
            <a:srgbClr val="FFFFFF"/>
          </a:solidFill>
          <a:ln w="9525">
            <a:solidFill>
              <a:srgbClr val="147D7E"/>
            </a:solidFill>
            <a:prstDash val="solid"/>
          </a:ln>
        </p:spPr>
      </p:sp>
      <p:sp>
        <p:nvSpPr>
          <p:cNvPr id="31" name="Text 29"/>
          <p:cNvSpPr txBox="1"/>
          <p:nvPr/>
        </p:nvSpPr>
        <p:spPr>
          <a:xfrm>
            <a:off x="7059168" y="5559552"/>
            <a:ext cx="4197096" cy="310896"/>
          </a:xfrm>
          <a:prstGeom prst="rect">
            <a:avLst/>
          </a:prstGeom>
          <a:noFill/>
          <a:ln/>
        </p:spPr>
        <p:txBody>
          <a:bodyPr wrap="square" lIns="0" tIns="0" rIns="0" bIns="0" rtlCol="0" anchor="ctr"/>
          <a:lstStyle/>
          <a:p>
            <a:pPr algn="ctr" indent="0" marL="0">
              <a:buNone/>
            </a:pPr>
            <a:r>
              <a:rPr lang="en-US" sz="950" b="1" dirty="0">
                <a:solidFill>
                  <a:srgbClr val="147D7E"/>
                </a:solidFill>
                <a:latin typeface="Calibri" pitchFamily="34" charset="0"/>
                <a:ea typeface="Calibri" pitchFamily="34" charset="-122"/>
                <a:cs typeface="Calibri" pitchFamily="34" charset="-120"/>
              </a:rPr>
              <a:t>Review redundant / obsolete orders</a:t>
            </a:r>
            <a:endParaRPr lang="en-US" sz="950" dirty="0"/>
          </a:p>
        </p:txBody>
      </p:sp>
      <p:sp>
        <p:nvSpPr>
          <p:cNvPr id="32" name="Shape 30"/>
          <p:cNvSpPr/>
          <p:nvPr/>
        </p:nvSpPr>
        <p:spPr>
          <a:xfrm>
            <a:off x="566928" y="5943600"/>
            <a:ext cx="11055096" cy="475488"/>
          </a:xfrm>
          <a:prstGeom prst="roundRect">
            <a:avLst>
              <a:gd name="adj" fmla="val 11538"/>
            </a:avLst>
          </a:prstGeom>
          <a:solidFill>
            <a:srgbClr val="F1F4F8"/>
          </a:solidFill>
          <a:ln w="9525">
            <a:solidFill>
              <a:srgbClr val="CFD8E3"/>
            </a:solidFill>
            <a:prstDash val="solid"/>
          </a:ln>
        </p:spPr>
      </p:sp>
      <p:sp>
        <p:nvSpPr>
          <p:cNvPr id="33" name="Text 31"/>
          <p:cNvSpPr txBox="1"/>
          <p:nvPr/>
        </p:nvSpPr>
        <p:spPr>
          <a:xfrm>
            <a:off x="713232"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Evidence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Ultimo work-order and PTW records</a:t>
            </a:r>
            <a:endParaRPr lang="en-US" sz="950" dirty="0"/>
          </a:p>
        </p:txBody>
      </p:sp>
      <p:sp>
        <p:nvSpPr>
          <p:cNvPr id="34" name="Text 32"/>
          <p:cNvSpPr txBox="1"/>
          <p:nvPr/>
        </p:nvSpPr>
        <p:spPr>
          <a:xfrm>
            <a:off x="4398264"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Basis of figures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Weekly minimum since mid-March</a:t>
            </a:r>
            <a:endParaRPr lang="en-US" sz="950" dirty="0"/>
          </a:p>
        </p:txBody>
      </p:sp>
      <p:sp>
        <p:nvSpPr>
          <p:cNvPr id="35" name="Text 33"/>
          <p:cNvSpPr txBox="1"/>
          <p:nvPr/>
        </p:nvSpPr>
        <p:spPr>
          <a:xfrm>
            <a:off x="8083296"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Verifiable by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Ultimo export on request</a:t>
            </a:r>
            <a:endParaRPr lang="en-US" sz="950" dirty="0"/>
          </a:p>
        </p:txBody>
      </p:sp>
      <p:sp>
        <p:nvSpPr>
          <p:cNvPr id="37" name="Text 34"/>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38" name="Text 35"/>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FOCUS AREA 02  ·  STORES &amp; INVENTORY</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Spares can now be found, counted and replaced on record.</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Reorganisation, tagging and monthly reporting turned the store from a room into a traceable system.</a:t>
            </a:r>
            <a:endParaRPr lang="en-US" sz="1200" dirty="0"/>
          </a:p>
        </p:txBody>
      </p:sp>
      <p:sp>
        <p:nvSpPr>
          <p:cNvPr id="5" name="Shape 3"/>
          <p:cNvSpPr/>
          <p:nvPr/>
        </p:nvSpPr>
        <p:spPr>
          <a:xfrm>
            <a:off x="566928" y="1645920"/>
            <a:ext cx="2558034" cy="1371600"/>
          </a:xfrm>
          <a:prstGeom prst="roundRect">
            <a:avLst>
              <a:gd name="adj" fmla="val 3333"/>
            </a:avLst>
          </a:prstGeom>
          <a:solidFill>
            <a:srgbClr val="FFFFFF"/>
          </a:solidFill>
          <a:ln w="9525">
            <a:solidFill>
              <a:srgbClr val="CFD8E3"/>
            </a:solidFill>
            <a:prstDash val="solid"/>
          </a:ln>
        </p:spPr>
      </p:sp>
      <p:sp>
        <p:nvSpPr>
          <p:cNvPr id="6" name="Text 4"/>
          <p:cNvSpPr txBox="1"/>
          <p:nvPr/>
        </p:nvSpPr>
        <p:spPr>
          <a:xfrm>
            <a:off x="749808" y="1755648"/>
            <a:ext cx="2192274" cy="566928"/>
          </a:xfrm>
          <a:prstGeom prst="rect">
            <a:avLst/>
          </a:prstGeom>
          <a:noFill/>
          <a:ln/>
        </p:spPr>
        <p:txBody>
          <a:bodyPr wrap="square" lIns="0" tIns="0" rIns="0" bIns="0" rtlCol="0" anchor="ctr"/>
          <a:lstStyle/>
          <a:p>
            <a:pPr indent="0" marL="0">
              <a:buNone/>
            </a:pPr>
            <a:r>
              <a:rPr lang="en-US" sz="3000" b="1" dirty="0">
                <a:solidFill>
                  <a:srgbClr val="147D7E"/>
                </a:solidFill>
                <a:latin typeface="Cambria" pitchFamily="34" charset="0"/>
                <a:ea typeface="Cambria" pitchFamily="34" charset="-122"/>
                <a:cs typeface="Cambria" pitchFamily="34" charset="-120"/>
              </a:rPr>
              <a:t>300+</a:t>
            </a:r>
            <a:endParaRPr lang="en-US" sz="3000" dirty="0"/>
          </a:p>
        </p:txBody>
      </p:sp>
      <p:sp>
        <p:nvSpPr>
          <p:cNvPr id="7" name="Text 5"/>
          <p:cNvSpPr txBox="1"/>
          <p:nvPr/>
        </p:nvSpPr>
        <p:spPr>
          <a:xfrm>
            <a:off x="749808"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Items currently in the store</a:t>
            </a:r>
            <a:endParaRPr lang="en-US" sz="1050" dirty="0"/>
          </a:p>
        </p:txBody>
      </p:sp>
      <p:sp>
        <p:nvSpPr>
          <p:cNvPr id="8" name="Text 6"/>
          <p:cNvSpPr txBox="1"/>
          <p:nvPr/>
        </p:nvSpPr>
        <p:spPr>
          <a:xfrm>
            <a:off x="749808"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Inventory records</a:t>
            </a:r>
            <a:endParaRPr lang="en-US" sz="900" dirty="0"/>
          </a:p>
        </p:txBody>
      </p:sp>
      <p:sp>
        <p:nvSpPr>
          <p:cNvPr id="9" name="Shape 7"/>
          <p:cNvSpPr/>
          <p:nvPr/>
        </p:nvSpPr>
        <p:spPr>
          <a:xfrm>
            <a:off x="3399282" y="1645920"/>
            <a:ext cx="2558034" cy="1371600"/>
          </a:xfrm>
          <a:prstGeom prst="roundRect">
            <a:avLst>
              <a:gd name="adj" fmla="val 3333"/>
            </a:avLst>
          </a:prstGeom>
          <a:solidFill>
            <a:srgbClr val="FFFFFF"/>
          </a:solidFill>
          <a:ln w="9525">
            <a:solidFill>
              <a:srgbClr val="CFD8E3"/>
            </a:solidFill>
            <a:prstDash val="solid"/>
          </a:ln>
        </p:spPr>
      </p:sp>
      <p:sp>
        <p:nvSpPr>
          <p:cNvPr id="10" name="Text 8"/>
          <p:cNvSpPr txBox="1"/>
          <p:nvPr/>
        </p:nvSpPr>
        <p:spPr>
          <a:xfrm>
            <a:off x="3582162" y="1755648"/>
            <a:ext cx="2192274" cy="566928"/>
          </a:xfrm>
          <a:prstGeom prst="rect">
            <a:avLst/>
          </a:prstGeom>
          <a:noFill/>
          <a:ln/>
        </p:spPr>
        <p:txBody>
          <a:bodyPr wrap="square" lIns="0" tIns="0" rIns="0" bIns="0" rtlCol="0" anchor="ctr"/>
          <a:lstStyle/>
          <a:p>
            <a:pPr indent="0" marL="0">
              <a:buNone/>
            </a:pPr>
            <a:r>
              <a:rPr lang="en-US" sz="3000" b="1" dirty="0">
                <a:solidFill>
                  <a:srgbClr val="1F4E79"/>
                </a:solidFill>
                <a:latin typeface="Cambria" pitchFamily="34" charset="0"/>
                <a:ea typeface="Cambria" pitchFamily="34" charset="-122"/>
                <a:cs typeface="Cambria" pitchFamily="34" charset="-120"/>
              </a:rPr>
              <a:t>~100%</a:t>
            </a:r>
            <a:endParaRPr lang="en-US" sz="3000" dirty="0"/>
          </a:p>
        </p:txBody>
      </p:sp>
      <p:sp>
        <p:nvSpPr>
          <p:cNvPr id="11" name="Text 9"/>
          <p:cNvSpPr txBox="1"/>
          <p:nvPr/>
        </p:nvSpPr>
        <p:spPr>
          <a:xfrm>
            <a:off x="3582162"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Store items tagged for identification</a:t>
            </a:r>
            <a:endParaRPr lang="en-US" sz="1050" dirty="0"/>
          </a:p>
        </p:txBody>
      </p:sp>
      <p:sp>
        <p:nvSpPr>
          <p:cNvPr id="12" name="Text 10"/>
          <p:cNvSpPr txBox="1"/>
          <p:nvPr/>
        </p:nvSpPr>
        <p:spPr>
          <a:xfrm>
            <a:off x="3582162"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Tagging register</a:t>
            </a:r>
            <a:endParaRPr lang="en-US" sz="900" dirty="0"/>
          </a:p>
        </p:txBody>
      </p:sp>
      <p:sp>
        <p:nvSpPr>
          <p:cNvPr id="13" name="Shape 11"/>
          <p:cNvSpPr/>
          <p:nvPr/>
        </p:nvSpPr>
        <p:spPr>
          <a:xfrm>
            <a:off x="6231636" y="1645920"/>
            <a:ext cx="2558034" cy="1371600"/>
          </a:xfrm>
          <a:prstGeom prst="roundRect">
            <a:avLst>
              <a:gd name="adj" fmla="val 3333"/>
            </a:avLst>
          </a:prstGeom>
          <a:solidFill>
            <a:srgbClr val="FFFFFF"/>
          </a:solidFill>
          <a:ln w="9525">
            <a:solidFill>
              <a:srgbClr val="CFD8E3"/>
            </a:solidFill>
            <a:prstDash val="solid"/>
          </a:ln>
        </p:spPr>
      </p:sp>
      <p:sp>
        <p:nvSpPr>
          <p:cNvPr id="14" name="Text 12"/>
          <p:cNvSpPr txBox="1"/>
          <p:nvPr/>
        </p:nvSpPr>
        <p:spPr>
          <a:xfrm>
            <a:off x="6414516" y="1755648"/>
            <a:ext cx="2192274" cy="566928"/>
          </a:xfrm>
          <a:prstGeom prst="rect">
            <a:avLst/>
          </a:prstGeom>
          <a:noFill/>
          <a:ln/>
        </p:spPr>
        <p:txBody>
          <a:bodyPr wrap="square" lIns="0" tIns="0" rIns="0" bIns="0" rtlCol="0" anchor="ctr"/>
          <a:lstStyle/>
          <a:p>
            <a:pPr indent="0" marL="0">
              <a:buNone/>
            </a:pPr>
            <a:r>
              <a:rPr lang="en-US" sz="3000" b="1" dirty="0">
                <a:solidFill>
                  <a:srgbClr val="C9942E"/>
                </a:solidFill>
                <a:latin typeface="Cambria" pitchFamily="34" charset="0"/>
                <a:ea typeface="Cambria" pitchFamily="34" charset="-122"/>
                <a:cs typeface="Cambria" pitchFamily="34" charset="-120"/>
              </a:rPr>
              <a:t>April</a:t>
            </a:r>
            <a:endParaRPr lang="en-US" sz="3000" dirty="0"/>
          </a:p>
        </p:txBody>
      </p:sp>
      <p:sp>
        <p:nvSpPr>
          <p:cNvPr id="15" name="Text 13"/>
          <p:cNvSpPr txBox="1"/>
          <p:nvPr/>
        </p:nvSpPr>
        <p:spPr>
          <a:xfrm>
            <a:off x="6414516"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Monthly inventory reporting started</a:t>
            </a:r>
            <a:endParaRPr lang="en-US" sz="1050" dirty="0"/>
          </a:p>
        </p:txBody>
      </p:sp>
      <p:sp>
        <p:nvSpPr>
          <p:cNvPr id="16" name="Text 14"/>
          <p:cNvSpPr txBox="1"/>
          <p:nvPr/>
        </p:nvSpPr>
        <p:spPr>
          <a:xfrm>
            <a:off x="6414516"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Monthly reports</a:t>
            </a:r>
            <a:endParaRPr lang="en-US" sz="900" dirty="0"/>
          </a:p>
        </p:txBody>
      </p:sp>
      <p:sp>
        <p:nvSpPr>
          <p:cNvPr id="17" name="Shape 15"/>
          <p:cNvSpPr/>
          <p:nvPr/>
        </p:nvSpPr>
        <p:spPr>
          <a:xfrm>
            <a:off x="9063990" y="1645920"/>
            <a:ext cx="2558034" cy="1371600"/>
          </a:xfrm>
          <a:prstGeom prst="roundRect">
            <a:avLst>
              <a:gd name="adj" fmla="val 3333"/>
            </a:avLst>
          </a:prstGeom>
          <a:solidFill>
            <a:srgbClr val="FFFFFF"/>
          </a:solidFill>
          <a:ln w="9525">
            <a:solidFill>
              <a:srgbClr val="CFD8E3"/>
            </a:solidFill>
            <a:prstDash val="solid"/>
          </a:ln>
        </p:spPr>
      </p:sp>
      <p:sp>
        <p:nvSpPr>
          <p:cNvPr id="18" name="Text 16"/>
          <p:cNvSpPr txBox="1"/>
          <p:nvPr/>
        </p:nvSpPr>
        <p:spPr>
          <a:xfrm>
            <a:off x="9246870" y="1755648"/>
            <a:ext cx="2192274" cy="566928"/>
          </a:xfrm>
          <a:prstGeom prst="rect">
            <a:avLst/>
          </a:prstGeom>
          <a:noFill/>
          <a:ln/>
        </p:spPr>
        <p:txBody>
          <a:bodyPr wrap="square" lIns="0" tIns="0" rIns="0" bIns="0" rtlCol="0" anchor="ctr"/>
          <a:lstStyle/>
          <a:p>
            <a:pPr indent="0" marL="0">
              <a:buNone/>
            </a:pPr>
            <a:r>
              <a:rPr lang="en-US" sz="2400" b="1" dirty="0">
                <a:solidFill>
                  <a:srgbClr val="2F7D4B"/>
                </a:solidFill>
                <a:latin typeface="Cambria" pitchFamily="34" charset="0"/>
                <a:ea typeface="Cambria" pitchFamily="34" charset="-122"/>
                <a:cs typeface="Cambria" pitchFamily="34" charset="-120"/>
              </a:rPr>
              <a:t>Ongoing</a:t>
            </a:r>
            <a:endParaRPr lang="en-US" sz="2400" dirty="0"/>
          </a:p>
        </p:txBody>
      </p:sp>
      <p:sp>
        <p:nvSpPr>
          <p:cNvPr id="19" name="Text 17"/>
          <p:cNvSpPr txBox="1"/>
          <p:nvPr/>
        </p:nvSpPr>
        <p:spPr>
          <a:xfrm>
            <a:off x="9246870" y="2340864"/>
            <a:ext cx="2192274"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Consumable replenishment as issued</a:t>
            </a:r>
            <a:endParaRPr lang="en-US" sz="1050" dirty="0"/>
          </a:p>
        </p:txBody>
      </p:sp>
      <p:sp>
        <p:nvSpPr>
          <p:cNvPr id="20" name="Text 18"/>
          <p:cNvSpPr txBox="1"/>
          <p:nvPr/>
        </p:nvSpPr>
        <p:spPr>
          <a:xfrm>
            <a:off x="9246870" y="2724912"/>
            <a:ext cx="2192274"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Stock records</a:t>
            </a:r>
            <a:endParaRPr lang="en-US" sz="900" dirty="0"/>
          </a:p>
        </p:txBody>
      </p:sp>
      <p:sp>
        <p:nvSpPr>
          <p:cNvPr id="21" name="Shape 19"/>
          <p:cNvSpPr/>
          <p:nvPr/>
        </p:nvSpPr>
        <p:spPr>
          <a:xfrm>
            <a:off x="566928" y="3218688"/>
            <a:ext cx="5852160" cy="2578608"/>
          </a:xfrm>
          <a:prstGeom prst="roundRect">
            <a:avLst>
              <a:gd name="adj" fmla="val 1773"/>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22" name="Text 20"/>
          <p:cNvSpPr txBox="1"/>
          <p:nvPr/>
        </p:nvSpPr>
        <p:spPr>
          <a:xfrm>
            <a:off x="822960" y="3438144"/>
            <a:ext cx="5340096"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ACTIONS TAKEN</a:t>
            </a:r>
            <a:endParaRPr lang="en-US" sz="950" dirty="0"/>
          </a:p>
        </p:txBody>
      </p:sp>
      <p:sp>
        <p:nvSpPr>
          <p:cNvPr id="23" name="Text 21"/>
          <p:cNvSpPr txBox="1"/>
          <p:nvPr/>
        </p:nvSpPr>
        <p:spPr>
          <a:xfrm>
            <a:off x="822960" y="3749040"/>
            <a:ext cx="5340096" cy="182880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Reorganised store items for easier identification</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Tagged items and maintained inventory records</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Prepared and circulated monthly inventory reports</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Replenished consumables as items were issued</a:t>
            </a:r>
            <a:endParaRPr lang="en-US" sz="1200" dirty="0"/>
          </a:p>
          <a:p>
            <a:pPr marL="342900" indent="-342900">
              <a:lnSpc>
                <a:spcPts val="1500"/>
              </a:lnSpc>
              <a:spcAft>
                <a:spcPts val="800"/>
              </a:spcAft>
              <a:buSzPct val="100000"/>
              <a:buChar char="•"/>
            </a:pPr>
            <a:r>
              <a:rPr lang="en-US" sz="1200" dirty="0">
                <a:solidFill>
                  <a:srgbClr val="1F2933"/>
                </a:solidFill>
                <a:latin typeface="Calibri" pitchFamily="34" charset="0"/>
                <a:ea typeface="Calibri" pitchFamily="34" charset="-122"/>
                <a:cs typeface="Calibri" pitchFamily="34" charset="-120"/>
              </a:rPr>
              <a:t>Supported monthly reconciliation and stock visibility</a:t>
            </a:r>
            <a:endParaRPr lang="en-US" sz="1200" dirty="0"/>
          </a:p>
        </p:txBody>
      </p:sp>
      <p:sp>
        <p:nvSpPr>
          <p:cNvPr id="24" name="Shape 22"/>
          <p:cNvSpPr/>
          <p:nvPr/>
        </p:nvSpPr>
        <p:spPr>
          <a:xfrm>
            <a:off x="6693408" y="3218688"/>
            <a:ext cx="4928616" cy="2578608"/>
          </a:xfrm>
          <a:prstGeom prst="roundRect">
            <a:avLst>
              <a:gd name="adj" fmla="val 1773"/>
            </a:avLst>
          </a:prstGeom>
          <a:solidFill>
            <a:srgbClr val="EAF6F6"/>
          </a:solidFill>
          <a:ln w="9525">
            <a:solidFill>
              <a:srgbClr val="BDE0DF"/>
            </a:solidFill>
            <a:prstDash val="solid"/>
          </a:ln>
        </p:spPr>
      </p:sp>
      <p:sp>
        <p:nvSpPr>
          <p:cNvPr id="25" name="Text 23"/>
          <p:cNvSpPr txBox="1"/>
          <p:nvPr/>
        </p:nvSpPr>
        <p:spPr>
          <a:xfrm>
            <a:off x="6949440" y="3438144"/>
            <a:ext cx="4416552"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OPERATIONAL VALUE</a:t>
            </a:r>
            <a:endParaRPr lang="en-US" sz="950" dirty="0"/>
          </a:p>
        </p:txBody>
      </p:sp>
      <p:sp>
        <p:nvSpPr>
          <p:cNvPr id="26" name="Text 24"/>
          <p:cNvSpPr txBox="1"/>
          <p:nvPr/>
        </p:nvSpPr>
        <p:spPr>
          <a:xfrm>
            <a:off x="6949440" y="3749040"/>
            <a:ext cx="4416552" cy="1371600"/>
          </a:xfrm>
          <a:prstGeom prst="rect">
            <a:avLst/>
          </a:prstGeom>
          <a:noFill/>
          <a:ln/>
        </p:spPr>
        <p:txBody>
          <a:bodyPr wrap="square" lIns="0" tIns="0" rIns="0" bIns="0" rtlCol="0" anchor="t"/>
          <a:lstStyle/>
          <a:p>
            <a:pPr indent="0" marL="0">
              <a:lnSpc>
                <a:spcPts val="1700"/>
              </a:lnSpc>
              <a:buNone/>
            </a:pPr>
            <a:r>
              <a:rPr lang="en-US" sz="1250" dirty="0">
                <a:solidFill>
                  <a:srgbClr val="0B1F33"/>
                </a:solidFill>
                <a:latin typeface="Calibri" pitchFamily="34" charset="0"/>
                <a:ea typeface="Calibri" pitchFamily="34" charset="-122"/>
                <a:cs typeface="Calibri" pitchFamily="34" charset="-120"/>
              </a:rPr>
              <a:t>Spares can be located when they are needed, and the documentation behind them reduces the risk of a maintenance delay caused by an item that is unavailable or unidentified.</a:t>
            </a:r>
            <a:endParaRPr lang="en-US" sz="1250" dirty="0"/>
          </a:p>
        </p:txBody>
      </p:sp>
      <p:sp>
        <p:nvSpPr>
          <p:cNvPr id="27" name="Text 25"/>
          <p:cNvSpPr txBox="1"/>
          <p:nvPr/>
        </p:nvSpPr>
        <p:spPr>
          <a:xfrm>
            <a:off x="6949440" y="5193792"/>
            <a:ext cx="4416552" cy="201168"/>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NEXT FOCUS</a:t>
            </a:r>
            <a:endParaRPr lang="en-US" sz="950" dirty="0"/>
          </a:p>
        </p:txBody>
      </p:sp>
      <p:sp>
        <p:nvSpPr>
          <p:cNvPr id="28" name="Shape 26"/>
          <p:cNvSpPr/>
          <p:nvPr/>
        </p:nvSpPr>
        <p:spPr>
          <a:xfrm>
            <a:off x="6949440" y="5449824"/>
            <a:ext cx="4416552" cy="310896"/>
          </a:xfrm>
          <a:prstGeom prst="roundRect">
            <a:avLst>
              <a:gd name="adj" fmla="val 14706"/>
            </a:avLst>
          </a:prstGeom>
          <a:solidFill>
            <a:srgbClr val="FFFFFF"/>
          </a:solidFill>
          <a:ln w="9525">
            <a:solidFill>
              <a:srgbClr val="147D7E"/>
            </a:solidFill>
            <a:prstDash val="solid"/>
          </a:ln>
        </p:spPr>
      </p:sp>
      <p:sp>
        <p:nvSpPr>
          <p:cNvPr id="29" name="Text 27"/>
          <p:cNvSpPr txBox="1"/>
          <p:nvPr/>
        </p:nvSpPr>
        <p:spPr>
          <a:xfrm>
            <a:off x="7059168" y="5449824"/>
            <a:ext cx="4197096" cy="310896"/>
          </a:xfrm>
          <a:prstGeom prst="rect">
            <a:avLst/>
          </a:prstGeom>
          <a:noFill/>
          <a:ln/>
        </p:spPr>
        <p:txBody>
          <a:bodyPr wrap="square" lIns="0" tIns="0" rIns="0" bIns="0" rtlCol="0" anchor="ctr"/>
          <a:lstStyle/>
          <a:p>
            <a:pPr algn="ctr" indent="0" marL="0">
              <a:buNone/>
            </a:pPr>
            <a:r>
              <a:rPr lang="en-US" sz="950" b="1" dirty="0">
                <a:solidFill>
                  <a:srgbClr val="147D7E"/>
                </a:solidFill>
                <a:latin typeface="Calibri" pitchFamily="34" charset="0"/>
                <a:ea typeface="Calibri" pitchFamily="34" charset="-122"/>
                <a:cs typeface="Calibri" pitchFamily="34" charset="-120"/>
              </a:rPr>
              <a:t>Support the Microsoft Dynamics transition</a:t>
            </a:r>
            <a:endParaRPr lang="en-US" sz="950" dirty="0"/>
          </a:p>
        </p:txBody>
      </p:sp>
      <p:sp>
        <p:nvSpPr>
          <p:cNvPr id="30" name="Shape 28"/>
          <p:cNvSpPr/>
          <p:nvPr/>
        </p:nvSpPr>
        <p:spPr>
          <a:xfrm>
            <a:off x="566928" y="5943600"/>
            <a:ext cx="11055096" cy="475488"/>
          </a:xfrm>
          <a:prstGeom prst="roundRect">
            <a:avLst>
              <a:gd name="adj" fmla="val 11538"/>
            </a:avLst>
          </a:prstGeom>
          <a:solidFill>
            <a:srgbClr val="F1F4F8"/>
          </a:solidFill>
          <a:ln w="9525">
            <a:solidFill>
              <a:srgbClr val="CFD8E3"/>
            </a:solidFill>
            <a:prstDash val="solid"/>
          </a:ln>
        </p:spPr>
      </p:sp>
      <p:sp>
        <p:nvSpPr>
          <p:cNvPr id="31" name="Text 29"/>
          <p:cNvSpPr txBox="1"/>
          <p:nvPr/>
        </p:nvSpPr>
        <p:spPr>
          <a:xfrm>
            <a:off x="713232"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Evidence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Monthly inventory reports, April onward</a:t>
            </a:r>
            <a:endParaRPr lang="en-US" sz="950" dirty="0"/>
          </a:p>
        </p:txBody>
      </p:sp>
      <p:sp>
        <p:nvSpPr>
          <p:cNvPr id="32" name="Text 30"/>
          <p:cNvSpPr txBox="1"/>
          <p:nvPr/>
        </p:nvSpPr>
        <p:spPr>
          <a:xfrm>
            <a:off x="4398264"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Also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Tagging register · reconciliation records</a:t>
            </a:r>
            <a:endParaRPr lang="en-US" sz="950" dirty="0"/>
          </a:p>
        </p:txBody>
      </p:sp>
      <p:sp>
        <p:nvSpPr>
          <p:cNvPr id="33" name="Text 31"/>
          <p:cNvSpPr txBox="1"/>
          <p:nvPr/>
        </p:nvSpPr>
        <p:spPr>
          <a:xfrm>
            <a:off x="8083296"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Circulated to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M&amp;R, by email and shared folder</a:t>
            </a:r>
            <a:endParaRPr lang="en-US" sz="950" dirty="0"/>
          </a:p>
        </p:txBody>
      </p:sp>
      <p:sp>
        <p:nvSpPr>
          <p:cNvPr id="35" name="Text 32"/>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36" name="Text 33"/>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FOCUS AREA 03  ·  DOCUMENTATION &amp; TRACEABILITY</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Maintenance information is accessible, current and auditable.</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This is the area I am most self-critical about — the records exist, but capture is not yet immediate.</a:t>
            </a:r>
            <a:endParaRPr lang="en-US" sz="1200" dirty="0"/>
          </a:p>
        </p:txBody>
      </p:sp>
      <p:sp>
        <p:nvSpPr>
          <p:cNvPr id="5" name="Shape 3"/>
          <p:cNvSpPr/>
          <p:nvPr/>
        </p:nvSpPr>
        <p:spPr>
          <a:xfrm>
            <a:off x="566928" y="1645920"/>
            <a:ext cx="3502152" cy="4151376"/>
          </a:xfrm>
          <a:prstGeom prst="roundRect">
            <a:avLst>
              <a:gd name="adj" fmla="val 130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6" name="Text 4"/>
          <p:cNvSpPr txBox="1"/>
          <p:nvPr/>
        </p:nvSpPr>
        <p:spPr>
          <a:xfrm>
            <a:off x="822960" y="1883664"/>
            <a:ext cx="2990088"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RECORDS MAINTAINED</a:t>
            </a:r>
            <a:endParaRPr lang="en-US" sz="950" dirty="0"/>
          </a:p>
        </p:txBody>
      </p:sp>
      <p:sp>
        <p:nvSpPr>
          <p:cNvPr id="7" name="Text 5"/>
          <p:cNvSpPr txBox="1"/>
          <p:nvPr/>
        </p:nvSpPr>
        <p:spPr>
          <a:xfrm>
            <a:off x="822960" y="2194560"/>
            <a:ext cx="2990088" cy="3346704"/>
          </a:xfrm>
          <a:prstGeom prst="rect">
            <a:avLst/>
          </a:prstGeom>
          <a:noFill/>
          <a:ln/>
        </p:spPr>
        <p:txBody>
          <a:bodyPr wrap="square" lIns="0" tIns="0" rIns="0" bIns="0" rtlCol="0" anchor="t"/>
          <a:lstStyle/>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Ultimo work orders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Permit-to-Work records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Monthly inventory reports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Procurement records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Project / maintenance documents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M&amp;R shared OneDrive / folder</a:t>
            </a:r>
            <a:endParaRPr lang="en-US" sz="1200" dirty="0"/>
          </a:p>
        </p:txBody>
      </p:sp>
      <p:sp>
        <p:nvSpPr>
          <p:cNvPr id="8" name="Shape 6"/>
          <p:cNvSpPr/>
          <p:nvPr/>
        </p:nvSpPr>
        <p:spPr>
          <a:xfrm>
            <a:off x="4343400" y="1645920"/>
            <a:ext cx="3502152" cy="4151376"/>
          </a:xfrm>
          <a:prstGeom prst="roundRect">
            <a:avLst>
              <a:gd name="adj" fmla="val 1305"/>
            </a:avLst>
          </a:prstGeom>
          <a:solidFill>
            <a:srgbClr val="F1F4F8"/>
          </a:solidFill>
          <a:ln w="9525">
            <a:solidFill>
              <a:srgbClr val="CFD8E3"/>
            </a:solidFill>
            <a:prstDash val="solid"/>
          </a:ln>
        </p:spPr>
      </p:sp>
      <p:sp>
        <p:nvSpPr>
          <p:cNvPr id="9" name="Text 7"/>
          <p:cNvSpPr txBox="1"/>
          <p:nvPr/>
        </p:nvSpPr>
        <p:spPr>
          <a:xfrm>
            <a:off x="4599432" y="1883664"/>
            <a:ext cx="2990088" cy="201168"/>
          </a:xfrm>
          <a:prstGeom prst="rect">
            <a:avLst/>
          </a:prstGeom>
          <a:noFill/>
          <a:ln/>
        </p:spPr>
        <p:txBody>
          <a:bodyPr wrap="square" lIns="0" tIns="0" rIns="0" bIns="0" rtlCol="0" anchor="ctr"/>
          <a:lstStyle/>
          <a:p>
            <a:pPr indent="0" marL="0">
              <a:buNone/>
            </a:pPr>
            <a:r>
              <a:rPr lang="en-US" sz="950" b="1" spc="120" kern="0" dirty="0">
                <a:solidFill>
                  <a:srgbClr val="1F4E79"/>
                </a:solidFill>
                <a:latin typeface="Calibri" pitchFamily="34" charset="0"/>
                <a:ea typeface="Calibri" pitchFamily="34" charset="-122"/>
                <a:cs typeface="Calibri" pitchFamily="34" charset="-120"/>
              </a:rPr>
              <a:t>CURRENT CONTRIBUTION</a:t>
            </a:r>
            <a:endParaRPr lang="en-US" sz="950" dirty="0"/>
          </a:p>
        </p:txBody>
      </p:sp>
      <p:sp>
        <p:nvSpPr>
          <p:cNvPr id="10" name="Text 8"/>
          <p:cNvSpPr txBox="1"/>
          <p:nvPr/>
        </p:nvSpPr>
        <p:spPr>
          <a:xfrm>
            <a:off x="4599432" y="2194560"/>
            <a:ext cx="2990088" cy="1188720"/>
          </a:xfrm>
          <a:prstGeom prst="rect">
            <a:avLst/>
          </a:prstGeom>
          <a:noFill/>
          <a:ln/>
        </p:spPr>
        <p:txBody>
          <a:bodyPr wrap="square" lIns="0" tIns="0" rIns="0" bIns="0" rtlCol="0" anchor="t"/>
          <a:lstStyle/>
          <a:p>
            <a:pPr indent="0" marL="0">
              <a:lnSpc>
                <a:spcPts val="1700"/>
              </a:lnSpc>
              <a:buNone/>
            </a:pPr>
            <a:r>
              <a:rPr lang="en-US" sz="1250" dirty="0">
                <a:solidFill>
                  <a:srgbClr val="0B1F33"/>
                </a:solidFill>
                <a:latin typeface="Calibri" pitchFamily="34" charset="0"/>
                <a:ea typeface="Calibri" pitchFamily="34" charset="-122"/>
                <a:cs typeface="Calibri" pitchFamily="34" charset="-120"/>
              </a:rPr>
              <a:t>I maintain a traceable record of maintenance, inventory and project activity across the systems and shared repositories M&amp;R uses.</a:t>
            </a:r>
            <a:endParaRPr lang="en-US" sz="1250" dirty="0"/>
          </a:p>
        </p:txBody>
      </p:sp>
      <p:sp>
        <p:nvSpPr>
          <p:cNvPr id="11" name="Text 9"/>
          <p:cNvSpPr txBox="1"/>
          <p:nvPr/>
        </p:nvSpPr>
        <p:spPr>
          <a:xfrm>
            <a:off x="4599432" y="3474720"/>
            <a:ext cx="2990088" cy="731520"/>
          </a:xfrm>
          <a:prstGeom prst="rect">
            <a:avLst/>
          </a:prstGeom>
          <a:noFill/>
          <a:ln/>
        </p:spPr>
        <p:txBody>
          <a:bodyPr wrap="square" lIns="0" tIns="0" rIns="0" bIns="0" rtlCol="0" anchor="t"/>
          <a:lstStyle/>
          <a:p>
            <a:pPr indent="0" marL="0">
              <a:lnSpc>
                <a:spcPts val="1600"/>
              </a:lnSpc>
              <a:buNone/>
            </a:pPr>
            <a:r>
              <a:rPr lang="en-US" sz="1200" dirty="0">
                <a:solidFill>
                  <a:srgbClr val="56677A"/>
                </a:solidFill>
                <a:latin typeface="Calibri" pitchFamily="34" charset="0"/>
                <a:ea typeface="Calibri" pitchFamily="34" charset="-122"/>
                <a:cs typeface="Calibri" pitchFamily="34" charset="-120"/>
              </a:rPr>
              <a:t>Monthly inventory reporting has been established and running since April.</a:t>
            </a:r>
            <a:endParaRPr lang="en-US" sz="1200" dirty="0"/>
          </a:p>
        </p:txBody>
      </p:sp>
      <p:sp>
        <p:nvSpPr>
          <p:cNvPr id="12" name="Shape 10"/>
          <p:cNvSpPr/>
          <p:nvPr/>
        </p:nvSpPr>
        <p:spPr>
          <a:xfrm>
            <a:off x="4599432" y="5138928"/>
            <a:ext cx="2990088" cy="420624"/>
          </a:xfrm>
          <a:prstGeom prst="roundRect">
            <a:avLst>
              <a:gd name="adj" fmla="val 10870"/>
            </a:avLst>
          </a:prstGeom>
          <a:solidFill>
            <a:srgbClr val="FFFFFF"/>
          </a:solidFill>
          <a:ln w="9525">
            <a:solidFill>
              <a:srgbClr val="C9942E"/>
            </a:solidFill>
            <a:prstDash val="solid"/>
          </a:ln>
        </p:spPr>
      </p:sp>
      <p:sp>
        <p:nvSpPr>
          <p:cNvPr id="13" name="Text 11"/>
          <p:cNvSpPr txBox="1"/>
          <p:nvPr/>
        </p:nvSpPr>
        <p:spPr>
          <a:xfrm>
            <a:off x="4709160" y="5138928"/>
            <a:ext cx="2770632" cy="420624"/>
          </a:xfrm>
          <a:prstGeom prst="rect">
            <a:avLst/>
          </a:prstGeom>
          <a:noFill/>
          <a:ln/>
        </p:spPr>
        <p:txBody>
          <a:bodyPr wrap="square" lIns="0" tIns="0" rIns="0" bIns="0" rtlCol="0" anchor="ctr"/>
          <a:lstStyle/>
          <a:p>
            <a:pPr algn="ctr" indent="0" marL="0">
              <a:buNone/>
            </a:pPr>
            <a:r>
              <a:rPr lang="en-US" sz="950" b="1" dirty="0">
                <a:solidFill>
                  <a:srgbClr val="C9942E"/>
                </a:solidFill>
                <a:latin typeface="Calibri" pitchFamily="34" charset="0"/>
                <a:ea typeface="Calibri" pitchFamily="34" charset="-122"/>
                <a:cs typeface="Calibri" pitchFamily="34" charset="-120"/>
              </a:rPr>
              <a:t>Evidence: email + shared folder + Ultimo</a:t>
            </a:r>
            <a:endParaRPr lang="en-US" sz="950" dirty="0"/>
          </a:p>
        </p:txBody>
      </p:sp>
      <p:sp>
        <p:nvSpPr>
          <p:cNvPr id="14" name="Shape 12"/>
          <p:cNvSpPr/>
          <p:nvPr/>
        </p:nvSpPr>
        <p:spPr>
          <a:xfrm>
            <a:off x="8119872" y="1645920"/>
            <a:ext cx="3502152" cy="4151376"/>
          </a:xfrm>
          <a:prstGeom prst="roundRect">
            <a:avLst>
              <a:gd name="adj" fmla="val 1305"/>
            </a:avLst>
          </a:prstGeom>
          <a:solidFill>
            <a:srgbClr val="EAF6F6"/>
          </a:solidFill>
          <a:ln w="9525">
            <a:solidFill>
              <a:srgbClr val="BDE0DF"/>
            </a:solidFill>
            <a:prstDash val="solid"/>
          </a:ln>
        </p:spPr>
      </p:sp>
      <p:sp>
        <p:nvSpPr>
          <p:cNvPr id="15" name="Text 13"/>
          <p:cNvSpPr txBox="1"/>
          <p:nvPr/>
        </p:nvSpPr>
        <p:spPr>
          <a:xfrm>
            <a:off x="8375904" y="1883664"/>
            <a:ext cx="2990088" cy="201168"/>
          </a:xfrm>
          <a:prstGeom prst="rect">
            <a:avLst/>
          </a:prstGeom>
          <a:noFill/>
          <a:ln/>
        </p:spPr>
        <p:txBody>
          <a:bodyPr wrap="square" lIns="0" tIns="0" rIns="0" bIns="0" rtlCol="0" anchor="ctr"/>
          <a:lstStyle/>
          <a:p>
            <a:pPr indent="0" marL="0">
              <a:buNone/>
            </a:pPr>
            <a:r>
              <a:rPr lang="en-US" sz="950" b="1" spc="120" kern="0" dirty="0">
                <a:solidFill>
                  <a:srgbClr val="147D7E"/>
                </a:solidFill>
                <a:latin typeface="Calibri" pitchFamily="34" charset="0"/>
                <a:ea typeface="Calibri" pitchFamily="34" charset="-122"/>
                <a:cs typeface="Calibri" pitchFamily="34" charset="-120"/>
              </a:rPr>
              <a:t>IMPROVEMENT PRIORITY</a:t>
            </a:r>
            <a:endParaRPr lang="en-US" sz="950" dirty="0"/>
          </a:p>
        </p:txBody>
      </p:sp>
      <p:sp>
        <p:nvSpPr>
          <p:cNvPr id="16" name="Text 14"/>
          <p:cNvSpPr txBox="1"/>
          <p:nvPr/>
        </p:nvSpPr>
        <p:spPr>
          <a:xfrm>
            <a:off x="8375904" y="2194560"/>
            <a:ext cx="2990088" cy="658368"/>
          </a:xfrm>
          <a:prstGeom prst="rect">
            <a:avLst/>
          </a:prstGeom>
          <a:noFill/>
          <a:ln/>
        </p:spPr>
        <p:txBody>
          <a:bodyPr wrap="square" lIns="0" tIns="0" rIns="0" bIns="0" rtlCol="0" anchor="t"/>
          <a:lstStyle/>
          <a:p>
            <a:pPr indent="0" marL="0">
              <a:lnSpc>
                <a:spcPts val="1900"/>
              </a:lnSpc>
              <a:buNone/>
            </a:pPr>
            <a:r>
              <a:rPr lang="en-US" sz="1450" b="1" dirty="0">
                <a:solidFill>
                  <a:srgbClr val="0B1F33"/>
                </a:solidFill>
                <a:latin typeface="Cambria" pitchFamily="34" charset="0"/>
                <a:ea typeface="Cambria" pitchFamily="34" charset="-122"/>
                <a:cs typeface="Cambria" pitchFamily="34" charset="-120"/>
              </a:rPr>
              <a:t>Move from “upload when due” to “capture as produced”.</a:t>
            </a:r>
            <a:endParaRPr lang="en-US" sz="1450" dirty="0"/>
          </a:p>
        </p:txBody>
      </p:sp>
      <p:sp>
        <p:nvSpPr>
          <p:cNvPr id="17" name="Text 15"/>
          <p:cNvSpPr txBox="1"/>
          <p:nvPr/>
        </p:nvSpPr>
        <p:spPr>
          <a:xfrm>
            <a:off x="8375904" y="2980944"/>
            <a:ext cx="2990088" cy="2560320"/>
          </a:xfrm>
          <a:prstGeom prst="rect">
            <a:avLst/>
          </a:prstGeom>
          <a:noFill/>
          <a:ln/>
        </p:spPr>
        <p:txBody>
          <a:bodyPr wrap="square" lIns="0" tIns="0" rIns="0" bIns="0" rtlCol="0" anchor="t"/>
          <a:lstStyle/>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Upload files immediately as records are generated</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Use a consistent naming and filing convention</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Explore practical automation for document capture and routing</a:t>
            </a:r>
            <a:endParaRPr lang="en-US" sz="1200" dirty="0"/>
          </a:p>
        </p:txBody>
      </p:sp>
      <p:sp>
        <p:nvSpPr>
          <p:cNvPr id="18" name="Shape 16"/>
          <p:cNvSpPr/>
          <p:nvPr/>
        </p:nvSpPr>
        <p:spPr>
          <a:xfrm>
            <a:off x="566928" y="5943600"/>
            <a:ext cx="11055096" cy="475488"/>
          </a:xfrm>
          <a:prstGeom prst="roundRect">
            <a:avLst>
              <a:gd name="adj" fmla="val 11538"/>
            </a:avLst>
          </a:prstGeom>
          <a:solidFill>
            <a:srgbClr val="F1F4F8"/>
          </a:solidFill>
          <a:ln w="9525">
            <a:solidFill>
              <a:srgbClr val="CFD8E3"/>
            </a:solidFill>
            <a:prstDash val="solid"/>
          </a:ln>
        </p:spPr>
      </p:sp>
      <p:sp>
        <p:nvSpPr>
          <p:cNvPr id="19" name="Text 17"/>
          <p:cNvSpPr txBox="1"/>
          <p:nvPr/>
        </p:nvSpPr>
        <p:spPr>
          <a:xfrm>
            <a:off x="713232"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Systems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Ultimo · M&amp;R shared OneDrive · email</a:t>
            </a:r>
            <a:endParaRPr lang="en-US" sz="950" dirty="0"/>
          </a:p>
        </p:txBody>
      </p:sp>
      <p:sp>
        <p:nvSpPr>
          <p:cNvPr id="20" name="Text 18"/>
          <p:cNvSpPr txBox="1"/>
          <p:nvPr/>
        </p:nvSpPr>
        <p:spPr>
          <a:xfrm>
            <a:off x="4398264"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Established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Monthly inventory reporting since April 2026</a:t>
            </a:r>
            <a:endParaRPr lang="en-US" sz="950" dirty="0"/>
          </a:p>
        </p:txBody>
      </p:sp>
      <p:sp>
        <p:nvSpPr>
          <p:cNvPr id="21" name="Text 19"/>
          <p:cNvSpPr txBox="1"/>
          <p:nvPr/>
        </p:nvSpPr>
        <p:spPr>
          <a:xfrm>
            <a:off x="8083296" y="5943600"/>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Gap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Capture lag between doing the work and filing the record</a:t>
            </a:r>
            <a:endParaRPr lang="en-US" sz="950" dirty="0"/>
          </a:p>
        </p:txBody>
      </p:sp>
      <p:sp>
        <p:nvSpPr>
          <p:cNvPr id="23" name="Text 20"/>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24" name="Text 21"/>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FOCUS AREA 04  ·  MAINTENANCE &amp; ASSET SUPPORT</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Broad hands-on exposure across terminal equipment and integrity work.</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Executed, supervised or supported across three strands during the period.</a:t>
            </a:r>
            <a:endParaRPr lang="en-US" sz="1200" dirty="0"/>
          </a:p>
        </p:txBody>
      </p:sp>
      <p:sp>
        <p:nvSpPr>
          <p:cNvPr id="5" name="Shape 3"/>
          <p:cNvSpPr/>
          <p:nvPr/>
        </p:nvSpPr>
        <p:spPr>
          <a:xfrm>
            <a:off x="566928" y="1645920"/>
            <a:ext cx="3502152" cy="4151376"/>
          </a:xfrm>
          <a:prstGeom prst="roundRect">
            <a:avLst>
              <a:gd name="adj" fmla="val 130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6" name="Shape 4"/>
          <p:cNvSpPr/>
          <p:nvPr/>
        </p:nvSpPr>
        <p:spPr>
          <a:xfrm>
            <a:off x="822960" y="1956816"/>
            <a:ext cx="137160" cy="137160"/>
          </a:xfrm>
          <a:prstGeom prst="ellipse">
            <a:avLst/>
          </a:prstGeom>
          <a:solidFill>
            <a:srgbClr val="147D7E"/>
          </a:solidFill>
          <a:ln/>
        </p:spPr>
      </p:sp>
      <p:sp>
        <p:nvSpPr>
          <p:cNvPr id="7" name="Text 5"/>
          <p:cNvSpPr txBox="1"/>
          <p:nvPr/>
        </p:nvSpPr>
        <p:spPr>
          <a:xfrm>
            <a:off x="1060704" y="1865376"/>
            <a:ext cx="2752344" cy="329184"/>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Equipment &amp; maintenance</a:t>
            </a:r>
            <a:endParaRPr lang="en-US" sz="1500" dirty="0"/>
          </a:p>
        </p:txBody>
      </p:sp>
      <p:sp>
        <p:nvSpPr>
          <p:cNvPr id="8" name="Text 6"/>
          <p:cNvSpPr txBox="1"/>
          <p:nvPr/>
        </p:nvSpPr>
        <p:spPr>
          <a:xfrm>
            <a:off x="822960" y="2340864"/>
            <a:ext cx="2990088" cy="3200400"/>
          </a:xfrm>
          <a:prstGeom prst="rect">
            <a:avLst/>
          </a:prstGeom>
          <a:noFill/>
          <a:ln/>
        </p:spPr>
        <p:txBody>
          <a:bodyPr wrap="square" lIns="0" tIns="0" rIns="0" bIns="0" rtlCol="0" anchor="t"/>
          <a:lstStyle/>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1 deadman valve replaced</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~5 pressure gauges replaced</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~2 limit switches repaired</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~5 breakaway-pin replacements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Most damaged lighting fixtures replaced</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Applicable PRVs calibrated</a:t>
            </a:r>
            <a:endParaRPr lang="en-US" sz="1200" dirty="0"/>
          </a:p>
        </p:txBody>
      </p:sp>
      <p:sp>
        <p:nvSpPr>
          <p:cNvPr id="9" name="Shape 7"/>
          <p:cNvSpPr/>
          <p:nvPr/>
        </p:nvSpPr>
        <p:spPr>
          <a:xfrm>
            <a:off x="4343400" y="1645920"/>
            <a:ext cx="3502152" cy="4151376"/>
          </a:xfrm>
          <a:prstGeom prst="roundRect">
            <a:avLst>
              <a:gd name="adj" fmla="val 1305"/>
            </a:avLst>
          </a:prstGeom>
          <a:solidFill>
            <a:srgbClr val="F1F4F8"/>
          </a:solidFill>
          <a:ln w="9525">
            <a:solidFill>
              <a:srgbClr val="CFD8E3"/>
            </a:solidFill>
            <a:prstDash val="solid"/>
          </a:ln>
        </p:spPr>
      </p:sp>
      <p:sp>
        <p:nvSpPr>
          <p:cNvPr id="10" name="Shape 8"/>
          <p:cNvSpPr/>
          <p:nvPr/>
        </p:nvSpPr>
        <p:spPr>
          <a:xfrm>
            <a:off x="4599432" y="1956816"/>
            <a:ext cx="137160" cy="137160"/>
          </a:xfrm>
          <a:prstGeom prst="ellipse">
            <a:avLst/>
          </a:prstGeom>
          <a:solidFill>
            <a:srgbClr val="1F4E79"/>
          </a:solidFill>
          <a:ln/>
        </p:spPr>
      </p:sp>
      <p:sp>
        <p:nvSpPr>
          <p:cNvPr id="11" name="Text 9"/>
          <p:cNvSpPr txBox="1"/>
          <p:nvPr/>
        </p:nvSpPr>
        <p:spPr>
          <a:xfrm>
            <a:off x="4837176" y="1865376"/>
            <a:ext cx="2752344" cy="329184"/>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Integrity &amp; projects</a:t>
            </a:r>
            <a:endParaRPr lang="en-US" sz="1500" dirty="0"/>
          </a:p>
        </p:txBody>
      </p:sp>
      <p:sp>
        <p:nvSpPr>
          <p:cNvPr id="12" name="Text 10"/>
          <p:cNvSpPr txBox="1"/>
          <p:nvPr/>
        </p:nvSpPr>
        <p:spPr>
          <a:xfrm>
            <a:off x="4599432" y="2340864"/>
            <a:ext cx="2990088" cy="3200400"/>
          </a:xfrm>
          <a:prstGeom prst="rect">
            <a:avLst/>
          </a:prstGeom>
          <a:noFill/>
          <a:ln/>
        </p:spPr>
        <p:txBody>
          <a:bodyPr wrap="square" lIns="0" tIns="0" rIns="0" bIns="0" rtlCol="0" anchor="t"/>
          <a:lstStyle/>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2 pipeline sections tested</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T101 decommissioning / bolt replacement</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Corrosion-control activities supervised</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Denso tape applied to treated areas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Temporary civil repairs at the loading bay</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Caravan store floor refurbishment supervised</a:t>
            </a:r>
            <a:endParaRPr lang="en-US" sz="1200" dirty="0"/>
          </a:p>
        </p:txBody>
      </p:sp>
      <p:sp>
        <p:nvSpPr>
          <p:cNvPr id="13" name="Shape 11"/>
          <p:cNvSpPr/>
          <p:nvPr/>
        </p:nvSpPr>
        <p:spPr>
          <a:xfrm>
            <a:off x="8119872" y="1645920"/>
            <a:ext cx="3502152" cy="4151376"/>
          </a:xfrm>
          <a:prstGeom prst="roundRect">
            <a:avLst>
              <a:gd name="adj" fmla="val 130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4" name="Shape 12"/>
          <p:cNvSpPr/>
          <p:nvPr/>
        </p:nvSpPr>
        <p:spPr>
          <a:xfrm>
            <a:off x="8375904" y="1956816"/>
            <a:ext cx="137160" cy="137160"/>
          </a:xfrm>
          <a:prstGeom prst="ellipse">
            <a:avLst/>
          </a:prstGeom>
          <a:solidFill>
            <a:srgbClr val="C9942E"/>
          </a:solidFill>
          <a:ln/>
        </p:spPr>
      </p:sp>
      <p:sp>
        <p:nvSpPr>
          <p:cNvPr id="15" name="Text 13"/>
          <p:cNvSpPr txBox="1"/>
          <p:nvPr/>
        </p:nvSpPr>
        <p:spPr>
          <a:xfrm>
            <a:off x="8613648" y="1865376"/>
            <a:ext cx="2752344" cy="329184"/>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Routine engineering exposure</a:t>
            </a:r>
            <a:endParaRPr lang="en-US" sz="1500" dirty="0"/>
          </a:p>
        </p:txBody>
      </p:sp>
      <p:sp>
        <p:nvSpPr>
          <p:cNvPr id="16" name="Text 14"/>
          <p:cNvSpPr txBox="1"/>
          <p:nvPr/>
        </p:nvSpPr>
        <p:spPr>
          <a:xfrm>
            <a:off x="8375904" y="2340864"/>
            <a:ext cx="2990088" cy="3200400"/>
          </a:xfrm>
          <a:prstGeom prst="rect">
            <a:avLst/>
          </a:prstGeom>
          <a:noFill/>
          <a:ln/>
        </p:spPr>
        <p:txBody>
          <a:bodyPr wrap="square" lIns="0" tIns="0" rIns="0" bIns="0" rtlCol="0" anchor="t"/>
          <a:lstStyle/>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Daily equipment condition checks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Pumps, compressors and generators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Remote-operated and relief valves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Contractor maintenance across disciplines</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Troubleshooting of terminal equipment</a:t>
            </a:r>
            <a:endParaRPr lang="en-US" sz="1200" dirty="0"/>
          </a:p>
          <a:p>
            <a:pPr marL="342900" indent="-342900">
              <a:lnSpc>
                <a:spcPts val="1500"/>
              </a:lnSpc>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Growing ability to identify maintenance needs</a:t>
            </a:r>
            <a:endParaRPr lang="en-US" sz="1200" dirty="0"/>
          </a:p>
        </p:txBody>
      </p:sp>
      <p:sp>
        <p:nvSpPr>
          <p:cNvPr id="17" name="Shape 15"/>
          <p:cNvSpPr/>
          <p:nvPr/>
        </p:nvSpPr>
        <p:spPr>
          <a:xfrm>
            <a:off x="566928" y="5943600"/>
            <a:ext cx="11055096" cy="475488"/>
          </a:xfrm>
          <a:prstGeom prst="roundRect">
            <a:avLst>
              <a:gd name="adj" fmla="val 11538"/>
            </a:avLst>
          </a:prstGeom>
          <a:solidFill>
            <a:srgbClr val="0B1F33"/>
          </a:solidFill>
          <a:ln/>
        </p:spPr>
      </p:sp>
      <p:sp>
        <p:nvSpPr>
          <p:cNvPr id="18" name="Text 16"/>
          <p:cNvSpPr txBox="1"/>
          <p:nvPr/>
        </p:nvSpPr>
        <p:spPr>
          <a:xfrm>
            <a:off x="768096" y="5943600"/>
            <a:ext cx="1065276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Positioning: strong practical exposure, with progressively increasing readiness for independent routine inspections and basic maintenance.</a:t>
            </a:r>
            <a:endParaRPr lang="en-US" sz="1150" dirty="0"/>
          </a:p>
        </p:txBody>
      </p:sp>
      <p:sp>
        <p:nvSpPr>
          <p:cNvPr id="20" name="Text 17"/>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21" name="Text 18"/>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SAFETY  ·  CONTRACTORS  ·  PROCUREMENT</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Work moved through the systems that authorise and supply it.</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Maintenance is only as good as the permit that allows it and the material that arrives for it.</a:t>
            </a:r>
            <a:endParaRPr lang="en-US" sz="1200" dirty="0"/>
          </a:p>
        </p:txBody>
      </p:sp>
      <p:sp>
        <p:nvSpPr>
          <p:cNvPr id="5" name="Shape 3"/>
          <p:cNvSpPr/>
          <p:nvPr/>
        </p:nvSpPr>
        <p:spPr>
          <a:xfrm>
            <a:off x="566928" y="1645920"/>
            <a:ext cx="3502152" cy="4151376"/>
          </a:xfrm>
          <a:prstGeom prst="roundRect">
            <a:avLst>
              <a:gd name="adj" fmla="val 130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6" name="Text 4"/>
          <p:cNvSpPr txBox="1"/>
          <p:nvPr/>
        </p:nvSpPr>
        <p:spPr>
          <a:xfrm>
            <a:off x="822960" y="1883664"/>
            <a:ext cx="2990088" cy="201168"/>
          </a:xfrm>
          <a:prstGeom prst="rect">
            <a:avLst/>
          </a:prstGeom>
          <a:noFill/>
          <a:ln/>
        </p:spPr>
        <p:txBody>
          <a:bodyPr wrap="square" lIns="0" tIns="0" rIns="0" bIns="0" rtlCol="0" anchor="ctr"/>
          <a:lstStyle/>
          <a:p>
            <a:pPr indent="0" marL="0">
              <a:buNone/>
            </a:pPr>
            <a:r>
              <a:rPr lang="en-US" sz="950" b="1" spc="120" kern="0" dirty="0">
                <a:solidFill>
                  <a:srgbClr val="2F7D4B"/>
                </a:solidFill>
                <a:latin typeface="Calibri" pitchFamily="34" charset="0"/>
                <a:ea typeface="Calibri" pitchFamily="34" charset="-122"/>
                <a:cs typeface="Calibri" pitchFamily="34" charset="-120"/>
              </a:rPr>
              <a:t>SAFETY PARTICIPATION</a:t>
            </a:r>
            <a:endParaRPr lang="en-US" sz="950" dirty="0"/>
          </a:p>
        </p:txBody>
      </p:sp>
      <p:sp>
        <p:nvSpPr>
          <p:cNvPr id="7" name="Text 5"/>
          <p:cNvSpPr txBox="1"/>
          <p:nvPr/>
        </p:nvSpPr>
        <p:spPr>
          <a:xfrm>
            <a:off x="822960" y="2194560"/>
            <a:ext cx="2990088" cy="3346704"/>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150" dirty="0">
                <a:solidFill>
                  <a:srgbClr val="1F2933"/>
                </a:solidFill>
                <a:latin typeface="Calibri" pitchFamily="34" charset="0"/>
                <a:ea typeface="Calibri" pitchFamily="34" charset="-122"/>
                <a:cs typeface="Calibri" pitchFamily="34" charset="-120"/>
              </a:rPr>
              <a:t>Daily Operations toolbox meetings</a:t>
            </a:r>
            <a:endParaRPr lang="en-US" sz="1150" dirty="0"/>
          </a:p>
          <a:p>
            <a:pPr marL="342900" indent="-342900">
              <a:lnSpc>
                <a:spcPts val="1400"/>
              </a:lnSpc>
              <a:spcAft>
                <a:spcPts val="700"/>
              </a:spcAft>
              <a:buSzPct val="100000"/>
              <a:buChar char="•"/>
            </a:pPr>
            <a:r>
              <a:rPr lang="en-US" sz="1150" dirty="0">
                <a:solidFill>
                  <a:srgbClr val="1F2933"/>
                </a:solidFill>
                <a:latin typeface="Calibri" pitchFamily="34" charset="0"/>
                <a:ea typeface="Calibri" pitchFamily="34" charset="-122"/>
                <a:cs typeface="Calibri" pitchFamily="34" charset="-120"/>
              </a:rPr>
              <a:t>Weekly toolbox sessions</a:t>
            </a:r>
            <a:endParaRPr lang="en-US" sz="1150" dirty="0"/>
          </a:p>
          <a:p>
            <a:pPr marL="342900" indent="-342900">
              <a:lnSpc>
                <a:spcPts val="1400"/>
              </a:lnSpc>
              <a:spcAft>
                <a:spcPts val="700"/>
              </a:spcAft>
              <a:buSzPct val="100000"/>
              <a:buChar char="•"/>
            </a:pPr>
            <a:r>
              <a:rPr lang="en-US" sz="1150" dirty="0">
                <a:solidFill>
                  <a:srgbClr val="1F2933"/>
                </a:solidFill>
                <a:latin typeface="Calibri" pitchFamily="34" charset="0"/>
                <a:ea typeface="Calibri" pitchFamily="34" charset="-122"/>
                <a:cs typeface="Calibri" pitchFamily="34" charset="-120"/>
              </a:rPr>
              <a:t>Monthly Safety Council meetings</a:t>
            </a:r>
            <a:endParaRPr lang="en-US" sz="1150" dirty="0"/>
          </a:p>
          <a:p>
            <a:pPr marL="342900" indent="-342900">
              <a:lnSpc>
                <a:spcPts val="1400"/>
              </a:lnSpc>
              <a:spcAft>
                <a:spcPts val="700"/>
              </a:spcAft>
              <a:buSzPct val="100000"/>
              <a:buChar char="•"/>
            </a:pPr>
            <a:r>
              <a:rPr lang="en-US" sz="1150" dirty="0">
                <a:solidFill>
                  <a:srgbClr val="1F2933"/>
                </a:solidFill>
                <a:latin typeface="Calibri" pitchFamily="34" charset="0"/>
                <a:ea typeface="Calibri" pitchFamily="34" charset="-122"/>
                <a:cs typeface="Calibri" pitchFamily="34" charset="-120"/>
              </a:rPr>
              <a:t>Employee forums — all attended</a:t>
            </a:r>
            <a:endParaRPr lang="en-US" sz="1150" dirty="0"/>
          </a:p>
          <a:p>
            <a:pPr marL="342900" indent="-342900">
              <a:lnSpc>
                <a:spcPts val="1400"/>
              </a:lnSpc>
              <a:spcAft>
                <a:spcPts val="700"/>
              </a:spcAft>
              <a:buSzPct val="100000"/>
              <a:buChar char="•"/>
            </a:pPr>
            <a:r>
              <a:rPr lang="en-US" sz="1150" dirty="0">
                <a:solidFill>
                  <a:srgbClr val="1F2933"/>
                </a:solidFill>
                <a:latin typeface="Calibri" pitchFamily="34" charset="0"/>
                <a:ea typeface="Calibri" pitchFamily="34" charset="-122"/>
                <a:cs typeface="Calibri" pitchFamily="34" charset="-120"/>
              </a:rPr>
              <a:t>1 Safety Beacon session handled personally</a:t>
            </a:r>
            <a:endParaRPr lang="en-US" sz="1150" dirty="0"/>
          </a:p>
          <a:p>
            <a:pPr marL="342900" indent="-342900">
              <a:lnSpc>
                <a:spcPts val="1400"/>
              </a:lnSpc>
              <a:spcAft>
                <a:spcPts val="700"/>
              </a:spcAft>
              <a:buSzPct val="100000"/>
              <a:buChar char="•"/>
            </a:pPr>
            <a:r>
              <a:rPr lang="en-US" sz="1150" dirty="0">
                <a:solidFill>
                  <a:srgbClr val="1F2933"/>
                </a:solidFill>
                <a:latin typeface="Calibri" pitchFamily="34" charset="0"/>
                <a:ea typeface="Calibri" pitchFamily="34" charset="-122"/>
                <a:cs typeface="Calibri" pitchFamily="34" charset="-120"/>
              </a:rPr>
              <a:t>Multiple safety observations raised</a:t>
            </a:r>
            <a:endParaRPr lang="en-US" sz="1150" dirty="0"/>
          </a:p>
          <a:p>
            <a:pPr marL="342900" indent="-342900">
              <a:lnSpc>
                <a:spcPts val="1400"/>
              </a:lnSpc>
              <a:spcAft>
                <a:spcPts val="700"/>
              </a:spcAft>
              <a:buSzPct val="100000"/>
              <a:buChar char="•"/>
            </a:pPr>
            <a:r>
              <a:rPr lang="en-US" sz="1150" dirty="0">
                <a:solidFill>
                  <a:srgbClr val="1F2933"/>
                </a:solidFill>
                <a:latin typeface="Calibri" pitchFamily="34" charset="0"/>
                <a:ea typeface="Calibri" pitchFamily="34" charset="-122"/>
                <a:cs typeface="Calibri" pitchFamily="34" charset="-120"/>
              </a:rPr>
              <a:t>PTW / TRA / LOTO applied to maintenance and contractor work</a:t>
            </a:r>
            <a:endParaRPr lang="en-US" sz="1150" dirty="0"/>
          </a:p>
        </p:txBody>
      </p:sp>
      <p:sp>
        <p:nvSpPr>
          <p:cNvPr id="8" name="Shape 6"/>
          <p:cNvSpPr/>
          <p:nvPr/>
        </p:nvSpPr>
        <p:spPr>
          <a:xfrm>
            <a:off x="4343400" y="1645920"/>
            <a:ext cx="3502152" cy="4151376"/>
          </a:xfrm>
          <a:prstGeom prst="roundRect">
            <a:avLst>
              <a:gd name="adj" fmla="val 1305"/>
            </a:avLst>
          </a:prstGeom>
          <a:solidFill>
            <a:srgbClr val="F1F4F8"/>
          </a:solidFill>
          <a:ln w="9525">
            <a:solidFill>
              <a:srgbClr val="CFD8E3"/>
            </a:solidFill>
            <a:prstDash val="solid"/>
          </a:ln>
        </p:spPr>
      </p:sp>
      <p:sp>
        <p:nvSpPr>
          <p:cNvPr id="9" name="Text 7"/>
          <p:cNvSpPr txBox="1"/>
          <p:nvPr/>
        </p:nvSpPr>
        <p:spPr>
          <a:xfrm>
            <a:off x="4599432" y="1883664"/>
            <a:ext cx="2990088" cy="201168"/>
          </a:xfrm>
          <a:prstGeom prst="rect">
            <a:avLst/>
          </a:prstGeom>
          <a:noFill/>
          <a:ln/>
        </p:spPr>
        <p:txBody>
          <a:bodyPr wrap="square" lIns="0" tIns="0" rIns="0" bIns="0" rtlCol="0" anchor="ctr"/>
          <a:lstStyle/>
          <a:p>
            <a:pPr indent="0" marL="0">
              <a:buNone/>
            </a:pPr>
            <a:r>
              <a:rPr lang="en-US" sz="950" b="1" spc="120" kern="0" dirty="0">
                <a:solidFill>
                  <a:srgbClr val="1F4E79"/>
                </a:solidFill>
                <a:latin typeface="Calibri" pitchFamily="34" charset="0"/>
                <a:ea typeface="Calibri" pitchFamily="34" charset="-122"/>
                <a:cs typeface="Calibri" pitchFamily="34" charset="-120"/>
              </a:rPr>
              <a:t>CONTRACTOR COORDINATION</a:t>
            </a:r>
            <a:endParaRPr lang="en-US" sz="950" dirty="0"/>
          </a:p>
        </p:txBody>
      </p:sp>
      <p:sp>
        <p:nvSpPr>
          <p:cNvPr id="10" name="Text 8"/>
          <p:cNvSpPr txBox="1"/>
          <p:nvPr/>
        </p:nvSpPr>
        <p:spPr>
          <a:xfrm>
            <a:off x="4599432" y="2194560"/>
            <a:ext cx="2990088" cy="457200"/>
          </a:xfrm>
          <a:prstGeom prst="rect">
            <a:avLst/>
          </a:prstGeom>
          <a:noFill/>
          <a:ln/>
        </p:spPr>
        <p:txBody>
          <a:bodyPr wrap="square" lIns="0" tIns="0" rIns="0" bIns="0" rtlCol="0" anchor="t"/>
          <a:lstStyle/>
          <a:p>
            <a:pPr indent="0" marL="0">
              <a:lnSpc>
                <a:spcPts val="1600"/>
              </a:lnSpc>
              <a:buNone/>
            </a:pPr>
            <a:r>
              <a:rPr lang="en-US" sz="1200" dirty="0">
                <a:solidFill>
                  <a:srgbClr val="0B1F33"/>
                </a:solidFill>
                <a:latin typeface="Calibri" pitchFamily="34" charset="0"/>
                <a:ea typeface="Calibri" pitchFamily="34" charset="-122"/>
                <a:cs typeface="Calibri" pitchFamily="34" charset="-120"/>
              </a:rPr>
              <a:t>I supervise contractors confidently across six disciplines:</a:t>
            </a:r>
            <a:endParaRPr lang="en-US" sz="1200" dirty="0"/>
          </a:p>
        </p:txBody>
      </p:sp>
      <p:sp>
        <p:nvSpPr>
          <p:cNvPr id="11" name="Text 9"/>
          <p:cNvSpPr txBox="1"/>
          <p:nvPr/>
        </p:nvSpPr>
        <p:spPr>
          <a:xfrm>
            <a:off x="4599432" y="2706624"/>
            <a:ext cx="2990088" cy="228600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Painting</a:t>
            </a:r>
            <a:endParaRPr lang="en-US" sz="1200" dirty="0"/>
          </a:p>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Welding / fabrication</a:t>
            </a:r>
            <a:endParaRPr lang="en-US" sz="1200" dirty="0"/>
          </a:p>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Civil works</a:t>
            </a:r>
            <a:endParaRPr lang="en-US" sz="1200" dirty="0"/>
          </a:p>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Pump and valve maintenance</a:t>
            </a:r>
            <a:endParaRPr lang="en-US" sz="1200" dirty="0"/>
          </a:p>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Air-conditioning maintenance</a:t>
            </a:r>
            <a:endParaRPr lang="en-US" sz="1200" dirty="0"/>
          </a:p>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Corrosion control</a:t>
            </a:r>
            <a:endParaRPr lang="en-US" sz="1200" dirty="0"/>
          </a:p>
        </p:txBody>
      </p:sp>
      <p:sp>
        <p:nvSpPr>
          <p:cNvPr id="12" name="Shape 10"/>
          <p:cNvSpPr/>
          <p:nvPr/>
        </p:nvSpPr>
        <p:spPr>
          <a:xfrm>
            <a:off x="4599432" y="5138928"/>
            <a:ext cx="2990088" cy="420624"/>
          </a:xfrm>
          <a:prstGeom prst="roundRect">
            <a:avLst>
              <a:gd name="adj" fmla="val 10870"/>
            </a:avLst>
          </a:prstGeom>
          <a:solidFill>
            <a:srgbClr val="FFFFFF"/>
          </a:solidFill>
          <a:ln w="9525">
            <a:solidFill>
              <a:srgbClr val="147D7E"/>
            </a:solidFill>
            <a:prstDash val="solid"/>
          </a:ln>
        </p:spPr>
      </p:sp>
      <p:sp>
        <p:nvSpPr>
          <p:cNvPr id="13" name="Text 11"/>
          <p:cNvSpPr txBox="1"/>
          <p:nvPr/>
        </p:nvSpPr>
        <p:spPr>
          <a:xfrm>
            <a:off x="4709160" y="5138928"/>
            <a:ext cx="2770632" cy="420624"/>
          </a:xfrm>
          <a:prstGeom prst="rect">
            <a:avLst/>
          </a:prstGeom>
          <a:noFill/>
          <a:ln/>
        </p:spPr>
        <p:txBody>
          <a:bodyPr wrap="square" lIns="0" tIns="0" rIns="0" bIns="0" rtlCol="0" anchor="ctr"/>
          <a:lstStyle/>
          <a:p>
            <a:pPr algn="ctr" indent="0" marL="0">
              <a:buNone/>
            </a:pPr>
            <a:r>
              <a:rPr lang="en-US" sz="950" b="1" dirty="0">
                <a:solidFill>
                  <a:srgbClr val="147D7E"/>
                </a:solidFill>
                <a:latin typeface="Calibri" pitchFamily="34" charset="0"/>
                <a:ea typeface="Calibri" pitchFamily="34" charset="-122"/>
                <a:cs typeface="Calibri" pitchFamily="34" charset="-120"/>
              </a:rPr>
              <a:t>Focus: develop project-planning capability</a:t>
            </a:r>
            <a:endParaRPr lang="en-US" sz="950" dirty="0"/>
          </a:p>
        </p:txBody>
      </p:sp>
      <p:sp>
        <p:nvSpPr>
          <p:cNvPr id="14" name="Shape 12"/>
          <p:cNvSpPr/>
          <p:nvPr/>
        </p:nvSpPr>
        <p:spPr>
          <a:xfrm>
            <a:off x="8119872" y="1645920"/>
            <a:ext cx="3502152" cy="4151376"/>
          </a:xfrm>
          <a:prstGeom prst="roundRect">
            <a:avLst>
              <a:gd name="adj" fmla="val 130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5" name="Text 13"/>
          <p:cNvSpPr txBox="1"/>
          <p:nvPr/>
        </p:nvSpPr>
        <p:spPr>
          <a:xfrm>
            <a:off x="8375904" y="1883664"/>
            <a:ext cx="2990088" cy="201168"/>
          </a:xfrm>
          <a:prstGeom prst="rect">
            <a:avLst/>
          </a:prstGeom>
          <a:noFill/>
          <a:ln/>
        </p:spPr>
        <p:txBody>
          <a:bodyPr wrap="square" lIns="0" tIns="0" rIns="0" bIns="0" rtlCol="0" anchor="ctr"/>
          <a:lstStyle/>
          <a:p>
            <a:pPr indent="0" marL="0">
              <a:buNone/>
            </a:pPr>
            <a:r>
              <a:rPr lang="en-US" sz="950" b="1" spc="120" kern="0" dirty="0">
                <a:solidFill>
                  <a:srgbClr val="C9942E"/>
                </a:solidFill>
                <a:latin typeface="Calibri" pitchFamily="34" charset="0"/>
                <a:ea typeface="Calibri" pitchFamily="34" charset="-122"/>
                <a:cs typeface="Calibri" pitchFamily="34" charset="-120"/>
              </a:rPr>
              <a:t>PROCUREMENT SUPPORT</a:t>
            </a:r>
            <a:endParaRPr lang="en-US" sz="950" dirty="0"/>
          </a:p>
        </p:txBody>
      </p:sp>
      <p:sp>
        <p:nvSpPr>
          <p:cNvPr id="16" name="Shape 14"/>
          <p:cNvSpPr/>
          <p:nvPr/>
        </p:nvSpPr>
        <p:spPr>
          <a:xfrm>
            <a:off x="8375904" y="2194560"/>
            <a:ext cx="1394460" cy="1060704"/>
          </a:xfrm>
          <a:prstGeom prst="roundRect">
            <a:avLst>
              <a:gd name="adj" fmla="val 4310"/>
            </a:avLst>
          </a:prstGeom>
          <a:solidFill>
            <a:srgbClr val="F1F4F8"/>
          </a:solidFill>
          <a:ln w="9525">
            <a:solidFill>
              <a:srgbClr val="CFD8E3"/>
            </a:solidFill>
            <a:prstDash val="solid"/>
          </a:ln>
        </p:spPr>
      </p:sp>
      <p:sp>
        <p:nvSpPr>
          <p:cNvPr id="17" name="Text 15"/>
          <p:cNvSpPr txBox="1"/>
          <p:nvPr/>
        </p:nvSpPr>
        <p:spPr>
          <a:xfrm>
            <a:off x="8522208" y="2286000"/>
            <a:ext cx="1101852" cy="475488"/>
          </a:xfrm>
          <a:prstGeom prst="rect">
            <a:avLst/>
          </a:prstGeom>
          <a:noFill/>
          <a:ln/>
        </p:spPr>
        <p:txBody>
          <a:bodyPr wrap="square" lIns="0" tIns="0" rIns="0" bIns="0" rtlCol="0" anchor="ctr"/>
          <a:lstStyle/>
          <a:p>
            <a:pPr indent="0" marL="0">
              <a:buNone/>
            </a:pPr>
            <a:r>
              <a:rPr lang="en-US" sz="2600" b="1" dirty="0">
                <a:solidFill>
                  <a:srgbClr val="C9942E"/>
                </a:solidFill>
                <a:latin typeface="Cambria" pitchFamily="34" charset="0"/>
                <a:ea typeface="Cambria" pitchFamily="34" charset="-122"/>
                <a:cs typeface="Cambria" pitchFamily="34" charset="-120"/>
              </a:rPr>
              <a:t>30+</a:t>
            </a:r>
            <a:endParaRPr lang="en-US" sz="2600" dirty="0"/>
          </a:p>
        </p:txBody>
      </p:sp>
      <p:sp>
        <p:nvSpPr>
          <p:cNvPr id="18" name="Text 16"/>
          <p:cNvSpPr txBox="1"/>
          <p:nvPr/>
        </p:nvSpPr>
        <p:spPr>
          <a:xfrm>
            <a:off x="8522208" y="2779776"/>
            <a:ext cx="1101852" cy="384048"/>
          </a:xfrm>
          <a:prstGeom prst="rect">
            <a:avLst/>
          </a:prstGeom>
          <a:noFill/>
          <a:ln/>
        </p:spPr>
        <p:txBody>
          <a:bodyPr wrap="square" lIns="0" tIns="0" rIns="0" bIns="0" rtlCol="0" anchor="t"/>
          <a:lstStyle/>
          <a:p>
            <a:pPr indent="0" marL="0">
              <a:buNone/>
            </a:pPr>
            <a:r>
              <a:rPr lang="en-US" sz="1050" b="1" dirty="0">
                <a:solidFill>
                  <a:srgbClr val="0B1F33"/>
                </a:solidFill>
                <a:latin typeface="Calibri" pitchFamily="34" charset="0"/>
                <a:ea typeface="Calibri" pitchFamily="34" charset="-122"/>
                <a:cs typeface="Calibri" pitchFamily="34" charset="-120"/>
              </a:rPr>
              <a:t>RFQs raised</a:t>
            </a:r>
            <a:endParaRPr lang="en-US" sz="1050" dirty="0"/>
          </a:p>
        </p:txBody>
      </p:sp>
      <p:sp>
        <p:nvSpPr>
          <p:cNvPr id="19" name="Shape 17"/>
          <p:cNvSpPr/>
          <p:nvPr/>
        </p:nvSpPr>
        <p:spPr>
          <a:xfrm>
            <a:off x="9971532" y="2194560"/>
            <a:ext cx="1394460" cy="1060704"/>
          </a:xfrm>
          <a:prstGeom prst="roundRect">
            <a:avLst>
              <a:gd name="adj" fmla="val 4310"/>
            </a:avLst>
          </a:prstGeom>
          <a:solidFill>
            <a:srgbClr val="F1F4F8"/>
          </a:solidFill>
          <a:ln w="9525">
            <a:solidFill>
              <a:srgbClr val="CFD8E3"/>
            </a:solidFill>
            <a:prstDash val="solid"/>
          </a:ln>
        </p:spPr>
      </p:sp>
      <p:sp>
        <p:nvSpPr>
          <p:cNvPr id="20" name="Text 18"/>
          <p:cNvSpPr txBox="1"/>
          <p:nvPr/>
        </p:nvSpPr>
        <p:spPr>
          <a:xfrm>
            <a:off x="10117836" y="2286000"/>
            <a:ext cx="1101852" cy="475488"/>
          </a:xfrm>
          <a:prstGeom prst="rect">
            <a:avLst/>
          </a:prstGeom>
          <a:noFill/>
          <a:ln/>
        </p:spPr>
        <p:txBody>
          <a:bodyPr wrap="square" lIns="0" tIns="0" rIns="0" bIns="0"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10+</a:t>
            </a:r>
            <a:endParaRPr lang="en-US" sz="2600" dirty="0"/>
          </a:p>
        </p:txBody>
      </p:sp>
      <p:sp>
        <p:nvSpPr>
          <p:cNvPr id="21" name="Text 19"/>
          <p:cNvSpPr txBox="1"/>
          <p:nvPr/>
        </p:nvSpPr>
        <p:spPr>
          <a:xfrm>
            <a:off x="10117836" y="2779776"/>
            <a:ext cx="1101852" cy="384048"/>
          </a:xfrm>
          <a:prstGeom prst="rect">
            <a:avLst/>
          </a:prstGeom>
          <a:noFill/>
          <a:ln/>
        </p:spPr>
        <p:txBody>
          <a:bodyPr wrap="square" lIns="0" tIns="0" rIns="0" bIns="0" rtlCol="0" anchor="t"/>
          <a:lstStyle/>
          <a:p>
            <a:pPr indent="0" marL="0">
              <a:buNone/>
            </a:pPr>
            <a:r>
              <a:rPr lang="en-US" sz="1050" b="1" dirty="0">
                <a:solidFill>
                  <a:srgbClr val="0B1F33"/>
                </a:solidFill>
                <a:latin typeface="Calibri" pitchFamily="34" charset="0"/>
                <a:ea typeface="Calibri" pitchFamily="34" charset="-122"/>
                <a:cs typeface="Calibri" pitchFamily="34" charset="-120"/>
              </a:rPr>
              <a:t>POs generated</a:t>
            </a:r>
            <a:endParaRPr lang="en-US" sz="1050" dirty="0"/>
          </a:p>
        </p:txBody>
      </p:sp>
      <p:sp>
        <p:nvSpPr>
          <p:cNvPr id="22" name="Text 20"/>
          <p:cNvSpPr txBox="1"/>
          <p:nvPr/>
        </p:nvSpPr>
        <p:spPr>
          <a:xfrm>
            <a:off x="8375904" y="3493008"/>
            <a:ext cx="2990088" cy="201168"/>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TYPICAL MATERIAL HANDLED</a:t>
            </a:r>
            <a:endParaRPr lang="en-US" sz="950" dirty="0"/>
          </a:p>
        </p:txBody>
      </p:sp>
      <p:sp>
        <p:nvSpPr>
          <p:cNvPr id="23" name="Text 21"/>
          <p:cNvSpPr txBox="1"/>
          <p:nvPr/>
        </p:nvSpPr>
        <p:spPr>
          <a:xfrm>
            <a:off x="8375904" y="3767328"/>
            <a:ext cx="2990088" cy="73152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Maintenance grease</a:t>
            </a:r>
            <a:endParaRPr lang="en-US" sz="1200" dirty="0"/>
          </a:p>
          <a:p>
            <a:pPr marL="342900" indent="-342900">
              <a:lnSpc>
                <a:spcPts val="1500"/>
              </a:lnSpc>
              <a:spcAft>
                <a:spcPts val="900"/>
              </a:spcAft>
              <a:buSzPct val="100000"/>
              <a:buChar char="•"/>
            </a:pPr>
            <a:r>
              <a:rPr lang="en-US" sz="1200" dirty="0">
                <a:solidFill>
                  <a:srgbClr val="1F2933"/>
                </a:solidFill>
                <a:latin typeface="Calibri" pitchFamily="34" charset="0"/>
                <a:ea typeface="Calibri" pitchFamily="34" charset="-122"/>
                <a:cs typeface="Calibri" pitchFamily="34" charset="-120"/>
              </a:rPr>
              <a:t>Loading-bay gaskets</a:t>
            </a:r>
            <a:endParaRPr lang="en-US" sz="1200" dirty="0"/>
          </a:p>
        </p:txBody>
      </p:sp>
      <p:sp>
        <p:nvSpPr>
          <p:cNvPr id="24" name="Shape 22"/>
          <p:cNvSpPr/>
          <p:nvPr/>
        </p:nvSpPr>
        <p:spPr>
          <a:xfrm>
            <a:off x="566928" y="5943600"/>
            <a:ext cx="11055096" cy="475488"/>
          </a:xfrm>
          <a:prstGeom prst="roundRect">
            <a:avLst>
              <a:gd name="adj" fmla="val 11538"/>
            </a:avLst>
          </a:prstGeom>
          <a:solidFill>
            <a:srgbClr val="F1F4F8"/>
          </a:solidFill>
          <a:ln w="9525">
            <a:solidFill>
              <a:srgbClr val="CFD8E3"/>
            </a:solidFill>
            <a:prstDash val="solid"/>
          </a:ln>
        </p:spPr>
      </p:sp>
      <p:sp>
        <p:nvSpPr>
          <p:cNvPr id="25" name="Text 23"/>
          <p:cNvSpPr txBox="1"/>
          <p:nvPr/>
        </p:nvSpPr>
        <p:spPr>
          <a:xfrm>
            <a:off x="713232" y="5943600"/>
            <a:ext cx="5234940"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Evidence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PTW / TRA / LOTO records · toolbox and Safety Council attendance</a:t>
            </a:r>
            <a:endParaRPr lang="en-US" sz="950" dirty="0"/>
          </a:p>
        </p:txBody>
      </p:sp>
      <p:sp>
        <p:nvSpPr>
          <p:cNvPr id="26" name="Text 24"/>
          <p:cNvSpPr txBox="1"/>
          <p:nvPr/>
        </p:nvSpPr>
        <p:spPr>
          <a:xfrm>
            <a:off x="6240780" y="5943600"/>
            <a:ext cx="5234940"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And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Procurement records — RFQs, requisitions, POs</a:t>
            </a:r>
            <a:endParaRPr lang="en-US" sz="950" dirty="0"/>
          </a:p>
        </p:txBody>
      </p:sp>
      <p:sp>
        <p:nvSpPr>
          <p:cNvPr id="28" name="Text 25"/>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29" name="Text 26"/>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Every claim in this review traces to a record.</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The strongest evidence available for the period, with the source named against each figure.</a:t>
            </a:r>
            <a:endParaRPr lang="en-US" sz="1200" dirty="0"/>
          </a:p>
        </p:txBody>
      </p:sp>
      <p:sp>
        <p:nvSpPr>
          <p:cNvPr id="5" name="Shape 3"/>
          <p:cNvSpPr/>
          <p:nvPr/>
        </p:nvSpPr>
        <p:spPr>
          <a:xfrm>
            <a:off x="566928" y="1938528"/>
            <a:ext cx="2571750" cy="1645920"/>
          </a:xfrm>
          <a:prstGeom prst="roundRect">
            <a:avLst>
              <a:gd name="adj" fmla="val 2778"/>
            </a:avLst>
          </a:prstGeom>
          <a:solidFill>
            <a:srgbClr val="FFFFFF"/>
          </a:solidFill>
          <a:ln w="9525">
            <a:solidFill>
              <a:srgbClr val="CFD8E3"/>
            </a:solidFill>
            <a:prstDash val="solid"/>
          </a:ln>
        </p:spPr>
      </p:sp>
      <p:sp>
        <p:nvSpPr>
          <p:cNvPr id="6" name="Text 4"/>
          <p:cNvSpPr txBox="1"/>
          <p:nvPr/>
        </p:nvSpPr>
        <p:spPr>
          <a:xfrm>
            <a:off x="749808" y="2048256"/>
            <a:ext cx="2205990" cy="566928"/>
          </a:xfrm>
          <a:prstGeom prst="rect">
            <a:avLst/>
          </a:prstGeom>
          <a:noFill/>
          <a:ln/>
        </p:spPr>
        <p:txBody>
          <a:bodyPr wrap="square" lIns="0" tIns="0" rIns="0" bIns="0" rtlCol="0" anchor="ctr"/>
          <a:lstStyle/>
          <a:p>
            <a:pPr indent="0" marL="0">
              <a:buNone/>
            </a:pPr>
            <a:r>
              <a:rPr lang="en-US" sz="2700" b="1" dirty="0">
                <a:solidFill>
                  <a:srgbClr val="147D7E"/>
                </a:solidFill>
                <a:latin typeface="Cambria" pitchFamily="34" charset="0"/>
                <a:ea typeface="Cambria" pitchFamily="34" charset="-122"/>
                <a:cs typeface="Cambria" pitchFamily="34" charset="-120"/>
              </a:rPr>
              <a:t>3+ / wk</a:t>
            </a:r>
            <a:endParaRPr lang="en-US" sz="2700" dirty="0"/>
          </a:p>
        </p:txBody>
      </p:sp>
      <p:sp>
        <p:nvSpPr>
          <p:cNvPr id="7" name="Text 5"/>
          <p:cNvSpPr txBox="1"/>
          <p:nvPr/>
        </p:nvSpPr>
        <p:spPr>
          <a:xfrm>
            <a:off x="749808" y="263347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Work orders raised</a:t>
            </a:r>
            <a:endParaRPr lang="en-US" sz="1050" dirty="0"/>
          </a:p>
        </p:txBody>
      </p:sp>
      <p:sp>
        <p:nvSpPr>
          <p:cNvPr id="8" name="Text 6"/>
          <p:cNvSpPr txBox="1"/>
          <p:nvPr/>
        </p:nvSpPr>
        <p:spPr>
          <a:xfrm>
            <a:off x="749808" y="329184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Ultimo</a:t>
            </a:r>
            <a:endParaRPr lang="en-US" sz="900" dirty="0"/>
          </a:p>
        </p:txBody>
      </p:sp>
      <p:sp>
        <p:nvSpPr>
          <p:cNvPr id="9" name="Shape 7"/>
          <p:cNvSpPr/>
          <p:nvPr/>
        </p:nvSpPr>
        <p:spPr>
          <a:xfrm>
            <a:off x="3394710" y="1938528"/>
            <a:ext cx="2571750" cy="1645920"/>
          </a:xfrm>
          <a:prstGeom prst="roundRect">
            <a:avLst>
              <a:gd name="adj" fmla="val 2778"/>
            </a:avLst>
          </a:prstGeom>
          <a:solidFill>
            <a:srgbClr val="FFFFFF"/>
          </a:solidFill>
          <a:ln w="9525">
            <a:solidFill>
              <a:srgbClr val="CFD8E3"/>
            </a:solidFill>
            <a:prstDash val="solid"/>
          </a:ln>
        </p:spPr>
      </p:sp>
      <p:sp>
        <p:nvSpPr>
          <p:cNvPr id="10" name="Text 8"/>
          <p:cNvSpPr txBox="1"/>
          <p:nvPr/>
        </p:nvSpPr>
        <p:spPr>
          <a:xfrm>
            <a:off x="3577590" y="2048256"/>
            <a:ext cx="2205990" cy="566928"/>
          </a:xfrm>
          <a:prstGeom prst="rect">
            <a:avLst/>
          </a:prstGeom>
          <a:noFill/>
          <a:ln/>
        </p:spPr>
        <p:txBody>
          <a:bodyPr wrap="square" lIns="0" tIns="0" rIns="0" bIns="0" rtlCol="0" anchor="ctr"/>
          <a:lstStyle/>
          <a:p>
            <a:pPr indent="0" marL="0">
              <a:buNone/>
            </a:pPr>
            <a:r>
              <a:rPr lang="en-US" sz="2700" b="1" dirty="0">
                <a:solidFill>
                  <a:srgbClr val="1F4E79"/>
                </a:solidFill>
                <a:latin typeface="Cambria" pitchFamily="34" charset="0"/>
                <a:ea typeface="Cambria" pitchFamily="34" charset="-122"/>
                <a:cs typeface="Cambria" pitchFamily="34" charset="-120"/>
              </a:rPr>
              <a:t>5+ / wk</a:t>
            </a:r>
            <a:endParaRPr lang="en-US" sz="2700" dirty="0"/>
          </a:p>
        </p:txBody>
      </p:sp>
      <p:sp>
        <p:nvSpPr>
          <p:cNvPr id="11" name="Text 9"/>
          <p:cNvSpPr txBox="1"/>
          <p:nvPr/>
        </p:nvSpPr>
        <p:spPr>
          <a:xfrm>
            <a:off x="3577590" y="263347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PTWs created</a:t>
            </a:r>
            <a:endParaRPr lang="en-US" sz="1050" dirty="0"/>
          </a:p>
        </p:txBody>
      </p:sp>
      <p:sp>
        <p:nvSpPr>
          <p:cNvPr id="12" name="Text 10"/>
          <p:cNvSpPr txBox="1"/>
          <p:nvPr/>
        </p:nvSpPr>
        <p:spPr>
          <a:xfrm>
            <a:off x="3577590" y="329184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Ultimo</a:t>
            </a:r>
            <a:endParaRPr lang="en-US" sz="900" dirty="0"/>
          </a:p>
        </p:txBody>
      </p:sp>
      <p:sp>
        <p:nvSpPr>
          <p:cNvPr id="13" name="Shape 11"/>
          <p:cNvSpPr/>
          <p:nvPr/>
        </p:nvSpPr>
        <p:spPr>
          <a:xfrm>
            <a:off x="6222492" y="1938528"/>
            <a:ext cx="2571750" cy="1645920"/>
          </a:xfrm>
          <a:prstGeom prst="roundRect">
            <a:avLst>
              <a:gd name="adj" fmla="val 2778"/>
            </a:avLst>
          </a:prstGeom>
          <a:solidFill>
            <a:srgbClr val="FFFFFF"/>
          </a:solidFill>
          <a:ln w="9525">
            <a:solidFill>
              <a:srgbClr val="CFD8E3"/>
            </a:solidFill>
            <a:prstDash val="solid"/>
          </a:ln>
        </p:spPr>
      </p:sp>
      <p:sp>
        <p:nvSpPr>
          <p:cNvPr id="14" name="Text 12"/>
          <p:cNvSpPr txBox="1"/>
          <p:nvPr/>
        </p:nvSpPr>
        <p:spPr>
          <a:xfrm>
            <a:off x="6405372" y="2048256"/>
            <a:ext cx="2205990" cy="566928"/>
          </a:xfrm>
          <a:prstGeom prst="rect">
            <a:avLst/>
          </a:prstGeom>
          <a:noFill/>
          <a:ln/>
        </p:spPr>
        <p:txBody>
          <a:bodyPr wrap="square" lIns="0" tIns="0" rIns="0" bIns="0" rtlCol="0" anchor="ctr"/>
          <a:lstStyle/>
          <a:p>
            <a:pPr indent="0" marL="0">
              <a:buNone/>
            </a:pPr>
            <a:r>
              <a:rPr lang="en-US" sz="2700" b="1" dirty="0">
                <a:solidFill>
                  <a:srgbClr val="C9942E"/>
                </a:solidFill>
                <a:latin typeface="Cambria" pitchFamily="34" charset="0"/>
                <a:ea typeface="Cambria" pitchFamily="34" charset="-122"/>
                <a:cs typeface="Cambria" pitchFamily="34" charset="-120"/>
              </a:rPr>
              <a:t>300+</a:t>
            </a:r>
            <a:endParaRPr lang="en-US" sz="2700" dirty="0"/>
          </a:p>
        </p:txBody>
      </p:sp>
      <p:sp>
        <p:nvSpPr>
          <p:cNvPr id="15" name="Text 13"/>
          <p:cNvSpPr txBox="1"/>
          <p:nvPr/>
        </p:nvSpPr>
        <p:spPr>
          <a:xfrm>
            <a:off x="6405372" y="263347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Store items tagged</a:t>
            </a:r>
            <a:endParaRPr lang="en-US" sz="1050" dirty="0"/>
          </a:p>
        </p:txBody>
      </p:sp>
      <p:sp>
        <p:nvSpPr>
          <p:cNvPr id="16" name="Text 14"/>
          <p:cNvSpPr txBox="1"/>
          <p:nvPr/>
        </p:nvSpPr>
        <p:spPr>
          <a:xfrm>
            <a:off x="6405372" y="329184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Inventory records</a:t>
            </a:r>
            <a:endParaRPr lang="en-US" sz="900" dirty="0"/>
          </a:p>
        </p:txBody>
      </p:sp>
      <p:sp>
        <p:nvSpPr>
          <p:cNvPr id="17" name="Shape 15"/>
          <p:cNvSpPr/>
          <p:nvPr/>
        </p:nvSpPr>
        <p:spPr>
          <a:xfrm>
            <a:off x="9050274" y="1938528"/>
            <a:ext cx="2571750" cy="1645920"/>
          </a:xfrm>
          <a:prstGeom prst="roundRect">
            <a:avLst>
              <a:gd name="adj" fmla="val 2778"/>
            </a:avLst>
          </a:prstGeom>
          <a:solidFill>
            <a:srgbClr val="FFFFFF"/>
          </a:solidFill>
          <a:ln w="9525">
            <a:solidFill>
              <a:srgbClr val="CFD8E3"/>
            </a:solidFill>
            <a:prstDash val="solid"/>
          </a:ln>
        </p:spPr>
      </p:sp>
      <p:sp>
        <p:nvSpPr>
          <p:cNvPr id="18" name="Text 16"/>
          <p:cNvSpPr txBox="1"/>
          <p:nvPr/>
        </p:nvSpPr>
        <p:spPr>
          <a:xfrm>
            <a:off x="9233154" y="2048256"/>
            <a:ext cx="2205990" cy="566928"/>
          </a:xfrm>
          <a:prstGeom prst="rect">
            <a:avLst/>
          </a:prstGeom>
          <a:noFill/>
          <a:ln/>
        </p:spPr>
        <p:txBody>
          <a:bodyPr wrap="square" lIns="0" tIns="0" rIns="0" bIns="0" rtlCol="0" anchor="ctr"/>
          <a:lstStyle/>
          <a:p>
            <a:pPr indent="0" marL="0">
              <a:buNone/>
            </a:pPr>
            <a:r>
              <a:rPr lang="en-US" sz="2700" b="1" dirty="0">
                <a:solidFill>
                  <a:srgbClr val="2F7D4B"/>
                </a:solidFill>
                <a:latin typeface="Cambria" pitchFamily="34" charset="0"/>
                <a:ea typeface="Cambria" pitchFamily="34" charset="-122"/>
                <a:cs typeface="Cambria" pitchFamily="34" charset="-120"/>
              </a:rPr>
              <a:t>30+</a:t>
            </a:r>
            <a:endParaRPr lang="en-US" sz="2700" dirty="0"/>
          </a:p>
        </p:txBody>
      </p:sp>
      <p:sp>
        <p:nvSpPr>
          <p:cNvPr id="19" name="Text 17"/>
          <p:cNvSpPr txBox="1"/>
          <p:nvPr/>
        </p:nvSpPr>
        <p:spPr>
          <a:xfrm>
            <a:off x="9233154" y="263347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RFQs raised</a:t>
            </a:r>
            <a:endParaRPr lang="en-US" sz="1050" dirty="0"/>
          </a:p>
        </p:txBody>
      </p:sp>
      <p:sp>
        <p:nvSpPr>
          <p:cNvPr id="20" name="Text 18"/>
          <p:cNvSpPr txBox="1"/>
          <p:nvPr/>
        </p:nvSpPr>
        <p:spPr>
          <a:xfrm>
            <a:off x="9233154" y="329184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Procurement records</a:t>
            </a:r>
            <a:endParaRPr lang="en-US" sz="900" dirty="0"/>
          </a:p>
        </p:txBody>
      </p:sp>
      <p:sp>
        <p:nvSpPr>
          <p:cNvPr id="21" name="Shape 19"/>
          <p:cNvSpPr/>
          <p:nvPr/>
        </p:nvSpPr>
        <p:spPr>
          <a:xfrm>
            <a:off x="566928" y="3858768"/>
            <a:ext cx="2571750" cy="1645920"/>
          </a:xfrm>
          <a:prstGeom prst="roundRect">
            <a:avLst>
              <a:gd name="adj" fmla="val 2778"/>
            </a:avLst>
          </a:prstGeom>
          <a:solidFill>
            <a:srgbClr val="FFFFFF"/>
          </a:solidFill>
          <a:ln w="9525">
            <a:solidFill>
              <a:srgbClr val="CFD8E3"/>
            </a:solidFill>
            <a:prstDash val="solid"/>
          </a:ln>
        </p:spPr>
      </p:sp>
      <p:sp>
        <p:nvSpPr>
          <p:cNvPr id="22" name="Text 20"/>
          <p:cNvSpPr txBox="1"/>
          <p:nvPr/>
        </p:nvSpPr>
        <p:spPr>
          <a:xfrm>
            <a:off x="749808" y="3968496"/>
            <a:ext cx="2205990" cy="566928"/>
          </a:xfrm>
          <a:prstGeom prst="rect">
            <a:avLst/>
          </a:prstGeom>
          <a:noFill/>
          <a:ln/>
        </p:spPr>
        <p:txBody>
          <a:bodyPr wrap="square" lIns="0" tIns="0" rIns="0" bIns="0" rtlCol="0" anchor="ctr"/>
          <a:lstStyle/>
          <a:p>
            <a:pPr indent="0" marL="0">
              <a:buNone/>
            </a:pPr>
            <a:r>
              <a:rPr lang="en-US" sz="2700" b="1" dirty="0">
                <a:solidFill>
                  <a:srgbClr val="1F4E79"/>
                </a:solidFill>
                <a:latin typeface="Cambria" pitchFamily="34" charset="0"/>
                <a:ea typeface="Cambria" pitchFamily="34" charset="-122"/>
                <a:cs typeface="Cambria" pitchFamily="34" charset="-120"/>
              </a:rPr>
              <a:t>10+</a:t>
            </a:r>
            <a:endParaRPr lang="en-US" sz="2700" dirty="0"/>
          </a:p>
        </p:txBody>
      </p:sp>
      <p:sp>
        <p:nvSpPr>
          <p:cNvPr id="23" name="Text 21"/>
          <p:cNvSpPr txBox="1"/>
          <p:nvPr/>
        </p:nvSpPr>
        <p:spPr>
          <a:xfrm>
            <a:off x="749808" y="455371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POs generated</a:t>
            </a:r>
            <a:endParaRPr lang="en-US" sz="1050" dirty="0"/>
          </a:p>
        </p:txBody>
      </p:sp>
      <p:sp>
        <p:nvSpPr>
          <p:cNvPr id="24" name="Text 22"/>
          <p:cNvSpPr txBox="1"/>
          <p:nvPr/>
        </p:nvSpPr>
        <p:spPr>
          <a:xfrm>
            <a:off x="749808" y="521208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Procurement records</a:t>
            </a:r>
            <a:endParaRPr lang="en-US" sz="900" dirty="0"/>
          </a:p>
        </p:txBody>
      </p:sp>
      <p:sp>
        <p:nvSpPr>
          <p:cNvPr id="25" name="Shape 23"/>
          <p:cNvSpPr/>
          <p:nvPr/>
        </p:nvSpPr>
        <p:spPr>
          <a:xfrm>
            <a:off x="3394710" y="3858768"/>
            <a:ext cx="2571750" cy="1645920"/>
          </a:xfrm>
          <a:prstGeom prst="roundRect">
            <a:avLst>
              <a:gd name="adj" fmla="val 2778"/>
            </a:avLst>
          </a:prstGeom>
          <a:solidFill>
            <a:srgbClr val="FFFFFF"/>
          </a:solidFill>
          <a:ln w="9525">
            <a:solidFill>
              <a:srgbClr val="CFD8E3"/>
            </a:solidFill>
            <a:prstDash val="solid"/>
          </a:ln>
        </p:spPr>
      </p:sp>
      <p:sp>
        <p:nvSpPr>
          <p:cNvPr id="26" name="Text 24"/>
          <p:cNvSpPr txBox="1"/>
          <p:nvPr/>
        </p:nvSpPr>
        <p:spPr>
          <a:xfrm>
            <a:off x="3577590" y="3968496"/>
            <a:ext cx="2205990" cy="566928"/>
          </a:xfrm>
          <a:prstGeom prst="rect">
            <a:avLst/>
          </a:prstGeom>
          <a:noFill/>
          <a:ln/>
        </p:spPr>
        <p:txBody>
          <a:bodyPr wrap="square" lIns="0" tIns="0" rIns="0" bIns="0" rtlCol="0" anchor="ctr"/>
          <a:lstStyle/>
          <a:p>
            <a:pPr indent="0" marL="0">
              <a:buNone/>
            </a:pPr>
            <a:r>
              <a:rPr lang="en-US" sz="2700" b="1" dirty="0">
                <a:solidFill>
                  <a:srgbClr val="147D7E"/>
                </a:solidFill>
                <a:latin typeface="Cambria" pitchFamily="34" charset="0"/>
                <a:ea typeface="Cambria" pitchFamily="34" charset="-122"/>
                <a:cs typeface="Cambria" pitchFamily="34" charset="-120"/>
              </a:rPr>
              <a:t>2</a:t>
            </a:r>
            <a:endParaRPr lang="en-US" sz="2700" dirty="0"/>
          </a:p>
        </p:txBody>
      </p:sp>
      <p:sp>
        <p:nvSpPr>
          <p:cNvPr id="27" name="Text 25"/>
          <p:cNvSpPr txBox="1"/>
          <p:nvPr/>
        </p:nvSpPr>
        <p:spPr>
          <a:xfrm>
            <a:off x="3577590" y="455371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Pipeline sections tested</a:t>
            </a:r>
            <a:endParaRPr lang="en-US" sz="1050" dirty="0"/>
          </a:p>
        </p:txBody>
      </p:sp>
      <p:sp>
        <p:nvSpPr>
          <p:cNvPr id="28" name="Text 26"/>
          <p:cNvSpPr txBox="1"/>
          <p:nvPr/>
        </p:nvSpPr>
        <p:spPr>
          <a:xfrm>
            <a:off x="3577590" y="521208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Integrity activity</a:t>
            </a:r>
            <a:endParaRPr lang="en-US" sz="900" dirty="0"/>
          </a:p>
        </p:txBody>
      </p:sp>
      <p:sp>
        <p:nvSpPr>
          <p:cNvPr id="29" name="Shape 27"/>
          <p:cNvSpPr/>
          <p:nvPr/>
        </p:nvSpPr>
        <p:spPr>
          <a:xfrm>
            <a:off x="6222492" y="3858768"/>
            <a:ext cx="2571750" cy="1645920"/>
          </a:xfrm>
          <a:prstGeom prst="roundRect">
            <a:avLst>
              <a:gd name="adj" fmla="val 2778"/>
            </a:avLst>
          </a:prstGeom>
          <a:solidFill>
            <a:srgbClr val="FFFFFF"/>
          </a:solidFill>
          <a:ln w="9525">
            <a:solidFill>
              <a:srgbClr val="CFD8E3"/>
            </a:solidFill>
            <a:prstDash val="solid"/>
          </a:ln>
        </p:spPr>
      </p:sp>
      <p:sp>
        <p:nvSpPr>
          <p:cNvPr id="30" name="Text 28"/>
          <p:cNvSpPr txBox="1"/>
          <p:nvPr/>
        </p:nvSpPr>
        <p:spPr>
          <a:xfrm>
            <a:off x="6405372" y="3968496"/>
            <a:ext cx="2205990" cy="566928"/>
          </a:xfrm>
          <a:prstGeom prst="rect">
            <a:avLst/>
          </a:prstGeom>
          <a:noFill/>
          <a:ln/>
        </p:spPr>
        <p:txBody>
          <a:bodyPr wrap="square" lIns="0" tIns="0" rIns="0" bIns="0" rtlCol="0" anchor="ctr"/>
          <a:lstStyle/>
          <a:p>
            <a:pPr indent="0" marL="0">
              <a:buNone/>
            </a:pPr>
            <a:r>
              <a:rPr lang="en-US" sz="2700" b="1" dirty="0">
                <a:solidFill>
                  <a:srgbClr val="C9942E"/>
                </a:solidFill>
                <a:latin typeface="Cambria" pitchFamily="34" charset="0"/>
                <a:ea typeface="Cambria" pitchFamily="34" charset="-122"/>
                <a:cs typeface="Cambria" pitchFamily="34" charset="-120"/>
              </a:rPr>
              <a:t>~5</a:t>
            </a:r>
            <a:endParaRPr lang="en-US" sz="2700" dirty="0"/>
          </a:p>
        </p:txBody>
      </p:sp>
      <p:sp>
        <p:nvSpPr>
          <p:cNvPr id="31" name="Text 29"/>
          <p:cNvSpPr txBox="1"/>
          <p:nvPr/>
        </p:nvSpPr>
        <p:spPr>
          <a:xfrm>
            <a:off x="6405372" y="455371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Pressure gauges replaced</a:t>
            </a:r>
            <a:endParaRPr lang="en-US" sz="1050" dirty="0"/>
          </a:p>
        </p:txBody>
      </p:sp>
      <p:sp>
        <p:nvSpPr>
          <p:cNvPr id="32" name="Text 30"/>
          <p:cNvSpPr txBox="1"/>
          <p:nvPr/>
        </p:nvSpPr>
        <p:spPr>
          <a:xfrm>
            <a:off x="6405372" y="521208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Maintenance records</a:t>
            </a:r>
            <a:endParaRPr lang="en-US" sz="900" dirty="0"/>
          </a:p>
        </p:txBody>
      </p:sp>
      <p:sp>
        <p:nvSpPr>
          <p:cNvPr id="33" name="Shape 31"/>
          <p:cNvSpPr/>
          <p:nvPr/>
        </p:nvSpPr>
        <p:spPr>
          <a:xfrm>
            <a:off x="9050274" y="3858768"/>
            <a:ext cx="2571750" cy="1645920"/>
          </a:xfrm>
          <a:prstGeom prst="roundRect">
            <a:avLst>
              <a:gd name="adj" fmla="val 2778"/>
            </a:avLst>
          </a:prstGeom>
          <a:solidFill>
            <a:srgbClr val="FFFFFF"/>
          </a:solidFill>
          <a:ln w="9525">
            <a:solidFill>
              <a:srgbClr val="CFD8E3"/>
            </a:solidFill>
            <a:prstDash val="solid"/>
          </a:ln>
        </p:spPr>
      </p:sp>
      <p:sp>
        <p:nvSpPr>
          <p:cNvPr id="34" name="Text 32"/>
          <p:cNvSpPr txBox="1"/>
          <p:nvPr/>
        </p:nvSpPr>
        <p:spPr>
          <a:xfrm>
            <a:off x="9233154" y="3968496"/>
            <a:ext cx="2205990" cy="566928"/>
          </a:xfrm>
          <a:prstGeom prst="rect">
            <a:avLst/>
          </a:prstGeom>
          <a:noFill/>
          <a:ln/>
        </p:spPr>
        <p:txBody>
          <a:bodyPr wrap="square" lIns="0" tIns="0" rIns="0" bIns="0" rtlCol="0" anchor="ctr"/>
          <a:lstStyle/>
          <a:p>
            <a:pPr indent="0" marL="0">
              <a:buNone/>
            </a:pPr>
            <a:r>
              <a:rPr lang="en-US" sz="2700" b="1" dirty="0">
                <a:solidFill>
                  <a:srgbClr val="2F7D4B"/>
                </a:solidFill>
                <a:latin typeface="Cambria" pitchFamily="34" charset="0"/>
                <a:ea typeface="Cambria" pitchFamily="34" charset="-122"/>
                <a:cs typeface="Cambria" pitchFamily="34" charset="-120"/>
              </a:rPr>
              <a:t>1</a:t>
            </a:r>
            <a:endParaRPr lang="en-US" sz="2700" dirty="0"/>
          </a:p>
        </p:txBody>
      </p:sp>
      <p:sp>
        <p:nvSpPr>
          <p:cNvPr id="35" name="Text 33"/>
          <p:cNvSpPr txBox="1"/>
          <p:nvPr/>
        </p:nvSpPr>
        <p:spPr>
          <a:xfrm>
            <a:off x="9233154" y="4553712"/>
            <a:ext cx="2205990" cy="310896"/>
          </a:xfrm>
          <a:prstGeom prst="rect">
            <a:avLst/>
          </a:prstGeom>
          <a:noFill/>
          <a:ln/>
        </p:spPr>
        <p:txBody>
          <a:bodyPr wrap="square" lIns="0" tIns="0" rIns="0" bIns="0" rtlCol="0" anchor="t"/>
          <a:lstStyle/>
          <a:p>
            <a:pPr indent="0" marL="0">
              <a:lnSpc>
                <a:spcPts val="1250"/>
              </a:lnSpc>
              <a:buNone/>
            </a:pPr>
            <a:r>
              <a:rPr lang="en-US" sz="1050" b="1" dirty="0">
                <a:solidFill>
                  <a:srgbClr val="0B1F33"/>
                </a:solidFill>
                <a:latin typeface="Calibri" pitchFamily="34" charset="0"/>
                <a:ea typeface="Calibri" pitchFamily="34" charset="-122"/>
                <a:cs typeface="Calibri" pitchFamily="34" charset="-120"/>
              </a:rPr>
              <a:t>Deadman valve replaced</a:t>
            </a:r>
            <a:endParaRPr lang="en-US" sz="1050" dirty="0"/>
          </a:p>
        </p:txBody>
      </p:sp>
      <p:sp>
        <p:nvSpPr>
          <p:cNvPr id="36" name="Text 34"/>
          <p:cNvSpPr txBox="1"/>
          <p:nvPr/>
        </p:nvSpPr>
        <p:spPr>
          <a:xfrm>
            <a:off x="9233154" y="5212080"/>
            <a:ext cx="2205990" cy="219456"/>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Maintenance records</a:t>
            </a:r>
            <a:endParaRPr lang="en-US" sz="900" dirty="0"/>
          </a:p>
        </p:txBody>
      </p:sp>
      <p:sp>
        <p:nvSpPr>
          <p:cNvPr id="37" name="Shape 35"/>
          <p:cNvSpPr/>
          <p:nvPr/>
        </p:nvSpPr>
        <p:spPr>
          <a:xfrm>
            <a:off x="566928" y="5943600"/>
            <a:ext cx="11055096" cy="475488"/>
          </a:xfrm>
          <a:prstGeom prst="roundRect">
            <a:avLst>
              <a:gd name="adj" fmla="val 11538"/>
            </a:avLst>
          </a:prstGeom>
          <a:solidFill>
            <a:srgbClr val="F1F4F8"/>
          </a:solidFill>
          <a:ln w="9525">
            <a:solidFill>
              <a:srgbClr val="CFD8E3"/>
            </a:solidFill>
            <a:prstDash val="solid"/>
          </a:ln>
        </p:spPr>
      </p:sp>
      <p:sp>
        <p:nvSpPr>
          <p:cNvPr id="38" name="Text 36"/>
          <p:cNvSpPr txBox="1"/>
          <p:nvPr/>
        </p:nvSpPr>
        <p:spPr>
          <a:xfrm>
            <a:off x="713232" y="5943600"/>
            <a:ext cx="10762488" cy="475488"/>
          </a:xfrm>
          <a:prstGeom prst="rect">
            <a:avLst/>
          </a:prstGeom>
          <a:noFill/>
          <a:ln/>
        </p:spPr>
        <p:txBody>
          <a:bodyPr wrap="square" lIns="0" tIns="0" rIns="0" bIns="0" rtlCol="0" anchor="ctr"/>
          <a:lstStyle/>
          <a:p>
            <a:pPr indent="0" marL="0">
              <a:lnSpc>
                <a:spcPts val="1200"/>
              </a:lnSpc>
              <a:buNone/>
            </a:pPr>
            <a:r>
              <a:rPr lang="en-US" sz="950" b="1" dirty="0">
                <a:solidFill>
                  <a:srgbClr val="0B1F33"/>
                </a:solidFill>
                <a:latin typeface="Calibri" pitchFamily="34" charset="0"/>
                <a:ea typeface="Calibri" pitchFamily="34" charset="-122"/>
                <a:cs typeface="Calibri" pitchFamily="34" charset="-120"/>
              </a:rPr>
              <a:t>Sources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Ultimo · monthly inventory reports · procurement records · PTWs · M&amp;R shared folder · maintenance and project records</a:t>
            </a:r>
            <a:endParaRPr lang="en-US" sz="950" dirty="0"/>
          </a:p>
        </p:txBody>
      </p:sp>
      <p:sp>
        <p:nvSpPr>
          <p:cNvPr id="40" name="Text 37"/>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41" name="Text 38"/>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CHALLENGES</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Three things went wrong, and what I changed because of them.</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The recurring difficulty has been competing maintenance and administrative priorities landing at once.</a:t>
            </a:r>
            <a:endParaRPr lang="en-US" sz="1200" dirty="0"/>
          </a:p>
        </p:txBody>
      </p:sp>
      <p:sp>
        <p:nvSpPr>
          <p:cNvPr id="5" name="Text 3"/>
          <p:cNvSpPr txBox="1"/>
          <p:nvPr/>
        </p:nvSpPr>
        <p:spPr>
          <a:xfrm>
            <a:off x="822960" y="1645920"/>
            <a:ext cx="1783080" cy="237744"/>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AREA</a:t>
            </a:r>
            <a:endParaRPr lang="en-US" sz="950" dirty="0"/>
          </a:p>
        </p:txBody>
      </p:sp>
      <p:sp>
        <p:nvSpPr>
          <p:cNvPr id="6" name="Text 4"/>
          <p:cNvSpPr txBox="1"/>
          <p:nvPr/>
        </p:nvSpPr>
        <p:spPr>
          <a:xfrm>
            <a:off x="2898648" y="1645920"/>
            <a:ext cx="2834640" cy="237744"/>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THE CHALLENGE</a:t>
            </a:r>
            <a:endParaRPr lang="en-US" sz="950" dirty="0"/>
          </a:p>
        </p:txBody>
      </p:sp>
      <p:sp>
        <p:nvSpPr>
          <p:cNvPr id="7" name="Text 5"/>
          <p:cNvSpPr txBox="1"/>
          <p:nvPr/>
        </p:nvSpPr>
        <p:spPr>
          <a:xfrm>
            <a:off x="6099048" y="1645920"/>
            <a:ext cx="3200400" cy="237744"/>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ACTION TAKEN</a:t>
            </a:r>
            <a:endParaRPr lang="en-US" sz="950" dirty="0"/>
          </a:p>
        </p:txBody>
      </p:sp>
      <p:sp>
        <p:nvSpPr>
          <p:cNvPr id="8" name="Text 6"/>
          <p:cNvSpPr txBox="1"/>
          <p:nvPr/>
        </p:nvSpPr>
        <p:spPr>
          <a:xfrm>
            <a:off x="9665208" y="1645920"/>
            <a:ext cx="1773936" cy="237744"/>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OUTCOME</a:t>
            </a:r>
            <a:endParaRPr lang="en-US" sz="950" dirty="0"/>
          </a:p>
        </p:txBody>
      </p:sp>
      <p:sp>
        <p:nvSpPr>
          <p:cNvPr id="9" name="Shape 7"/>
          <p:cNvSpPr/>
          <p:nvPr/>
        </p:nvSpPr>
        <p:spPr>
          <a:xfrm>
            <a:off x="566928" y="1956816"/>
            <a:ext cx="11055096" cy="1170432"/>
          </a:xfrm>
          <a:prstGeom prst="roundRect">
            <a:avLst>
              <a:gd name="adj" fmla="val 3906"/>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0" name="Shape 8"/>
          <p:cNvSpPr/>
          <p:nvPr/>
        </p:nvSpPr>
        <p:spPr>
          <a:xfrm>
            <a:off x="822960" y="2249424"/>
            <a:ext cx="128016" cy="128016"/>
          </a:xfrm>
          <a:prstGeom prst="ellipse">
            <a:avLst/>
          </a:prstGeom>
          <a:solidFill>
            <a:srgbClr val="147D7E"/>
          </a:solidFill>
          <a:ln/>
        </p:spPr>
      </p:sp>
      <p:sp>
        <p:nvSpPr>
          <p:cNvPr id="11" name="Text 9"/>
          <p:cNvSpPr txBox="1"/>
          <p:nvPr/>
        </p:nvSpPr>
        <p:spPr>
          <a:xfrm>
            <a:off x="1042416" y="2103120"/>
            <a:ext cx="1453896" cy="877824"/>
          </a:xfrm>
          <a:prstGeom prst="rect">
            <a:avLst/>
          </a:prstGeom>
          <a:noFill/>
          <a:ln/>
        </p:spPr>
        <p:txBody>
          <a:bodyPr wrap="square" lIns="0" tIns="0" rIns="0" bIns="0" rtlCol="0" anchor="t"/>
          <a:lstStyle/>
          <a:p>
            <a:pPr indent="0" marL="0">
              <a:lnSpc>
                <a:spcPts val="1800"/>
              </a:lnSpc>
              <a:buNone/>
            </a:pPr>
            <a:r>
              <a:rPr lang="en-US" sz="1400" b="1" dirty="0">
                <a:solidFill>
                  <a:srgbClr val="0B1F33"/>
                </a:solidFill>
                <a:latin typeface="Cambria" pitchFamily="34" charset="0"/>
                <a:ea typeface="Cambria" pitchFamily="34" charset="-122"/>
                <a:cs typeface="Cambria" pitchFamily="34" charset="-120"/>
              </a:rPr>
              <a:t>Work-order tracking</a:t>
            </a:r>
            <a:endParaRPr lang="en-US" sz="1400" dirty="0"/>
          </a:p>
        </p:txBody>
      </p:sp>
      <p:sp>
        <p:nvSpPr>
          <p:cNvPr id="12" name="Text 10"/>
          <p:cNvSpPr txBox="1"/>
          <p:nvPr/>
        </p:nvSpPr>
        <p:spPr>
          <a:xfrm>
            <a:off x="2898648" y="2103120"/>
            <a:ext cx="2834640" cy="8778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Pending work orders were sometimes overlooked, which caused overdue closeout.</a:t>
            </a:r>
            <a:endParaRPr lang="en-US" sz="1150" dirty="0"/>
          </a:p>
        </p:txBody>
      </p:sp>
      <p:sp>
        <p:nvSpPr>
          <p:cNvPr id="13" name="Text 11"/>
          <p:cNvSpPr txBox="1"/>
          <p:nvPr/>
        </p:nvSpPr>
        <p:spPr>
          <a:xfrm>
            <a:off x="6099048" y="2103120"/>
            <a:ext cx="3200400" cy="8778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Use the original required completion date as an earlier tracking trigger, and follow up progressively rather than at the deadline.</a:t>
            </a:r>
            <a:endParaRPr lang="en-US" sz="1150" dirty="0"/>
          </a:p>
        </p:txBody>
      </p:sp>
      <p:sp>
        <p:nvSpPr>
          <p:cNvPr id="14" name="Text 12"/>
          <p:cNvSpPr txBox="1"/>
          <p:nvPr/>
        </p:nvSpPr>
        <p:spPr>
          <a:xfrm>
            <a:off x="9665208" y="2103120"/>
            <a:ext cx="1773936" cy="877824"/>
          </a:xfrm>
          <a:prstGeom prst="rect">
            <a:avLst/>
          </a:prstGeom>
          <a:noFill/>
          <a:ln/>
        </p:spPr>
        <p:txBody>
          <a:bodyPr wrap="square" lIns="0" tIns="0" rIns="0" bIns="0" rtlCol="0" anchor="ctr"/>
          <a:lstStyle/>
          <a:p>
            <a:pPr indent="0" marL="0">
              <a:lnSpc>
                <a:spcPts val="1600"/>
              </a:lnSpc>
              <a:buNone/>
            </a:pPr>
            <a:r>
              <a:rPr lang="en-US" sz="1200" b="1" dirty="0">
                <a:solidFill>
                  <a:srgbClr val="147D7E"/>
                </a:solidFill>
                <a:latin typeface="Calibri" pitchFamily="34" charset="0"/>
                <a:ea typeface="Calibri" pitchFamily="34" charset="-122"/>
                <a:cs typeface="Calibri" pitchFamily="34" charset="-120"/>
              </a:rPr>
              <a:t>More proactive work-order control</a:t>
            </a:r>
            <a:endParaRPr lang="en-US" sz="1200" dirty="0"/>
          </a:p>
        </p:txBody>
      </p:sp>
      <p:sp>
        <p:nvSpPr>
          <p:cNvPr id="15" name="Shape 13"/>
          <p:cNvSpPr/>
          <p:nvPr/>
        </p:nvSpPr>
        <p:spPr>
          <a:xfrm>
            <a:off x="566928" y="3273552"/>
            <a:ext cx="11055096" cy="1170432"/>
          </a:xfrm>
          <a:prstGeom prst="roundRect">
            <a:avLst>
              <a:gd name="adj" fmla="val 3906"/>
            </a:avLst>
          </a:prstGeom>
          <a:solidFill>
            <a:srgbClr val="F1F4F8"/>
          </a:solidFill>
          <a:ln w="9525">
            <a:solidFill>
              <a:srgbClr val="CFD8E3"/>
            </a:solidFill>
            <a:prstDash val="solid"/>
          </a:ln>
        </p:spPr>
      </p:sp>
      <p:sp>
        <p:nvSpPr>
          <p:cNvPr id="16" name="Shape 14"/>
          <p:cNvSpPr/>
          <p:nvPr/>
        </p:nvSpPr>
        <p:spPr>
          <a:xfrm>
            <a:off x="822960" y="3566160"/>
            <a:ext cx="128016" cy="128016"/>
          </a:xfrm>
          <a:prstGeom prst="ellipse">
            <a:avLst/>
          </a:prstGeom>
          <a:solidFill>
            <a:srgbClr val="1F4E79"/>
          </a:solidFill>
          <a:ln/>
        </p:spPr>
      </p:sp>
      <p:sp>
        <p:nvSpPr>
          <p:cNvPr id="17" name="Text 15"/>
          <p:cNvSpPr txBox="1"/>
          <p:nvPr/>
        </p:nvSpPr>
        <p:spPr>
          <a:xfrm>
            <a:off x="1042416" y="3419856"/>
            <a:ext cx="1453896" cy="877824"/>
          </a:xfrm>
          <a:prstGeom prst="rect">
            <a:avLst/>
          </a:prstGeom>
          <a:noFill/>
          <a:ln/>
        </p:spPr>
        <p:txBody>
          <a:bodyPr wrap="square" lIns="0" tIns="0" rIns="0" bIns="0" rtlCol="0" anchor="t"/>
          <a:lstStyle/>
          <a:p>
            <a:pPr indent="0" marL="0">
              <a:lnSpc>
                <a:spcPts val="1800"/>
              </a:lnSpc>
              <a:buNone/>
            </a:pPr>
            <a:r>
              <a:rPr lang="en-US" sz="1400" b="1" dirty="0">
                <a:solidFill>
                  <a:srgbClr val="0B1F33"/>
                </a:solidFill>
                <a:latin typeface="Cambria" pitchFamily="34" charset="0"/>
                <a:ea typeface="Cambria" pitchFamily="34" charset="-122"/>
                <a:cs typeface="Cambria" pitchFamily="34" charset="-120"/>
              </a:rPr>
              <a:t>Workload and time management</a:t>
            </a:r>
            <a:endParaRPr lang="en-US" sz="1400" dirty="0"/>
          </a:p>
        </p:txBody>
      </p:sp>
      <p:sp>
        <p:nvSpPr>
          <p:cNvPr id="18" name="Text 16"/>
          <p:cNvSpPr txBox="1"/>
          <p:nvPr/>
        </p:nvSpPr>
        <p:spPr>
          <a:xfrm>
            <a:off x="2898648" y="3419856"/>
            <a:ext cx="2834640" cy="8778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Maintenance, Ultimo, inventory, documentation and procurement can all converge at once.</a:t>
            </a:r>
            <a:endParaRPr lang="en-US" sz="1150" dirty="0"/>
          </a:p>
        </p:txBody>
      </p:sp>
      <p:sp>
        <p:nvSpPr>
          <p:cNvPr id="19" name="Text 17"/>
          <p:cNvSpPr txBox="1"/>
          <p:nvPr/>
        </p:nvSpPr>
        <p:spPr>
          <a:xfrm>
            <a:off x="6099048" y="3419856"/>
            <a:ext cx="3200400" cy="8778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Break work into smaller tasks, prioritise by urgency and impact, and start recurring deliverables earlier in the cycle.</a:t>
            </a:r>
            <a:endParaRPr lang="en-US" sz="1150" dirty="0"/>
          </a:p>
        </p:txBody>
      </p:sp>
      <p:sp>
        <p:nvSpPr>
          <p:cNvPr id="20" name="Text 18"/>
          <p:cNvSpPr txBox="1"/>
          <p:nvPr/>
        </p:nvSpPr>
        <p:spPr>
          <a:xfrm>
            <a:off x="9665208" y="3419856"/>
            <a:ext cx="1773936" cy="877824"/>
          </a:xfrm>
          <a:prstGeom prst="rect">
            <a:avLst/>
          </a:prstGeom>
          <a:noFill/>
          <a:ln/>
        </p:spPr>
        <p:txBody>
          <a:bodyPr wrap="square" lIns="0" tIns="0" rIns="0" bIns="0" rtlCol="0" anchor="ctr"/>
          <a:lstStyle/>
          <a:p>
            <a:pPr indent="0" marL="0">
              <a:lnSpc>
                <a:spcPts val="1600"/>
              </a:lnSpc>
              <a:buNone/>
            </a:pPr>
            <a:r>
              <a:rPr lang="en-US" sz="1200" b="1" dirty="0">
                <a:solidFill>
                  <a:srgbClr val="147D7E"/>
                </a:solidFill>
                <a:latin typeface="Calibri" pitchFamily="34" charset="0"/>
                <a:ea typeface="Calibri" pitchFamily="34" charset="-122"/>
                <a:cs typeface="Calibri" pitchFamily="34" charset="-120"/>
              </a:rPr>
              <a:t>Reduced task accumulation</a:t>
            </a:r>
            <a:endParaRPr lang="en-US" sz="1200" dirty="0"/>
          </a:p>
        </p:txBody>
      </p:sp>
      <p:sp>
        <p:nvSpPr>
          <p:cNvPr id="21" name="Shape 19"/>
          <p:cNvSpPr/>
          <p:nvPr/>
        </p:nvSpPr>
        <p:spPr>
          <a:xfrm>
            <a:off x="566928" y="4590288"/>
            <a:ext cx="11055096" cy="1170432"/>
          </a:xfrm>
          <a:prstGeom prst="roundRect">
            <a:avLst>
              <a:gd name="adj" fmla="val 3906"/>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22" name="Shape 20"/>
          <p:cNvSpPr/>
          <p:nvPr/>
        </p:nvSpPr>
        <p:spPr>
          <a:xfrm>
            <a:off x="822960" y="4882896"/>
            <a:ext cx="128016" cy="128016"/>
          </a:xfrm>
          <a:prstGeom prst="ellipse">
            <a:avLst/>
          </a:prstGeom>
          <a:solidFill>
            <a:srgbClr val="C9942E"/>
          </a:solidFill>
          <a:ln/>
        </p:spPr>
      </p:sp>
      <p:sp>
        <p:nvSpPr>
          <p:cNvPr id="23" name="Text 21"/>
          <p:cNvSpPr txBox="1"/>
          <p:nvPr/>
        </p:nvSpPr>
        <p:spPr>
          <a:xfrm>
            <a:off x="1042416" y="4736592"/>
            <a:ext cx="1453896" cy="877824"/>
          </a:xfrm>
          <a:prstGeom prst="rect">
            <a:avLst/>
          </a:prstGeom>
          <a:noFill/>
          <a:ln/>
        </p:spPr>
        <p:txBody>
          <a:bodyPr wrap="square" lIns="0" tIns="0" rIns="0" bIns="0" rtlCol="0" anchor="t"/>
          <a:lstStyle/>
          <a:p>
            <a:pPr indent="0" marL="0">
              <a:lnSpc>
                <a:spcPts val="1800"/>
              </a:lnSpc>
              <a:buNone/>
            </a:pPr>
            <a:r>
              <a:rPr lang="en-US" sz="1400" b="1" dirty="0">
                <a:solidFill>
                  <a:srgbClr val="0B1F33"/>
                </a:solidFill>
                <a:latin typeface="Cambria" pitchFamily="34" charset="0"/>
                <a:ea typeface="Cambria" pitchFamily="34" charset="-122"/>
                <a:cs typeface="Cambria" pitchFamily="34" charset="-120"/>
              </a:rPr>
              <a:t>Record keeping</a:t>
            </a:r>
            <a:endParaRPr lang="en-US" sz="1400" dirty="0"/>
          </a:p>
        </p:txBody>
      </p:sp>
      <p:sp>
        <p:nvSpPr>
          <p:cNvPr id="24" name="Text 22"/>
          <p:cNvSpPr txBox="1"/>
          <p:nvPr/>
        </p:nvSpPr>
        <p:spPr>
          <a:xfrm>
            <a:off x="2898648" y="4736592"/>
            <a:ext cx="2834640" cy="8778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Documentation gets deferred while higher-priority work is being handled.</a:t>
            </a:r>
            <a:endParaRPr lang="en-US" sz="1150" dirty="0"/>
          </a:p>
        </p:txBody>
      </p:sp>
      <p:sp>
        <p:nvSpPr>
          <p:cNvPr id="25" name="Text 23"/>
          <p:cNvSpPr txBox="1"/>
          <p:nvPr/>
        </p:nvSpPr>
        <p:spPr>
          <a:xfrm>
            <a:off x="6099048" y="4736592"/>
            <a:ext cx="3200400" cy="8778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Upload records progressively as they are produced and develop a more structured filing routine.</a:t>
            </a:r>
            <a:endParaRPr lang="en-US" sz="1150" dirty="0"/>
          </a:p>
        </p:txBody>
      </p:sp>
      <p:sp>
        <p:nvSpPr>
          <p:cNvPr id="26" name="Text 24"/>
          <p:cNvSpPr txBox="1"/>
          <p:nvPr/>
        </p:nvSpPr>
        <p:spPr>
          <a:xfrm>
            <a:off x="9665208" y="4736592"/>
            <a:ext cx="1773936" cy="877824"/>
          </a:xfrm>
          <a:prstGeom prst="rect">
            <a:avLst/>
          </a:prstGeom>
          <a:noFill/>
          <a:ln/>
        </p:spPr>
        <p:txBody>
          <a:bodyPr wrap="square" lIns="0" tIns="0" rIns="0" bIns="0" rtlCol="0" anchor="ctr"/>
          <a:lstStyle/>
          <a:p>
            <a:pPr indent="0" marL="0">
              <a:lnSpc>
                <a:spcPts val="1600"/>
              </a:lnSpc>
              <a:buNone/>
            </a:pPr>
            <a:r>
              <a:rPr lang="en-US" sz="1200" b="1" dirty="0">
                <a:solidFill>
                  <a:srgbClr val="147D7E"/>
                </a:solidFill>
                <a:latin typeface="Calibri" pitchFamily="34" charset="0"/>
                <a:ea typeface="Calibri" pitchFamily="34" charset="-122"/>
                <a:cs typeface="Calibri" pitchFamily="34" charset="-120"/>
              </a:rPr>
              <a:t>Improved traceability and visibility</a:t>
            </a:r>
            <a:endParaRPr lang="en-US" sz="1200" dirty="0"/>
          </a:p>
        </p:txBody>
      </p:sp>
      <p:sp>
        <p:nvSpPr>
          <p:cNvPr id="27" name="Shape 25"/>
          <p:cNvSpPr/>
          <p:nvPr/>
        </p:nvSpPr>
        <p:spPr>
          <a:xfrm>
            <a:off x="566928" y="5943600"/>
            <a:ext cx="11055096" cy="475488"/>
          </a:xfrm>
          <a:prstGeom prst="roundRect">
            <a:avLst>
              <a:gd name="adj" fmla="val 11538"/>
            </a:avLst>
          </a:prstGeom>
          <a:solidFill>
            <a:srgbClr val="0B1F33"/>
          </a:solidFill>
          <a:ln/>
        </p:spPr>
      </p:sp>
      <p:sp>
        <p:nvSpPr>
          <p:cNvPr id="28" name="Text 26"/>
          <p:cNvSpPr txBox="1"/>
          <p:nvPr/>
        </p:nvSpPr>
        <p:spPr>
          <a:xfrm>
            <a:off x="768096" y="5943600"/>
            <a:ext cx="1065276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Key lesson: consistent task capture and early follow-up matter as much as technical execution.</a:t>
            </a:r>
            <a:endParaRPr lang="en-US" sz="1150" dirty="0"/>
          </a:p>
        </p:txBody>
      </p:sp>
      <p:sp>
        <p:nvSpPr>
          <p:cNvPr id="30" name="Text 27"/>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31" name="Text 28"/>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COMPETENCY MOVEMENT</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Where I started, and where I am now.</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Six areas, assessed against what I could actually do unsupervised on day one.</a:t>
            </a:r>
            <a:endParaRPr lang="en-US" sz="1200" dirty="0"/>
          </a:p>
        </p:txBody>
      </p:sp>
      <p:sp>
        <p:nvSpPr>
          <p:cNvPr id="5" name="Text 3"/>
          <p:cNvSpPr txBox="1"/>
          <p:nvPr/>
        </p:nvSpPr>
        <p:spPr>
          <a:xfrm>
            <a:off x="822960" y="1645920"/>
            <a:ext cx="2011680" cy="237744"/>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AREA</a:t>
            </a:r>
            <a:endParaRPr lang="en-US" sz="950" dirty="0"/>
          </a:p>
        </p:txBody>
      </p:sp>
      <p:sp>
        <p:nvSpPr>
          <p:cNvPr id="6" name="Text 4"/>
          <p:cNvSpPr txBox="1"/>
          <p:nvPr/>
        </p:nvSpPr>
        <p:spPr>
          <a:xfrm>
            <a:off x="3127248" y="1645920"/>
            <a:ext cx="2560320" cy="237744"/>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WHEN I JOINED</a:t>
            </a:r>
            <a:endParaRPr lang="en-US" sz="950" dirty="0"/>
          </a:p>
        </p:txBody>
      </p:sp>
      <p:sp>
        <p:nvSpPr>
          <p:cNvPr id="7" name="Text 5"/>
          <p:cNvSpPr txBox="1"/>
          <p:nvPr/>
        </p:nvSpPr>
        <p:spPr>
          <a:xfrm>
            <a:off x="6053328" y="1645920"/>
            <a:ext cx="5385816" cy="237744"/>
          </a:xfrm>
          <a:prstGeom prst="rect">
            <a:avLst/>
          </a:prstGeom>
          <a:noFill/>
          <a:ln/>
        </p:spPr>
        <p:txBody>
          <a:bodyPr wrap="square" lIns="0" tIns="0" rIns="0" bIns="0" rtlCol="0" anchor="ctr"/>
          <a:lstStyle/>
          <a:p>
            <a:pPr indent="0" marL="0">
              <a:buNone/>
            </a:pPr>
            <a:r>
              <a:rPr lang="en-US" sz="950" b="1" spc="120" kern="0" dirty="0">
                <a:solidFill>
                  <a:srgbClr val="56677A"/>
                </a:solidFill>
                <a:latin typeface="Calibri" pitchFamily="34" charset="0"/>
                <a:ea typeface="Calibri" pitchFamily="34" charset="-122"/>
                <a:cs typeface="Calibri" pitchFamily="34" charset="-120"/>
              </a:rPr>
              <a:t>CURRENT CAPABILITY</a:t>
            </a:r>
            <a:endParaRPr lang="en-US" sz="950" dirty="0"/>
          </a:p>
        </p:txBody>
      </p:sp>
      <p:sp>
        <p:nvSpPr>
          <p:cNvPr id="8" name="Shape 6"/>
          <p:cNvSpPr/>
          <p:nvPr/>
        </p:nvSpPr>
        <p:spPr>
          <a:xfrm>
            <a:off x="566928" y="1938528"/>
            <a:ext cx="11055096" cy="640080"/>
          </a:xfrm>
          <a:prstGeom prst="roundRect">
            <a:avLst>
              <a:gd name="adj" fmla="val 5714"/>
            </a:avLst>
          </a:prstGeom>
          <a:solidFill>
            <a:srgbClr val="F1F4F8"/>
          </a:solidFill>
          <a:ln/>
        </p:spPr>
      </p:sp>
      <p:sp>
        <p:nvSpPr>
          <p:cNvPr id="9" name="Shape 7"/>
          <p:cNvSpPr/>
          <p:nvPr/>
        </p:nvSpPr>
        <p:spPr>
          <a:xfrm>
            <a:off x="822960" y="2167128"/>
            <a:ext cx="118872" cy="118872"/>
          </a:xfrm>
          <a:prstGeom prst="ellipse">
            <a:avLst/>
          </a:prstGeom>
          <a:solidFill>
            <a:srgbClr val="147D7E"/>
          </a:solidFill>
          <a:ln/>
        </p:spPr>
      </p:sp>
      <p:sp>
        <p:nvSpPr>
          <p:cNvPr id="10" name="Text 8"/>
          <p:cNvSpPr txBox="1"/>
          <p:nvPr/>
        </p:nvSpPr>
        <p:spPr>
          <a:xfrm>
            <a:off x="1042416" y="1938528"/>
            <a:ext cx="1792224" cy="64008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Technical knowledge</a:t>
            </a:r>
            <a:endParaRPr lang="en-US" sz="1150" dirty="0"/>
          </a:p>
        </p:txBody>
      </p:sp>
      <p:sp>
        <p:nvSpPr>
          <p:cNvPr id="11" name="Text 9"/>
          <p:cNvSpPr txBox="1"/>
          <p:nvPr/>
        </p:nvSpPr>
        <p:spPr>
          <a:xfrm>
            <a:off x="3127248" y="1938528"/>
            <a:ext cx="2560320" cy="640080"/>
          </a:xfrm>
          <a:prstGeom prst="rect">
            <a:avLst/>
          </a:prstGeom>
          <a:noFill/>
          <a:ln/>
        </p:spPr>
        <p:txBody>
          <a:bodyPr wrap="square" lIns="0" tIns="0" rIns="0" bIns="0" rtlCol="0" anchor="ctr"/>
          <a:lstStyle/>
          <a:p>
            <a:pPr indent="0" marL="0">
              <a:lnSpc>
                <a:spcPts val="1300"/>
              </a:lnSpc>
              <a:buNone/>
            </a:pPr>
            <a:r>
              <a:rPr lang="en-US" sz="1100" i="1" dirty="0">
                <a:solidFill>
                  <a:srgbClr val="8494A6"/>
                </a:solidFill>
                <a:latin typeface="Calibri" pitchFamily="34" charset="0"/>
                <a:ea typeface="Calibri" pitchFamily="34" charset="-122"/>
                <a:cs typeface="Calibri" pitchFamily="34" charset="-120"/>
              </a:rPr>
              <a:t>Limited terminal familiarity</a:t>
            </a:r>
            <a:endParaRPr lang="en-US" sz="1100" dirty="0"/>
          </a:p>
        </p:txBody>
      </p:sp>
      <p:sp>
        <p:nvSpPr>
          <p:cNvPr id="12" name="Text 10"/>
          <p:cNvSpPr txBox="1"/>
          <p:nvPr/>
        </p:nvSpPr>
        <p:spPr>
          <a:xfrm>
            <a:off x="5650992" y="1938528"/>
            <a:ext cx="219456" cy="640080"/>
          </a:xfrm>
          <a:prstGeom prst="rect">
            <a:avLst/>
          </a:prstGeom>
          <a:noFill/>
          <a:ln/>
        </p:spPr>
        <p:txBody>
          <a:bodyPr wrap="square" lIns="0" tIns="0" rIns="0" bIns="0" rtlCol="0" anchor="ctr"/>
          <a:lstStyle/>
          <a:p>
            <a:pPr algn="ctr" indent="0" marL="0">
              <a:buNone/>
            </a:pPr>
            <a:r>
              <a:rPr lang="en-US" sz="1100" dirty="0">
                <a:solidFill>
                  <a:srgbClr val="CFD8E3"/>
                </a:solidFill>
                <a:latin typeface="Calibri" pitchFamily="34" charset="0"/>
                <a:ea typeface="Calibri" pitchFamily="34" charset="-122"/>
                <a:cs typeface="Calibri" pitchFamily="34" charset="-120"/>
              </a:rPr>
              <a:t>→</a:t>
            </a:r>
            <a:endParaRPr lang="en-US" sz="1100" dirty="0"/>
          </a:p>
        </p:txBody>
      </p:sp>
      <p:sp>
        <p:nvSpPr>
          <p:cNvPr id="13" name="Text 11"/>
          <p:cNvSpPr txBox="1"/>
          <p:nvPr/>
        </p:nvSpPr>
        <p:spPr>
          <a:xfrm>
            <a:off x="6053328" y="1938528"/>
            <a:ext cx="5385816" cy="640080"/>
          </a:xfrm>
          <a:prstGeom prst="rect">
            <a:avLst/>
          </a:prstGeom>
          <a:noFill/>
          <a:ln/>
        </p:spPr>
        <p:txBody>
          <a:bodyPr wrap="square" lIns="0" tIns="0" rIns="0" bIns="0" rtlCol="0" anchor="ctr"/>
          <a:lstStyle/>
          <a:p>
            <a:pPr indent="0" marL="0">
              <a:lnSpc>
                <a:spcPts val="1300"/>
              </a:lnSpc>
              <a:buNone/>
            </a:pPr>
            <a:r>
              <a:rPr lang="en-US" sz="1100" dirty="0">
                <a:solidFill>
                  <a:srgbClr val="1F2933"/>
                </a:solidFill>
                <a:latin typeface="Calibri" pitchFamily="34" charset="0"/>
                <a:ea typeface="Calibri" pitchFamily="34" charset="-122"/>
                <a:cs typeface="Calibri" pitchFamily="34" charset="-120"/>
              </a:rPr>
              <a:t>Practical understanding of pumps, compressors, generators, valves, relief systems and other terminal equipment</a:t>
            </a:r>
            <a:endParaRPr lang="en-US" sz="1100" dirty="0"/>
          </a:p>
        </p:txBody>
      </p:sp>
      <p:sp>
        <p:nvSpPr>
          <p:cNvPr id="14" name="Shape 12"/>
          <p:cNvSpPr/>
          <p:nvPr/>
        </p:nvSpPr>
        <p:spPr>
          <a:xfrm>
            <a:off x="822960" y="2807208"/>
            <a:ext cx="118872" cy="118872"/>
          </a:xfrm>
          <a:prstGeom prst="ellipse">
            <a:avLst/>
          </a:prstGeom>
          <a:solidFill>
            <a:srgbClr val="1F4E79"/>
          </a:solidFill>
          <a:ln/>
        </p:spPr>
      </p:sp>
      <p:sp>
        <p:nvSpPr>
          <p:cNvPr id="15" name="Text 13"/>
          <p:cNvSpPr txBox="1"/>
          <p:nvPr/>
        </p:nvSpPr>
        <p:spPr>
          <a:xfrm>
            <a:off x="1042416" y="2578608"/>
            <a:ext cx="1792224" cy="64008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CMMS / Ultimo</a:t>
            </a:r>
            <a:endParaRPr lang="en-US" sz="1150" dirty="0"/>
          </a:p>
        </p:txBody>
      </p:sp>
      <p:sp>
        <p:nvSpPr>
          <p:cNvPr id="16" name="Text 14"/>
          <p:cNvSpPr txBox="1"/>
          <p:nvPr/>
        </p:nvSpPr>
        <p:spPr>
          <a:xfrm>
            <a:off x="3127248" y="2578608"/>
            <a:ext cx="2560320" cy="640080"/>
          </a:xfrm>
          <a:prstGeom prst="rect">
            <a:avLst/>
          </a:prstGeom>
          <a:noFill/>
          <a:ln/>
        </p:spPr>
        <p:txBody>
          <a:bodyPr wrap="square" lIns="0" tIns="0" rIns="0" bIns="0" rtlCol="0" anchor="ctr"/>
          <a:lstStyle/>
          <a:p>
            <a:pPr indent="0" marL="0">
              <a:lnSpc>
                <a:spcPts val="1300"/>
              </a:lnSpc>
              <a:buNone/>
            </a:pPr>
            <a:r>
              <a:rPr lang="en-US" sz="1100" i="1" dirty="0">
                <a:solidFill>
                  <a:srgbClr val="8494A6"/>
                </a:solidFill>
                <a:latin typeface="Calibri" pitchFamily="34" charset="0"/>
                <a:ea typeface="Calibri" pitchFamily="34" charset="-122"/>
                <a:cs typeface="Calibri" pitchFamily="34" charset="-120"/>
              </a:rPr>
              <a:t>Zero prior knowledge</a:t>
            </a:r>
            <a:endParaRPr lang="en-US" sz="1100" dirty="0"/>
          </a:p>
        </p:txBody>
      </p:sp>
      <p:sp>
        <p:nvSpPr>
          <p:cNvPr id="17" name="Text 15"/>
          <p:cNvSpPr txBox="1"/>
          <p:nvPr/>
        </p:nvSpPr>
        <p:spPr>
          <a:xfrm>
            <a:off x="5650992" y="2578608"/>
            <a:ext cx="219456" cy="640080"/>
          </a:xfrm>
          <a:prstGeom prst="rect">
            <a:avLst/>
          </a:prstGeom>
          <a:noFill/>
          <a:ln/>
        </p:spPr>
        <p:txBody>
          <a:bodyPr wrap="square" lIns="0" tIns="0" rIns="0" bIns="0" rtlCol="0" anchor="ctr"/>
          <a:lstStyle/>
          <a:p>
            <a:pPr algn="ctr" indent="0" marL="0">
              <a:buNone/>
            </a:pPr>
            <a:r>
              <a:rPr lang="en-US" sz="1100" dirty="0">
                <a:solidFill>
                  <a:srgbClr val="CFD8E3"/>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6053328" y="2578608"/>
            <a:ext cx="5385816" cy="640080"/>
          </a:xfrm>
          <a:prstGeom prst="rect">
            <a:avLst/>
          </a:prstGeom>
          <a:noFill/>
          <a:ln/>
        </p:spPr>
        <p:txBody>
          <a:bodyPr wrap="square" lIns="0" tIns="0" rIns="0" bIns="0" rtlCol="0" anchor="ctr"/>
          <a:lstStyle/>
          <a:p>
            <a:pPr indent="0" marL="0">
              <a:lnSpc>
                <a:spcPts val="1300"/>
              </a:lnSpc>
              <a:buNone/>
            </a:pPr>
            <a:r>
              <a:rPr lang="en-US" sz="1100" dirty="0">
                <a:solidFill>
                  <a:srgbClr val="1F2933"/>
                </a:solidFill>
                <a:latin typeface="Calibri" pitchFamily="34" charset="0"/>
                <a:ea typeface="Calibri" pitchFamily="34" charset="-122"/>
                <a:cs typeface="Calibri" pitchFamily="34" charset="-120"/>
              </a:rPr>
              <a:t>Independent work-order creation, scheduling, PTW creation and follow-up</a:t>
            </a:r>
            <a:endParaRPr lang="en-US" sz="1100" dirty="0"/>
          </a:p>
        </p:txBody>
      </p:sp>
      <p:sp>
        <p:nvSpPr>
          <p:cNvPr id="19" name="Shape 17"/>
          <p:cNvSpPr/>
          <p:nvPr/>
        </p:nvSpPr>
        <p:spPr>
          <a:xfrm>
            <a:off x="566928" y="3218688"/>
            <a:ext cx="11055096" cy="640080"/>
          </a:xfrm>
          <a:prstGeom prst="roundRect">
            <a:avLst>
              <a:gd name="adj" fmla="val 5714"/>
            </a:avLst>
          </a:prstGeom>
          <a:solidFill>
            <a:srgbClr val="F1F4F8"/>
          </a:solidFill>
          <a:ln/>
        </p:spPr>
      </p:sp>
      <p:sp>
        <p:nvSpPr>
          <p:cNvPr id="20" name="Shape 18"/>
          <p:cNvSpPr/>
          <p:nvPr/>
        </p:nvSpPr>
        <p:spPr>
          <a:xfrm>
            <a:off x="822960" y="3447288"/>
            <a:ext cx="118872" cy="118872"/>
          </a:xfrm>
          <a:prstGeom prst="ellipse">
            <a:avLst/>
          </a:prstGeom>
          <a:solidFill>
            <a:srgbClr val="C9942E"/>
          </a:solidFill>
          <a:ln/>
        </p:spPr>
      </p:sp>
      <p:sp>
        <p:nvSpPr>
          <p:cNvPr id="21" name="Text 19"/>
          <p:cNvSpPr txBox="1"/>
          <p:nvPr/>
        </p:nvSpPr>
        <p:spPr>
          <a:xfrm>
            <a:off x="1042416" y="3218688"/>
            <a:ext cx="1792224" cy="64008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Maintenance judgement</a:t>
            </a:r>
            <a:endParaRPr lang="en-US" sz="1150" dirty="0"/>
          </a:p>
        </p:txBody>
      </p:sp>
      <p:sp>
        <p:nvSpPr>
          <p:cNvPr id="22" name="Text 20"/>
          <p:cNvSpPr txBox="1"/>
          <p:nvPr/>
        </p:nvSpPr>
        <p:spPr>
          <a:xfrm>
            <a:off x="3127248" y="3218688"/>
            <a:ext cx="2560320" cy="640080"/>
          </a:xfrm>
          <a:prstGeom prst="rect">
            <a:avLst/>
          </a:prstGeom>
          <a:noFill/>
          <a:ln/>
        </p:spPr>
        <p:txBody>
          <a:bodyPr wrap="square" lIns="0" tIns="0" rIns="0" bIns="0" rtlCol="0" anchor="ctr"/>
          <a:lstStyle/>
          <a:p>
            <a:pPr indent="0" marL="0">
              <a:lnSpc>
                <a:spcPts val="1300"/>
              </a:lnSpc>
              <a:buNone/>
            </a:pPr>
            <a:r>
              <a:rPr lang="en-US" sz="1100" i="1" dirty="0">
                <a:solidFill>
                  <a:srgbClr val="8494A6"/>
                </a:solidFill>
                <a:latin typeface="Calibri" pitchFamily="34" charset="0"/>
                <a:ea typeface="Calibri" pitchFamily="34" charset="-122"/>
                <a:cs typeface="Calibri" pitchFamily="34" charset="-120"/>
              </a:rPr>
              <a:t>Developing</a:t>
            </a:r>
            <a:endParaRPr lang="en-US" sz="1100" dirty="0"/>
          </a:p>
        </p:txBody>
      </p:sp>
      <p:sp>
        <p:nvSpPr>
          <p:cNvPr id="23" name="Text 21"/>
          <p:cNvSpPr txBox="1"/>
          <p:nvPr/>
        </p:nvSpPr>
        <p:spPr>
          <a:xfrm>
            <a:off x="5650992" y="3218688"/>
            <a:ext cx="219456" cy="640080"/>
          </a:xfrm>
          <a:prstGeom prst="rect">
            <a:avLst/>
          </a:prstGeom>
          <a:noFill/>
          <a:ln/>
        </p:spPr>
        <p:txBody>
          <a:bodyPr wrap="square" lIns="0" tIns="0" rIns="0" bIns="0" rtlCol="0" anchor="ctr"/>
          <a:lstStyle/>
          <a:p>
            <a:pPr algn="ctr" indent="0" marL="0">
              <a:buNone/>
            </a:pPr>
            <a:r>
              <a:rPr lang="en-US" sz="1100" dirty="0">
                <a:solidFill>
                  <a:srgbClr val="CFD8E3"/>
                </a:solidFill>
                <a:latin typeface="Calibri" pitchFamily="34" charset="0"/>
                <a:ea typeface="Calibri" pitchFamily="34" charset="-122"/>
                <a:cs typeface="Calibri" pitchFamily="34" charset="-120"/>
              </a:rPr>
              <a:t>→</a:t>
            </a:r>
            <a:endParaRPr lang="en-US" sz="1100" dirty="0"/>
          </a:p>
        </p:txBody>
      </p:sp>
      <p:sp>
        <p:nvSpPr>
          <p:cNvPr id="24" name="Text 22"/>
          <p:cNvSpPr txBox="1"/>
          <p:nvPr/>
        </p:nvSpPr>
        <p:spPr>
          <a:xfrm>
            <a:off x="6053328" y="3218688"/>
            <a:ext cx="5385816" cy="640080"/>
          </a:xfrm>
          <a:prstGeom prst="rect">
            <a:avLst/>
          </a:prstGeom>
          <a:noFill/>
          <a:ln/>
        </p:spPr>
        <p:txBody>
          <a:bodyPr wrap="square" lIns="0" tIns="0" rIns="0" bIns="0" rtlCol="0" anchor="ctr"/>
          <a:lstStyle/>
          <a:p>
            <a:pPr indent="0" marL="0">
              <a:lnSpc>
                <a:spcPts val="1300"/>
              </a:lnSpc>
              <a:buNone/>
            </a:pPr>
            <a:r>
              <a:rPr lang="en-US" sz="1100" dirty="0">
                <a:solidFill>
                  <a:srgbClr val="1F2933"/>
                </a:solidFill>
                <a:latin typeface="Calibri" pitchFamily="34" charset="0"/>
                <a:ea typeface="Calibri" pitchFamily="34" charset="-122"/>
                <a:cs typeface="Calibri" pitchFamily="34" charset="-120"/>
              </a:rPr>
              <a:t>Faster identification of maintenance needs, with safety-critical and operational-impact items prioritised</a:t>
            </a:r>
            <a:endParaRPr lang="en-US" sz="1100" dirty="0"/>
          </a:p>
        </p:txBody>
      </p:sp>
      <p:sp>
        <p:nvSpPr>
          <p:cNvPr id="25" name="Shape 23"/>
          <p:cNvSpPr/>
          <p:nvPr/>
        </p:nvSpPr>
        <p:spPr>
          <a:xfrm>
            <a:off x="822960" y="4087368"/>
            <a:ext cx="118872" cy="118872"/>
          </a:xfrm>
          <a:prstGeom prst="ellipse">
            <a:avLst/>
          </a:prstGeom>
          <a:solidFill>
            <a:srgbClr val="2F7D4B"/>
          </a:solidFill>
          <a:ln/>
        </p:spPr>
      </p:sp>
      <p:sp>
        <p:nvSpPr>
          <p:cNvPr id="26" name="Text 24"/>
          <p:cNvSpPr txBox="1"/>
          <p:nvPr/>
        </p:nvSpPr>
        <p:spPr>
          <a:xfrm>
            <a:off x="1042416" y="3858768"/>
            <a:ext cx="1792224" cy="64008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Safety systems</a:t>
            </a:r>
            <a:endParaRPr lang="en-US" sz="1150" dirty="0"/>
          </a:p>
        </p:txBody>
      </p:sp>
      <p:sp>
        <p:nvSpPr>
          <p:cNvPr id="27" name="Text 25"/>
          <p:cNvSpPr txBox="1"/>
          <p:nvPr/>
        </p:nvSpPr>
        <p:spPr>
          <a:xfrm>
            <a:off x="3127248" y="3858768"/>
            <a:ext cx="2560320" cy="640080"/>
          </a:xfrm>
          <a:prstGeom prst="rect">
            <a:avLst/>
          </a:prstGeom>
          <a:noFill/>
          <a:ln/>
        </p:spPr>
        <p:txBody>
          <a:bodyPr wrap="square" lIns="0" tIns="0" rIns="0" bIns="0" rtlCol="0" anchor="ctr"/>
          <a:lstStyle/>
          <a:p>
            <a:pPr indent="0" marL="0">
              <a:lnSpc>
                <a:spcPts val="1300"/>
              </a:lnSpc>
              <a:buNone/>
            </a:pPr>
            <a:r>
              <a:rPr lang="en-US" sz="1100" i="1" dirty="0">
                <a:solidFill>
                  <a:srgbClr val="8494A6"/>
                </a:solidFill>
                <a:latin typeface="Calibri" pitchFamily="34" charset="0"/>
                <a:ea typeface="Calibri" pitchFamily="34" charset="-122"/>
                <a:cs typeface="Calibri" pitchFamily="34" charset="-120"/>
              </a:rPr>
              <a:t>Learning terminal-specific application</a:t>
            </a:r>
            <a:endParaRPr lang="en-US" sz="1100" dirty="0"/>
          </a:p>
        </p:txBody>
      </p:sp>
      <p:sp>
        <p:nvSpPr>
          <p:cNvPr id="28" name="Text 26"/>
          <p:cNvSpPr txBox="1"/>
          <p:nvPr/>
        </p:nvSpPr>
        <p:spPr>
          <a:xfrm>
            <a:off x="5650992" y="3858768"/>
            <a:ext cx="219456" cy="640080"/>
          </a:xfrm>
          <a:prstGeom prst="rect">
            <a:avLst/>
          </a:prstGeom>
          <a:noFill/>
          <a:ln/>
        </p:spPr>
        <p:txBody>
          <a:bodyPr wrap="square" lIns="0" tIns="0" rIns="0" bIns="0" rtlCol="0" anchor="ctr"/>
          <a:lstStyle/>
          <a:p>
            <a:pPr algn="ctr" indent="0" marL="0">
              <a:buNone/>
            </a:pPr>
            <a:r>
              <a:rPr lang="en-US" sz="1100" dirty="0">
                <a:solidFill>
                  <a:srgbClr val="CFD8E3"/>
                </a:solidFill>
                <a:latin typeface="Calibri" pitchFamily="34" charset="0"/>
                <a:ea typeface="Calibri" pitchFamily="34" charset="-122"/>
                <a:cs typeface="Calibri" pitchFamily="34" charset="-120"/>
              </a:rPr>
              <a:t>→</a:t>
            </a:r>
            <a:endParaRPr lang="en-US" sz="1100" dirty="0"/>
          </a:p>
        </p:txBody>
      </p:sp>
      <p:sp>
        <p:nvSpPr>
          <p:cNvPr id="29" name="Text 27"/>
          <p:cNvSpPr txBox="1"/>
          <p:nvPr/>
        </p:nvSpPr>
        <p:spPr>
          <a:xfrm>
            <a:off x="6053328" y="3858768"/>
            <a:ext cx="5385816" cy="640080"/>
          </a:xfrm>
          <a:prstGeom prst="rect">
            <a:avLst/>
          </a:prstGeom>
          <a:noFill/>
          <a:ln/>
        </p:spPr>
        <p:txBody>
          <a:bodyPr wrap="square" lIns="0" tIns="0" rIns="0" bIns="0" rtlCol="0" anchor="ctr"/>
          <a:lstStyle/>
          <a:p>
            <a:pPr indent="0" marL="0">
              <a:lnSpc>
                <a:spcPts val="1300"/>
              </a:lnSpc>
              <a:buNone/>
            </a:pPr>
            <a:r>
              <a:rPr lang="en-US" sz="1100" dirty="0">
                <a:solidFill>
                  <a:srgbClr val="1F2933"/>
                </a:solidFill>
                <a:latin typeface="Calibri" pitchFamily="34" charset="0"/>
                <a:ea typeface="Calibri" pitchFamily="34" charset="-122"/>
                <a:cs typeface="Calibri" pitchFamily="34" charset="-120"/>
              </a:rPr>
              <a:t>Stronger understanding of PTW, TRA and LOTO as prerequisites to safe work</a:t>
            </a:r>
            <a:endParaRPr lang="en-US" sz="1100" dirty="0"/>
          </a:p>
        </p:txBody>
      </p:sp>
      <p:sp>
        <p:nvSpPr>
          <p:cNvPr id="30" name="Shape 28"/>
          <p:cNvSpPr/>
          <p:nvPr/>
        </p:nvSpPr>
        <p:spPr>
          <a:xfrm>
            <a:off x="566928" y="4498848"/>
            <a:ext cx="11055096" cy="640080"/>
          </a:xfrm>
          <a:prstGeom prst="roundRect">
            <a:avLst>
              <a:gd name="adj" fmla="val 5714"/>
            </a:avLst>
          </a:prstGeom>
          <a:solidFill>
            <a:srgbClr val="F1F4F8"/>
          </a:solidFill>
          <a:ln/>
        </p:spPr>
      </p:sp>
      <p:sp>
        <p:nvSpPr>
          <p:cNvPr id="31" name="Shape 29"/>
          <p:cNvSpPr/>
          <p:nvPr/>
        </p:nvSpPr>
        <p:spPr>
          <a:xfrm>
            <a:off x="822960" y="4727448"/>
            <a:ext cx="118872" cy="118872"/>
          </a:xfrm>
          <a:prstGeom prst="ellipse">
            <a:avLst/>
          </a:prstGeom>
          <a:solidFill>
            <a:srgbClr val="147D7E"/>
          </a:solidFill>
          <a:ln/>
        </p:spPr>
      </p:sp>
      <p:sp>
        <p:nvSpPr>
          <p:cNvPr id="32" name="Text 30"/>
          <p:cNvSpPr txBox="1"/>
          <p:nvPr/>
        </p:nvSpPr>
        <p:spPr>
          <a:xfrm>
            <a:off x="1042416" y="4498848"/>
            <a:ext cx="1792224" cy="64008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Contractor management</a:t>
            </a:r>
            <a:endParaRPr lang="en-US" sz="1150" dirty="0"/>
          </a:p>
        </p:txBody>
      </p:sp>
      <p:sp>
        <p:nvSpPr>
          <p:cNvPr id="33" name="Text 31"/>
          <p:cNvSpPr txBox="1"/>
          <p:nvPr/>
        </p:nvSpPr>
        <p:spPr>
          <a:xfrm>
            <a:off x="3127248" y="4498848"/>
            <a:ext cx="2560320" cy="640080"/>
          </a:xfrm>
          <a:prstGeom prst="rect">
            <a:avLst/>
          </a:prstGeom>
          <a:noFill/>
          <a:ln/>
        </p:spPr>
        <p:txBody>
          <a:bodyPr wrap="square" lIns="0" tIns="0" rIns="0" bIns="0" rtlCol="0" anchor="ctr"/>
          <a:lstStyle/>
          <a:p>
            <a:pPr indent="0" marL="0">
              <a:lnSpc>
                <a:spcPts val="1300"/>
              </a:lnSpc>
              <a:buNone/>
            </a:pPr>
            <a:r>
              <a:rPr lang="en-US" sz="1100" i="1" dirty="0">
                <a:solidFill>
                  <a:srgbClr val="8494A6"/>
                </a:solidFill>
                <a:latin typeface="Calibri" pitchFamily="34" charset="0"/>
                <a:ea typeface="Calibri" pitchFamily="34" charset="-122"/>
                <a:cs typeface="Calibri" pitchFamily="34" charset="-120"/>
              </a:rPr>
              <a:t>Limited exposure</a:t>
            </a:r>
            <a:endParaRPr lang="en-US" sz="1100" dirty="0"/>
          </a:p>
        </p:txBody>
      </p:sp>
      <p:sp>
        <p:nvSpPr>
          <p:cNvPr id="34" name="Text 32"/>
          <p:cNvSpPr txBox="1"/>
          <p:nvPr/>
        </p:nvSpPr>
        <p:spPr>
          <a:xfrm>
            <a:off x="5650992" y="4498848"/>
            <a:ext cx="219456" cy="640080"/>
          </a:xfrm>
          <a:prstGeom prst="rect">
            <a:avLst/>
          </a:prstGeom>
          <a:noFill/>
          <a:ln/>
        </p:spPr>
        <p:txBody>
          <a:bodyPr wrap="square" lIns="0" tIns="0" rIns="0" bIns="0" rtlCol="0" anchor="ctr"/>
          <a:lstStyle/>
          <a:p>
            <a:pPr algn="ctr" indent="0" marL="0">
              <a:buNone/>
            </a:pPr>
            <a:r>
              <a:rPr lang="en-US" sz="1100" dirty="0">
                <a:solidFill>
                  <a:srgbClr val="CFD8E3"/>
                </a:solidFill>
                <a:latin typeface="Calibri" pitchFamily="34" charset="0"/>
                <a:ea typeface="Calibri" pitchFamily="34" charset="-122"/>
                <a:cs typeface="Calibri" pitchFamily="34" charset="-120"/>
              </a:rPr>
              <a:t>→</a:t>
            </a:r>
            <a:endParaRPr lang="en-US" sz="1100" dirty="0"/>
          </a:p>
        </p:txBody>
      </p:sp>
      <p:sp>
        <p:nvSpPr>
          <p:cNvPr id="35" name="Text 33"/>
          <p:cNvSpPr txBox="1"/>
          <p:nvPr/>
        </p:nvSpPr>
        <p:spPr>
          <a:xfrm>
            <a:off x="6053328" y="4498848"/>
            <a:ext cx="5385816" cy="640080"/>
          </a:xfrm>
          <a:prstGeom prst="rect">
            <a:avLst/>
          </a:prstGeom>
          <a:noFill/>
          <a:ln/>
        </p:spPr>
        <p:txBody>
          <a:bodyPr wrap="square" lIns="0" tIns="0" rIns="0" bIns="0" rtlCol="0" anchor="ctr"/>
          <a:lstStyle/>
          <a:p>
            <a:pPr indent="0" marL="0">
              <a:lnSpc>
                <a:spcPts val="1300"/>
              </a:lnSpc>
              <a:buNone/>
            </a:pPr>
            <a:r>
              <a:rPr lang="en-US" sz="1100" dirty="0">
                <a:solidFill>
                  <a:srgbClr val="1F2933"/>
                </a:solidFill>
                <a:latin typeface="Calibri" pitchFamily="34" charset="0"/>
                <a:ea typeface="Calibri" pitchFamily="34" charset="-122"/>
                <a:cs typeface="Calibri" pitchFamily="34" charset="-120"/>
              </a:rPr>
              <a:t>Comfortably supervise multiple contractor disciplines</a:t>
            </a:r>
            <a:endParaRPr lang="en-US" sz="1100" dirty="0"/>
          </a:p>
        </p:txBody>
      </p:sp>
      <p:sp>
        <p:nvSpPr>
          <p:cNvPr id="36" name="Shape 34"/>
          <p:cNvSpPr/>
          <p:nvPr/>
        </p:nvSpPr>
        <p:spPr>
          <a:xfrm>
            <a:off x="822960" y="5367528"/>
            <a:ext cx="118872" cy="118872"/>
          </a:xfrm>
          <a:prstGeom prst="ellipse">
            <a:avLst/>
          </a:prstGeom>
          <a:solidFill>
            <a:srgbClr val="1F4E79"/>
          </a:solidFill>
          <a:ln/>
        </p:spPr>
      </p:sp>
      <p:sp>
        <p:nvSpPr>
          <p:cNvPr id="37" name="Text 35"/>
          <p:cNvSpPr txBox="1"/>
          <p:nvPr/>
        </p:nvSpPr>
        <p:spPr>
          <a:xfrm>
            <a:off x="1042416" y="5138928"/>
            <a:ext cx="1792224" cy="640080"/>
          </a:xfrm>
          <a:prstGeom prst="rect">
            <a:avLst/>
          </a:prstGeom>
          <a:noFill/>
          <a:ln/>
        </p:spPr>
        <p:txBody>
          <a:bodyPr wrap="square" lIns="0" tIns="0" rIns="0" bIns="0" rtlCol="0" anchor="ctr"/>
          <a:lstStyle/>
          <a:p>
            <a:pPr indent="0" marL="0">
              <a:lnSpc>
                <a:spcPts val="1300"/>
              </a:lnSpc>
              <a:buNone/>
            </a:pPr>
            <a:r>
              <a:rPr lang="en-US" sz="1150" b="1" dirty="0">
                <a:solidFill>
                  <a:srgbClr val="0B1F33"/>
                </a:solidFill>
                <a:latin typeface="Calibri" pitchFamily="34" charset="0"/>
                <a:ea typeface="Calibri" pitchFamily="34" charset="-122"/>
                <a:cs typeface="Calibri" pitchFamily="34" charset="-120"/>
              </a:rPr>
              <a:t>Operations interface</a:t>
            </a:r>
            <a:endParaRPr lang="en-US" sz="1150" dirty="0"/>
          </a:p>
        </p:txBody>
      </p:sp>
      <p:sp>
        <p:nvSpPr>
          <p:cNvPr id="38" name="Text 36"/>
          <p:cNvSpPr txBox="1"/>
          <p:nvPr/>
        </p:nvSpPr>
        <p:spPr>
          <a:xfrm>
            <a:off x="3127248" y="5138928"/>
            <a:ext cx="2560320" cy="640080"/>
          </a:xfrm>
          <a:prstGeom prst="rect">
            <a:avLst/>
          </a:prstGeom>
          <a:noFill/>
          <a:ln/>
        </p:spPr>
        <p:txBody>
          <a:bodyPr wrap="square" lIns="0" tIns="0" rIns="0" bIns="0" rtlCol="0" anchor="ctr"/>
          <a:lstStyle/>
          <a:p>
            <a:pPr indent="0" marL="0">
              <a:lnSpc>
                <a:spcPts val="1300"/>
              </a:lnSpc>
              <a:buNone/>
            </a:pPr>
            <a:r>
              <a:rPr lang="en-US" sz="1100" i="1" dirty="0">
                <a:solidFill>
                  <a:srgbClr val="8494A6"/>
                </a:solidFill>
                <a:latin typeface="Calibri" pitchFamily="34" charset="0"/>
                <a:ea typeface="Calibri" pitchFamily="34" charset="-122"/>
                <a:cs typeface="Calibri" pitchFamily="34" charset="-120"/>
              </a:rPr>
              <a:t>Developing familiarity</a:t>
            </a:r>
            <a:endParaRPr lang="en-US" sz="1100" dirty="0"/>
          </a:p>
        </p:txBody>
      </p:sp>
      <p:sp>
        <p:nvSpPr>
          <p:cNvPr id="39" name="Text 37"/>
          <p:cNvSpPr txBox="1"/>
          <p:nvPr/>
        </p:nvSpPr>
        <p:spPr>
          <a:xfrm>
            <a:off x="5650992" y="5138928"/>
            <a:ext cx="219456" cy="640080"/>
          </a:xfrm>
          <a:prstGeom prst="rect">
            <a:avLst/>
          </a:prstGeom>
          <a:noFill/>
          <a:ln/>
        </p:spPr>
        <p:txBody>
          <a:bodyPr wrap="square" lIns="0" tIns="0" rIns="0" bIns="0" rtlCol="0" anchor="ctr"/>
          <a:lstStyle/>
          <a:p>
            <a:pPr algn="ctr" indent="0" marL="0">
              <a:buNone/>
            </a:pPr>
            <a:r>
              <a:rPr lang="en-US" sz="1100" dirty="0">
                <a:solidFill>
                  <a:srgbClr val="CFD8E3"/>
                </a:solidFill>
                <a:latin typeface="Calibri" pitchFamily="34" charset="0"/>
                <a:ea typeface="Calibri" pitchFamily="34" charset="-122"/>
                <a:cs typeface="Calibri" pitchFamily="34" charset="-120"/>
              </a:rPr>
              <a:t>→</a:t>
            </a:r>
            <a:endParaRPr lang="en-US" sz="1100" dirty="0"/>
          </a:p>
        </p:txBody>
      </p:sp>
      <p:sp>
        <p:nvSpPr>
          <p:cNvPr id="40" name="Text 38"/>
          <p:cNvSpPr txBox="1"/>
          <p:nvPr/>
        </p:nvSpPr>
        <p:spPr>
          <a:xfrm>
            <a:off x="6053328" y="5138928"/>
            <a:ext cx="5385816" cy="640080"/>
          </a:xfrm>
          <a:prstGeom prst="rect">
            <a:avLst/>
          </a:prstGeom>
          <a:noFill/>
          <a:ln/>
        </p:spPr>
        <p:txBody>
          <a:bodyPr wrap="square" lIns="0" tIns="0" rIns="0" bIns="0" rtlCol="0" anchor="ctr"/>
          <a:lstStyle/>
          <a:p>
            <a:pPr indent="0" marL="0">
              <a:lnSpc>
                <a:spcPts val="1300"/>
              </a:lnSpc>
              <a:buNone/>
            </a:pPr>
            <a:r>
              <a:rPr lang="en-US" sz="1100" dirty="0">
                <a:solidFill>
                  <a:srgbClr val="1F2933"/>
                </a:solidFill>
                <a:latin typeface="Calibri" pitchFamily="34" charset="0"/>
                <a:ea typeface="Calibri" pitchFamily="34" charset="-122"/>
                <a:cs typeface="Calibri" pitchFamily="34" charset="-120"/>
              </a:rPr>
              <a:t>More confident communication and understanding of plant terminology and process lines</a:t>
            </a:r>
            <a:endParaRPr lang="en-US" sz="1100" dirty="0"/>
          </a:p>
        </p:txBody>
      </p:sp>
      <p:sp>
        <p:nvSpPr>
          <p:cNvPr id="41" name="Shape 39"/>
          <p:cNvSpPr/>
          <p:nvPr/>
        </p:nvSpPr>
        <p:spPr>
          <a:xfrm>
            <a:off x="566928" y="5943600"/>
            <a:ext cx="11055096" cy="475488"/>
          </a:xfrm>
          <a:prstGeom prst="roundRect">
            <a:avLst>
              <a:gd name="adj" fmla="val 11538"/>
            </a:avLst>
          </a:prstGeom>
          <a:solidFill>
            <a:srgbClr val="0B1F33"/>
          </a:solidFill>
          <a:ln/>
        </p:spPr>
      </p:sp>
      <p:sp>
        <p:nvSpPr>
          <p:cNvPr id="42" name="Text 40"/>
          <p:cNvSpPr txBox="1"/>
          <p:nvPr/>
        </p:nvSpPr>
        <p:spPr>
          <a:xfrm>
            <a:off x="768096" y="5943600"/>
            <a:ext cx="1065276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Overall progression: from learning the plant and its systems to managing key parts of the maintenance workflow with increasing independence.</a:t>
            </a:r>
            <a:endParaRPr lang="en-US" sz="1150" dirty="0"/>
          </a:p>
        </p:txBody>
      </p:sp>
      <p:sp>
        <p:nvSpPr>
          <p:cNvPr id="44" name="Text 41"/>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45" name="Text 42"/>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147D7E"/>
                </a:solidFill>
                <a:latin typeface="Calibri" pitchFamily="34" charset="0"/>
                <a:ea typeface="Calibri" pitchFamily="34" charset="-122"/>
                <a:cs typeface="Calibri" pitchFamily="34" charset="-120"/>
              </a:rPr>
              <a:t>NEXT 6–12 MONTHS</a:t>
            </a:r>
            <a:endParaRPr lang="en-US" sz="1100" dirty="0"/>
          </a:p>
        </p:txBody>
      </p:sp>
      <p:sp>
        <p:nvSpPr>
          <p:cNvPr id="3" name="Text 1"/>
          <p:cNvSpPr txBox="1"/>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B1F33"/>
                </a:solidFill>
                <a:latin typeface="Cambria" pitchFamily="34" charset="0"/>
                <a:ea typeface="Cambria" pitchFamily="34" charset="-122"/>
                <a:cs typeface="Cambria" pitchFamily="34" charset="-120"/>
              </a:rPr>
              <a:t>Turning exposure into independent capability.</a:t>
            </a:r>
            <a:endParaRPr lang="en-US" sz="2400" dirty="0"/>
          </a:p>
        </p:txBody>
      </p:sp>
      <p:sp>
        <p:nvSpPr>
          <p:cNvPr id="4" name="Text 2"/>
          <p:cNvSpPr txBox="1"/>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Six commitments, each one traceable back to a gap identified earlier in this review.</a:t>
            </a:r>
            <a:endParaRPr lang="en-US" sz="1200" dirty="0"/>
          </a:p>
        </p:txBody>
      </p:sp>
      <p:sp>
        <p:nvSpPr>
          <p:cNvPr id="5" name="Shape 3"/>
          <p:cNvSpPr/>
          <p:nvPr/>
        </p:nvSpPr>
        <p:spPr>
          <a:xfrm>
            <a:off x="566928" y="1645920"/>
            <a:ext cx="5399532" cy="1286256"/>
          </a:xfrm>
          <a:prstGeom prst="roundRect">
            <a:avLst>
              <a:gd name="adj" fmla="val 355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6" name="Shape 4"/>
          <p:cNvSpPr/>
          <p:nvPr/>
        </p:nvSpPr>
        <p:spPr>
          <a:xfrm>
            <a:off x="804672" y="1883664"/>
            <a:ext cx="402336" cy="402336"/>
          </a:xfrm>
          <a:prstGeom prst="ellipse">
            <a:avLst/>
          </a:prstGeom>
          <a:solidFill>
            <a:srgbClr val="147D7E"/>
          </a:solidFill>
          <a:ln/>
        </p:spPr>
      </p:sp>
      <p:sp>
        <p:nvSpPr>
          <p:cNvPr id="7" name="Text 5"/>
          <p:cNvSpPr txBox="1"/>
          <p:nvPr/>
        </p:nvSpPr>
        <p:spPr>
          <a:xfrm>
            <a:off x="804672" y="188366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353312" y="1847088"/>
            <a:ext cx="4357116" cy="310896"/>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Technical independence</a:t>
            </a:r>
            <a:endParaRPr lang="en-US" sz="1500" dirty="0"/>
          </a:p>
        </p:txBody>
      </p:sp>
      <p:sp>
        <p:nvSpPr>
          <p:cNvPr id="9" name="Text 7"/>
          <p:cNvSpPr txBox="1"/>
          <p:nvPr/>
        </p:nvSpPr>
        <p:spPr>
          <a:xfrm>
            <a:off x="1353312" y="2194560"/>
            <a:ext cx="4357116" cy="5730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Perform routine inspections, checklists and basic maintenance with minimal supervision, continuing to use contractors for major and specialised jobs.</a:t>
            </a:r>
            <a:endParaRPr lang="en-US" sz="1150" dirty="0"/>
          </a:p>
        </p:txBody>
      </p:sp>
      <p:sp>
        <p:nvSpPr>
          <p:cNvPr id="10" name="Shape 8"/>
          <p:cNvSpPr/>
          <p:nvPr/>
        </p:nvSpPr>
        <p:spPr>
          <a:xfrm>
            <a:off x="6222492" y="1645920"/>
            <a:ext cx="5399532" cy="1286256"/>
          </a:xfrm>
          <a:prstGeom prst="roundRect">
            <a:avLst>
              <a:gd name="adj" fmla="val 3555"/>
            </a:avLst>
          </a:prstGeom>
          <a:solidFill>
            <a:srgbClr val="F1F4F8"/>
          </a:solidFill>
          <a:ln w="9525">
            <a:solidFill>
              <a:srgbClr val="CFD8E3"/>
            </a:solidFill>
            <a:prstDash val="solid"/>
          </a:ln>
        </p:spPr>
      </p:sp>
      <p:sp>
        <p:nvSpPr>
          <p:cNvPr id="11" name="Shape 9"/>
          <p:cNvSpPr/>
          <p:nvPr/>
        </p:nvSpPr>
        <p:spPr>
          <a:xfrm>
            <a:off x="6460236" y="1883664"/>
            <a:ext cx="402336" cy="402336"/>
          </a:xfrm>
          <a:prstGeom prst="ellipse">
            <a:avLst/>
          </a:prstGeom>
          <a:solidFill>
            <a:srgbClr val="1F4E79"/>
          </a:solidFill>
          <a:ln/>
        </p:spPr>
      </p:sp>
      <p:sp>
        <p:nvSpPr>
          <p:cNvPr id="12" name="Text 10"/>
          <p:cNvSpPr txBox="1"/>
          <p:nvPr/>
        </p:nvSpPr>
        <p:spPr>
          <a:xfrm>
            <a:off x="6460236" y="188366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7008876" y="1847088"/>
            <a:ext cx="4357116" cy="310896"/>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CMMS quality</a:t>
            </a:r>
            <a:endParaRPr lang="en-US" sz="1500" dirty="0"/>
          </a:p>
        </p:txBody>
      </p:sp>
      <p:sp>
        <p:nvSpPr>
          <p:cNvPr id="14" name="Text 12"/>
          <p:cNvSpPr txBox="1"/>
          <p:nvPr/>
        </p:nvSpPr>
        <p:spPr>
          <a:xfrm>
            <a:off x="7008876" y="2194560"/>
            <a:ext cx="4357116" cy="5730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Improve prompt work-order closure and review obsolete or redundant maintenance orders in Ultimo.</a:t>
            </a:r>
            <a:endParaRPr lang="en-US" sz="1150" dirty="0"/>
          </a:p>
        </p:txBody>
      </p:sp>
      <p:sp>
        <p:nvSpPr>
          <p:cNvPr id="15" name="Shape 13"/>
          <p:cNvSpPr/>
          <p:nvPr/>
        </p:nvSpPr>
        <p:spPr>
          <a:xfrm>
            <a:off x="566928" y="3078480"/>
            <a:ext cx="5399532" cy="1286256"/>
          </a:xfrm>
          <a:prstGeom prst="roundRect">
            <a:avLst>
              <a:gd name="adj" fmla="val 355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6" name="Shape 14"/>
          <p:cNvSpPr/>
          <p:nvPr/>
        </p:nvSpPr>
        <p:spPr>
          <a:xfrm>
            <a:off x="804672" y="3316224"/>
            <a:ext cx="402336" cy="402336"/>
          </a:xfrm>
          <a:prstGeom prst="ellipse">
            <a:avLst/>
          </a:prstGeom>
          <a:solidFill>
            <a:srgbClr val="C9942E"/>
          </a:solidFill>
          <a:ln/>
        </p:spPr>
      </p:sp>
      <p:sp>
        <p:nvSpPr>
          <p:cNvPr id="17" name="Text 15"/>
          <p:cNvSpPr txBox="1"/>
          <p:nvPr/>
        </p:nvSpPr>
        <p:spPr>
          <a:xfrm>
            <a:off x="804672" y="331622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txBox="1"/>
          <p:nvPr/>
        </p:nvSpPr>
        <p:spPr>
          <a:xfrm>
            <a:off x="1353312" y="3279648"/>
            <a:ext cx="4357116" cy="310896"/>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Digital inventory</a:t>
            </a:r>
            <a:endParaRPr lang="en-US" sz="1500" dirty="0"/>
          </a:p>
        </p:txBody>
      </p:sp>
      <p:sp>
        <p:nvSpPr>
          <p:cNvPr id="19" name="Text 17"/>
          <p:cNvSpPr txBox="1"/>
          <p:nvPr/>
        </p:nvSpPr>
        <p:spPr>
          <a:xfrm>
            <a:off x="1353312" y="3627120"/>
            <a:ext cx="4357116" cy="5730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Support the Microsoft Dynamics transition and strengthen real-time stock visibility.</a:t>
            </a:r>
            <a:endParaRPr lang="en-US" sz="1150" dirty="0"/>
          </a:p>
        </p:txBody>
      </p:sp>
      <p:sp>
        <p:nvSpPr>
          <p:cNvPr id="20" name="Shape 18"/>
          <p:cNvSpPr/>
          <p:nvPr/>
        </p:nvSpPr>
        <p:spPr>
          <a:xfrm>
            <a:off x="6222492" y="3078480"/>
            <a:ext cx="5399532" cy="1286256"/>
          </a:xfrm>
          <a:prstGeom prst="roundRect">
            <a:avLst>
              <a:gd name="adj" fmla="val 3555"/>
            </a:avLst>
          </a:prstGeom>
          <a:solidFill>
            <a:srgbClr val="F1F4F8"/>
          </a:solidFill>
          <a:ln w="9525">
            <a:solidFill>
              <a:srgbClr val="CFD8E3"/>
            </a:solidFill>
            <a:prstDash val="solid"/>
          </a:ln>
        </p:spPr>
      </p:sp>
      <p:sp>
        <p:nvSpPr>
          <p:cNvPr id="21" name="Shape 19"/>
          <p:cNvSpPr/>
          <p:nvPr/>
        </p:nvSpPr>
        <p:spPr>
          <a:xfrm>
            <a:off x="6460236" y="3316224"/>
            <a:ext cx="402336" cy="402336"/>
          </a:xfrm>
          <a:prstGeom prst="ellipse">
            <a:avLst/>
          </a:prstGeom>
          <a:solidFill>
            <a:srgbClr val="2F7D4B"/>
          </a:solidFill>
          <a:ln/>
        </p:spPr>
      </p:sp>
      <p:sp>
        <p:nvSpPr>
          <p:cNvPr id="22" name="Text 20"/>
          <p:cNvSpPr txBox="1"/>
          <p:nvPr/>
        </p:nvSpPr>
        <p:spPr>
          <a:xfrm>
            <a:off x="6460236" y="331622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1"/>
          <p:cNvSpPr txBox="1"/>
          <p:nvPr/>
        </p:nvSpPr>
        <p:spPr>
          <a:xfrm>
            <a:off x="7008876" y="3279648"/>
            <a:ext cx="4357116" cy="310896"/>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Documentation</a:t>
            </a:r>
            <a:endParaRPr lang="en-US" sz="1500" dirty="0"/>
          </a:p>
        </p:txBody>
      </p:sp>
      <p:sp>
        <p:nvSpPr>
          <p:cNvPr id="24" name="Text 22"/>
          <p:cNvSpPr txBox="1"/>
          <p:nvPr/>
        </p:nvSpPr>
        <p:spPr>
          <a:xfrm>
            <a:off x="7008876" y="3627120"/>
            <a:ext cx="4357116" cy="5730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Upload records immediately as they are generated and explore practical automation for filing and routing.</a:t>
            </a:r>
            <a:endParaRPr lang="en-US" sz="1150" dirty="0"/>
          </a:p>
        </p:txBody>
      </p:sp>
      <p:sp>
        <p:nvSpPr>
          <p:cNvPr id="25" name="Shape 23"/>
          <p:cNvSpPr/>
          <p:nvPr/>
        </p:nvSpPr>
        <p:spPr>
          <a:xfrm>
            <a:off x="566928" y="4511040"/>
            <a:ext cx="5399532" cy="1286256"/>
          </a:xfrm>
          <a:prstGeom prst="roundRect">
            <a:avLst>
              <a:gd name="adj" fmla="val 3555"/>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26" name="Shape 24"/>
          <p:cNvSpPr/>
          <p:nvPr/>
        </p:nvSpPr>
        <p:spPr>
          <a:xfrm>
            <a:off x="804672" y="4748784"/>
            <a:ext cx="402336" cy="402336"/>
          </a:xfrm>
          <a:prstGeom prst="ellipse">
            <a:avLst/>
          </a:prstGeom>
          <a:solidFill>
            <a:srgbClr val="147D7E"/>
          </a:solidFill>
          <a:ln/>
        </p:spPr>
      </p:sp>
      <p:sp>
        <p:nvSpPr>
          <p:cNvPr id="27" name="Text 25"/>
          <p:cNvSpPr txBox="1"/>
          <p:nvPr/>
        </p:nvSpPr>
        <p:spPr>
          <a:xfrm>
            <a:off x="804672" y="474878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1353312" y="4712208"/>
            <a:ext cx="4357116" cy="310896"/>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Project planning</a:t>
            </a:r>
            <a:endParaRPr lang="en-US" sz="1500" dirty="0"/>
          </a:p>
        </p:txBody>
      </p:sp>
      <p:sp>
        <p:nvSpPr>
          <p:cNvPr id="29" name="Text 27"/>
          <p:cNvSpPr txBox="1"/>
          <p:nvPr/>
        </p:nvSpPr>
        <p:spPr>
          <a:xfrm>
            <a:off x="1353312" y="5059680"/>
            <a:ext cx="4357116" cy="5730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Develop stronger planning skills across scope, materials, contractors, schedule and closeout.</a:t>
            </a:r>
            <a:endParaRPr lang="en-US" sz="1150" dirty="0"/>
          </a:p>
        </p:txBody>
      </p:sp>
      <p:sp>
        <p:nvSpPr>
          <p:cNvPr id="30" name="Shape 28"/>
          <p:cNvSpPr/>
          <p:nvPr/>
        </p:nvSpPr>
        <p:spPr>
          <a:xfrm>
            <a:off x="6222492" y="4511040"/>
            <a:ext cx="5399532" cy="1286256"/>
          </a:xfrm>
          <a:prstGeom prst="roundRect">
            <a:avLst>
              <a:gd name="adj" fmla="val 3555"/>
            </a:avLst>
          </a:prstGeom>
          <a:solidFill>
            <a:srgbClr val="F1F4F8"/>
          </a:solidFill>
          <a:ln w="9525">
            <a:solidFill>
              <a:srgbClr val="CFD8E3"/>
            </a:solidFill>
            <a:prstDash val="solid"/>
          </a:ln>
        </p:spPr>
      </p:sp>
      <p:sp>
        <p:nvSpPr>
          <p:cNvPr id="31" name="Shape 29"/>
          <p:cNvSpPr/>
          <p:nvPr/>
        </p:nvSpPr>
        <p:spPr>
          <a:xfrm>
            <a:off x="6460236" y="4748784"/>
            <a:ext cx="402336" cy="402336"/>
          </a:xfrm>
          <a:prstGeom prst="ellipse">
            <a:avLst/>
          </a:prstGeom>
          <a:solidFill>
            <a:srgbClr val="1F4E79"/>
          </a:solidFill>
          <a:ln/>
        </p:spPr>
      </p:sp>
      <p:sp>
        <p:nvSpPr>
          <p:cNvPr id="32" name="Text 30"/>
          <p:cNvSpPr txBox="1"/>
          <p:nvPr/>
        </p:nvSpPr>
        <p:spPr>
          <a:xfrm>
            <a:off x="6460236" y="4748784"/>
            <a:ext cx="4023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3" name="Text 31"/>
          <p:cNvSpPr txBox="1"/>
          <p:nvPr/>
        </p:nvSpPr>
        <p:spPr>
          <a:xfrm>
            <a:off x="7008876" y="4712208"/>
            <a:ext cx="4357116" cy="310896"/>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Professional growth</a:t>
            </a:r>
            <a:endParaRPr lang="en-US" sz="1500" dirty="0"/>
          </a:p>
        </p:txBody>
      </p:sp>
      <p:sp>
        <p:nvSpPr>
          <p:cNvPr id="34" name="Text 32"/>
          <p:cNvSpPr txBox="1"/>
          <p:nvPr/>
        </p:nvSpPr>
        <p:spPr>
          <a:xfrm>
            <a:off x="7008876" y="5059680"/>
            <a:ext cx="4357116" cy="573024"/>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Complete or support closure of one major maintenance project and obtain a Maintenance &amp; Reliability certification.</a:t>
            </a:r>
            <a:endParaRPr lang="en-US" sz="1150" dirty="0"/>
          </a:p>
        </p:txBody>
      </p:sp>
      <p:sp>
        <p:nvSpPr>
          <p:cNvPr id="35" name="Shape 33"/>
          <p:cNvSpPr/>
          <p:nvPr/>
        </p:nvSpPr>
        <p:spPr>
          <a:xfrm>
            <a:off x="566928" y="5943600"/>
            <a:ext cx="11055096" cy="475488"/>
          </a:xfrm>
          <a:prstGeom prst="roundRect">
            <a:avLst>
              <a:gd name="adj" fmla="val 11538"/>
            </a:avLst>
          </a:prstGeom>
          <a:solidFill>
            <a:srgbClr val="0B1F33"/>
          </a:solidFill>
          <a:ln/>
        </p:spPr>
      </p:sp>
      <p:sp>
        <p:nvSpPr>
          <p:cNvPr id="36" name="Text 34"/>
          <p:cNvSpPr txBox="1"/>
          <p:nvPr/>
        </p:nvSpPr>
        <p:spPr>
          <a:xfrm>
            <a:off x="768096" y="5943600"/>
            <a:ext cx="1065276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The outcome I am working toward: greater independent routine maintenance ownership, while strengthening the systems that keep maintenance safe, visible and controlled.</a:t>
            </a:r>
            <a:endParaRPr lang="en-US" sz="1150" dirty="0"/>
          </a:p>
        </p:txBody>
      </p:sp>
      <p:sp>
        <p:nvSpPr>
          <p:cNvPr id="38" name="Text 35"/>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8494A6"/>
                </a:solidFill>
                <a:latin typeface="Calibri" pitchFamily="34" charset="0"/>
                <a:ea typeface="Calibri" pitchFamily="34" charset="-122"/>
                <a:cs typeface="Calibri" pitchFamily="34" charset="-120"/>
              </a:rPr>
              <a:t>NAVGAS  ·  Maintenance &amp; Reliability</a:t>
            </a:r>
            <a:endParaRPr lang="en-US" sz="900" dirty="0"/>
          </a:p>
        </p:txBody>
      </p:sp>
      <p:sp>
        <p:nvSpPr>
          <p:cNvPr id="39" name="Text 36"/>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8494A6"/>
                </a:solidFill>
                <a:latin typeface="Calibri" pitchFamily="34" charset="0"/>
                <a:ea typeface="Calibri" pitchFamily="34" charset="-122"/>
                <a:cs typeface="Calibri" pitchFamily="34" charset="-120"/>
              </a:rPr>
              <a:t>6-Month Performance Review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66928" y="658368"/>
            <a:ext cx="11055096" cy="274320"/>
          </a:xfrm>
          <a:prstGeom prst="rect">
            <a:avLst/>
          </a:prstGeom>
          <a:noFill/>
          <a:ln/>
        </p:spPr>
        <p:txBody>
          <a:bodyPr wrap="square" lIns="0" tIns="0" rIns="0" bIns="0" rtlCol="0" anchor="ctr"/>
          <a:lstStyle/>
          <a:p>
            <a:pPr indent="0" marL="0">
              <a:buNone/>
            </a:pPr>
            <a:r>
              <a:rPr lang="en-US" sz="1150" b="1" spc="200" kern="0" dirty="0">
                <a:solidFill>
                  <a:srgbClr val="7FA8CE"/>
                </a:solidFill>
                <a:latin typeface="Calibri" pitchFamily="34" charset="0"/>
                <a:ea typeface="Calibri" pitchFamily="34" charset="-122"/>
                <a:cs typeface="Calibri" pitchFamily="34" charset="-120"/>
              </a:rPr>
              <a:t>CLOSING PERSPECTIVE</a:t>
            </a:r>
            <a:endParaRPr lang="en-US" sz="1150" dirty="0"/>
          </a:p>
        </p:txBody>
      </p:sp>
      <p:sp>
        <p:nvSpPr>
          <p:cNvPr id="3" name="Text 1"/>
          <p:cNvSpPr txBox="1"/>
          <p:nvPr/>
        </p:nvSpPr>
        <p:spPr>
          <a:xfrm>
            <a:off x="566928" y="950976"/>
            <a:ext cx="8412480" cy="82296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Six months spent building a foundation that can be relied on.</a:t>
            </a:r>
            <a:endParaRPr lang="en-US" sz="3000" dirty="0"/>
          </a:p>
        </p:txBody>
      </p:sp>
      <p:sp>
        <p:nvSpPr>
          <p:cNvPr id="4" name="Shape 2"/>
          <p:cNvSpPr/>
          <p:nvPr/>
        </p:nvSpPr>
        <p:spPr>
          <a:xfrm>
            <a:off x="566928" y="2185416"/>
            <a:ext cx="457200" cy="457200"/>
          </a:xfrm>
          <a:prstGeom prst="ellipse">
            <a:avLst/>
          </a:prstGeom>
          <a:solidFill>
            <a:srgbClr val="147D7E"/>
          </a:solidFill>
          <a:ln/>
        </p:spPr>
      </p:sp>
      <p:sp>
        <p:nvSpPr>
          <p:cNvPr id="5" name="Text 3"/>
          <p:cNvSpPr txBox="1"/>
          <p:nvPr/>
        </p:nvSpPr>
        <p:spPr>
          <a:xfrm>
            <a:off x="1207008" y="2066544"/>
            <a:ext cx="1371600" cy="71323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Own</a:t>
            </a:r>
            <a:endParaRPr lang="en-US" sz="1600" dirty="0"/>
          </a:p>
        </p:txBody>
      </p:sp>
      <p:sp>
        <p:nvSpPr>
          <p:cNvPr id="6" name="Text 4"/>
          <p:cNvSpPr txBox="1"/>
          <p:nvPr/>
        </p:nvSpPr>
        <p:spPr>
          <a:xfrm>
            <a:off x="2670048" y="2066544"/>
            <a:ext cx="6309360" cy="713232"/>
          </a:xfrm>
          <a:prstGeom prst="rect">
            <a:avLst/>
          </a:prstGeom>
          <a:noFill/>
          <a:ln/>
        </p:spPr>
        <p:txBody>
          <a:bodyPr wrap="square" lIns="0" tIns="0" rIns="0" bIns="0" rtlCol="0" anchor="ctr"/>
          <a:lstStyle/>
          <a:p>
            <a:pPr indent="0" marL="0">
              <a:lnSpc>
                <a:spcPts val="1700"/>
              </a:lnSpc>
              <a:buNone/>
            </a:pPr>
            <a:r>
              <a:rPr lang="en-US" sz="1350" dirty="0">
                <a:solidFill>
                  <a:srgbClr val="B9CBDD"/>
                </a:solidFill>
                <a:latin typeface="Calibri" pitchFamily="34" charset="0"/>
                <a:ea typeface="Calibri" pitchFamily="34" charset="-122"/>
                <a:cs typeface="Calibri" pitchFamily="34" charset="-120"/>
              </a:rPr>
              <a:t>CMMS / Ultimo activities, with increasing independence</a:t>
            </a:r>
            <a:endParaRPr lang="en-US" sz="1350" dirty="0"/>
          </a:p>
        </p:txBody>
      </p:sp>
      <p:sp>
        <p:nvSpPr>
          <p:cNvPr id="7" name="Shape 5"/>
          <p:cNvSpPr/>
          <p:nvPr/>
        </p:nvSpPr>
        <p:spPr>
          <a:xfrm>
            <a:off x="566928" y="2898648"/>
            <a:ext cx="457200" cy="457200"/>
          </a:xfrm>
          <a:prstGeom prst="ellipse">
            <a:avLst/>
          </a:prstGeom>
          <a:solidFill>
            <a:srgbClr val="C9942E"/>
          </a:solidFill>
          <a:ln/>
        </p:spPr>
      </p:sp>
      <p:sp>
        <p:nvSpPr>
          <p:cNvPr id="8" name="Text 6"/>
          <p:cNvSpPr txBox="1"/>
          <p:nvPr/>
        </p:nvSpPr>
        <p:spPr>
          <a:xfrm>
            <a:off x="1207008" y="2779776"/>
            <a:ext cx="1371600" cy="71323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Control</a:t>
            </a:r>
            <a:endParaRPr lang="en-US" sz="1600" dirty="0"/>
          </a:p>
        </p:txBody>
      </p:sp>
      <p:sp>
        <p:nvSpPr>
          <p:cNvPr id="9" name="Text 7"/>
          <p:cNvSpPr txBox="1"/>
          <p:nvPr/>
        </p:nvSpPr>
        <p:spPr>
          <a:xfrm>
            <a:off x="2670048" y="2779776"/>
            <a:ext cx="6309360" cy="713232"/>
          </a:xfrm>
          <a:prstGeom prst="rect">
            <a:avLst/>
          </a:prstGeom>
          <a:noFill/>
          <a:ln/>
        </p:spPr>
        <p:txBody>
          <a:bodyPr wrap="square" lIns="0" tIns="0" rIns="0" bIns="0" rtlCol="0" anchor="ctr"/>
          <a:lstStyle/>
          <a:p>
            <a:pPr indent="0" marL="0">
              <a:lnSpc>
                <a:spcPts val="1700"/>
              </a:lnSpc>
              <a:buNone/>
            </a:pPr>
            <a:r>
              <a:rPr lang="en-US" sz="1350" dirty="0">
                <a:solidFill>
                  <a:srgbClr val="B9CBDD"/>
                </a:solidFill>
                <a:latin typeface="Calibri" pitchFamily="34" charset="0"/>
                <a:ea typeface="Calibri" pitchFamily="34" charset="-122"/>
                <a:cs typeface="Calibri" pitchFamily="34" charset="-120"/>
              </a:rPr>
              <a:t>Inventory and maintenance documentation, with better visibility</a:t>
            </a:r>
            <a:endParaRPr lang="en-US" sz="1350" dirty="0"/>
          </a:p>
        </p:txBody>
      </p:sp>
      <p:sp>
        <p:nvSpPr>
          <p:cNvPr id="10" name="Shape 8"/>
          <p:cNvSpPr/>
          <p:nvPr/>
        </p:nvSpPr>
        <p:spPr>
          <a:xfrm>
            <a:off x="566928" y="3611880"/>
            <a:ext cx="457200" cy="457200"/>
          </a:xfrm>
          <a:prstGeom prst="ellipse">
            <a:avLst/>
          </a:prstGeom>
          <a:solidFill>
            <a:srgbClr val="2F7D4B"/>
          </a:solidFill>
          <a:ln/>
        </p:spPr>
      </p:sp>
      <p:sp>
        <p:nvSpPr>
          <p:cNvPr id="11" name="Text 9"/>
          <p:cNvSpPr txBox="1"/>
          <p:nvPr/>
        </p:nvSpPr>
        <p:spPr>
          <a:xfrm>
            <a:off x="1207008" y="3493008"/>
            <a:ext cx="1371600" cy="71323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Support</a:t>
            </a:r>
            <a:endParaRPr lang="en-US" sz="1600" dirty="0"/>
          </a:p>
        </p:txBody>
      </p:sp>
      <p:sp>
        <p:nvSpPr>
          <p:cNvPr id="12" name="Text 10"/>
          <p:cNvSpPr txBox="1"/>
          <p:nvPr/>
        </p:nvSpPr>
        <p:spPr>
          <a:xfrm>
            <a:off x="2670048" y="3493008"/>
            <a:ext cx="6309360" cy="713232"/>
          </a:xfrm>
          <a:prstGeom prst="rect">
            <a:avLst/>
          </a:prstGeom>
          <a:noFill/>
          <a:ln/>
        </p:spPr>
        <p:txBody>
          <a:bodyPr wrap="square" lIns="0" tIns="0" rIns="0" bIns="0" rtlCol="0" anchor="ctr"/>
          <a:lstStyle/>
          <a:p>
            <a:pPr indent="0" marL="0">
              <a:lnSpc>
                <a:spcPts val="1700"/>
              </a:lnSpc>
              <a:buNone/>
            </a:pPr>
            <a:r>
              <a:rPr lang="en-US" sz="1350" dirty="0">
                <a:solidFill>
                  <a:srgbClr val="B9CBDD"/>
                </a:solidFill>
                <a:latin typeface="Calibri" pitchFamily="34" charset="0"/>
                <a:ea typeface="Calibri" pitchFamily="34" charset="-122"/>
                <a:cs typeface="Calibri" pitchFamily="34" charset="-120"/>
              </a:rPr>
              <a:t>Safe, timely execution across a broad range of maintenance activities</a:t>
            </a:r>
            <a:endParaRPr lang="en-US" sz="1350" dirty="0"/>
          </a:p>
        </p:txBody>
      </p:sp>
      <p:sp>
        <p:nvSpPr>
          <p:cNvPr id="13" name="Shape 11"/>
          <p:cNvSpPr/>
          <p:nvPr/>
        </p:nvSpPr>
        <p:spPr>
          <a:xfrm>
            <a:off x="566928" y="4325112"/>
            <a:ext cx="457200" cy="457200"/>
          </a:xfrm>
          <a:prstGeom prst="ellipse">
            <a:avLst/>
          </a:prstGeom>
          <a:solidFill>
            <a:srgbClr val="1F4E79"/>
          </a:solidFill>
          <a:ln/>
        </p:spPr>
      </p:sp>
      <p:sp>
        <p:nvSpPr>
          <p:cNvPr id="14" name="Text 12"/>
          <p:cNvSpPr txBox="1"/>
          <p:nvPr/>
        </p:nvSpPr>
        <p:spPr>
          <a:xfrm>
            <a:off x="1207008" y="4206240"/>
            <a:ext cx="1371600" cy="71323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Develop</a:t>
            </a:r>
            <a:endParaRPr lang="en-US" sz="1600" dirty="0"/>
          </a:p>
        </p:txBody>
      </p:sp>
      <p:sp>
        <p:nvSpPr>
          <p:cNvPr id="15" name="Text 13"/>
          <p:cNvSpPr txBox="1"/>
          <p:nvPr/>
        </p:nvSpPr>
        <p:spPr>
          <a:xfrm>
            <a:off x="2670048" y="4206240"/>
            <a:ext cx="6309360" cy="713232"/>
          </a:xfrm>
          <a:prstGeom prst="rect">
            <a:avLst/>
          </a:prstGeom>
          <a:noFill/>
          <a:ln/>
        </p:spPr>
        <p:txBody>
          <a:bodyPr wrap="square" lIns="0" tIns="0" rIns="0" bIns="0" rtlCol="0" anchor="ctr"/>
          <a:lstStyle/>
          <a:p>
            <a:pPr indent="0" marL="0">
              <a:lnSpc>
                <a:spcPts val="1700"/>
              </a:lnSpc>
              <a:buNone/>
            </a:pPr>
            <a:r>
              <a:rPr lang="en-US" sz="1350" dirty="0">
                <a:solidFill>
                  <a:srgbClr val="B9CBDD"/>
                </a:solidFill>
                <a:latin typeface="Calibri" pitchFamily="34" charset="0"/>
                <a:ea typeface="Calibri" pitchFamily="34" charset="-122"/>
                <a:cs typeface="Calibri" pitchFamily="34" charset="-120"/>
              </a:rPr>
              <a:t>Deeper technical capability and stronger project-planning skills</a:t>
            </a:r>
            <a:endParaRPr lang="en-US" sz="1350" dirty="0"/>
          </a:p>
        </p:txBody>
      </p:sp>
      <p:sp>
        <p:nvSpPr>
          <p:cNvPr id="16" name="Shape 14"/>
          <p:cNvSpPr/>
          <p:nvPr/>
        </p:nvSpPr>
        <p:spPr>
          <a:xfrm>
            <a:off x="566928" y="5175504"/>
            <a:ext cx="8412480" cy="713232"/>
          </a:xfrm>
          <a:prstGeom prst="roundRect">
            <a:avLst>
              <a:gd name="adj" fmla="val 7692"/>
            </a:avLst>
          </a:prstGeom>
          <a:solidFill>
            <a:srgbClr val="147D7E"/>
          </a:solidFill>
          <a:ln/>
        </p:spPr>
      </p:sp>
      <p:sp>
        <p:nvSpPr>
          <p:cNvPr id="17" name="Text 15"/>
          <p:cNvSpPr txBox="1"/>
          <p:nvPr/>
        </p:nvSpPr>
        <p:spPr>
          <a:xfrm>
            <a:off x="822960" y="5175504"/>
            <a:ext cx="7900416" cy="713232"/>
          </a:xfrm>
          <a:prstGeom prst="rect">
            <a:avLst/>
          </a:prstGeom>
          <a:noFill/>
          <a:ln/>
        </p:spPr>
        <p:txBody>
          <a:bodyPr wrap="square" lIns="0" tIns="0" rIns="0" bIns="0" rtlCol="0" anchor="ctr"/>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Ready for greater responsibility, with continued development in technical independence, time management and documentation.</a:t>
            </a:r>
            <a:endParaRPr lang="en-US" sz="1300" dirty="0"/>
          </a:p>
        </p:txBody>
      </p:sp>
      <p:sp>
        <p:nvSpPr>
          <p:cNvPr id="18" name="Text 16"/>
          <p:cNvSpPr txBox="1"/>
          <p:nvPr/>
        </p:nvSpPr>
        <p:spPr>
          <a:xfrm>
            <a:off x="9345168" y="2066544"/>
            <a:ext cx="2276856"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19" name="Text 17"/>
          <p:cNvSpPr txBox="1"/>
          <p:nvPr/>
        </p:nvSpPr>
        <p:spPr>
          <a:xfrm>
            <a:off x="9345168" y="2688336"/>
            <a:ext cx="2276856" cy="292608"/>
          </a:xfrm>
          <a:prstGeom prst="rect">
            <a:avLst/>
          </a:prstGeom>
          <a:noFill/>
          <a:ln/>
        </p:spPr>
        <p:txBody>
          <a:bodyPr wrap="square" lIns="0" tIns="0" rIns="0" bIns="0" rtlCol="0" anchor="ctr"/>
          <a:lstStyle/>
          <a:p>
            <a:pPr indent="0" marL="0">
              <a:buNone/>
            </a:pPr>
            <a:r>
              <a:rPr lang="en-US" sz="1400" b="1" dirty="0">
                <a:solidFill>
                  <a:srgbClr val="B9CBDD"/>
                </a:solidFill>
                <a:latin typeface="Calibri" pitchFamily="34" charset="0"/>
                <a:ea typeface="Calibri" pitchFamily="34" charset="-122"/>
                <a:cs typeface="Calibri" pitchFamily="34" charset="-120"/>
              </a:rPr>
              <a:t>Aniekeme Umoren</a:t>
            </a:r>
            <a:endParaRPr lang="en-US" sz="1400" dirty="0"/>
          </a:p>
        </p:txBody>
      </p:sp>
      <p:sp>
        <p:nvSpPr>
          <p:cNvPr id="20" name="Text 18"/>
          <p:cNvSpPr txBox="1"/>
          <p:nvPr/>
        </p:nvSpPr>
        <p:spPr>
          <a:xfrm>
            <a:off x="9345168" y="2962656"/>
            <a:ext cx="2276856" cy="274320"/>
          </a:xfrm>
          <a:prstGeom prst="rect">
            <a:avLst/>
          </a:prstGeom>
          <a:noFill/>
          <a:ln/>
        </p:spPr>
        <p:txBody>
          <a:bodyPr wrap="square" lIns="0" tIns="0" rIns="0" bIns="0" rtlCol="0" anchor="ctr"/>
          <a:lstStyle/>
          <a:p>
            <a:pPr indent="0" marL="0">
              <a:buNone/>
            </a:pPr>
            <a:r>
              <a:rPr lang="en-US" sz="1300" dirty="0">
                <a:solidFill>
                  <a:srgbClr val="7FA8CE"/>
                </a:solidFill>
                <a:latin typeface="Calibri" pitchFamily="34" charset="0"/>
                <a:ea typeface="Calibri" pitchFamily="34" charset="-122"/>
                <a:cs typeface="Calibri" pitchFamily="34" charset="-120"/>
              </a:rPr>
              <a:t>Maintenance Engineer</a:t>
            </a:r>
            <a:endParaRPr lang="en-US" sz="1300" dirty="0"/>
          </a:p>
        </p:txBody>
      </p:sp>
      <p:sp>
        <p:nvSpPr>
          <p:cNvPr id="21" name="Text 19"/>
          <p:cNvSpPr txBox="1"/>
          <p:nvPr/>
        </p:nvSpPr>
        <p:spPr>
          <a:xfrm>
            <a:off x="9345168" y="3273552"/>
            <a:ext cx="2276856" cy="566928"/>
          </a:xfrm>
          <a:prstGeom prst="rect">
            <a:avLst/>
          </a:prstGeom>
          <a:noFill/>
          <a:ln/>
        </p:spPr>
        <p:txBody>
          <a:bodyPr wrap="square" lIns="0" tIns="0" rIns="0" bIns="0" rtlCol="0" anchor="t"/>
          <a:lstStyle/>
          <a:p>
            <a:pPr indent="0" marL="0">
              <a:lnSpc>
                <a:spcPts val="1600"/>
              </a:lnSpc>
              <a:buNone/>
            </a:pPr>
            <a:r>
              <a:rPr lang="en-US" sz="1200" dirty="0">
                <a:solidFill>
                  <a:srgbClr val="6E8CAB"/>
                </a:solidFill>
                <a:latin typeface="Calibri" pitchFamily="34" charset="0"/>
                <a:ea typeface="Calibri" pitchFamily="34" charset="-122"/>
                <a:cs typeface="Calibri" pitchFamily="34" charset="-120"/>
              </a:rPr>
              <a:t>NAVGAS Limited</a:t>
            </a:r>
            <a:endParaRPr lang="en-US" sz="1200" dirty="0"/>
          </a:p>
          <a:p>
            <a:pPr indent="0" marL="0">
              <a:lnSpc>
                <a:spcPts val="1600"/>
              </a:lnSpc>
              <a:buNone/>
            </a:pPr>
            <a:r>
              <a:rPr lang="en-US" sz="1200" dirty="0">
                <a:solidFill>
                  <a:srgbClr val="6E8CAB"/>
                </a:solidFill>
                <a:latin typeface="Calibri" pitchFamily="34" charset="0"/>
                <a:ea typeface="Calibri" pitchFamily="34" charset="-122"/>
                <a:cs typeface="Calibri" pitchFamily="34" charset="-120"/>
              </a:rPr>
              <a:t>Maintenance &amp; Reliability</a:t>
            </a:r>
            <a:endParaRPr lang="en-US" sz="1200" dirty="0"/>
          </a:p>
        </p:txBody>
      </p:sp>
      <p:sp>
        <p:nvSpPr>
          <p:cNvPr id="22" name="Text 20"/>
          <p:cNvSpPr txBox="1"/>
          <p:nvPr/>
        </p:nvSpPr>
        <p:spPr>
          <a:xfrm>
            <a:off x="9345168" y="3950208"/>
            <a:ext cx="2276856" cy="274320"/>
          </a:xfrm>
          <a:prstGeom prst="rect">
            <a:avLst/>
          </a:prstGeom>
          <a:noFill/>
          <a:ln/>
        </p:spPr>
        <p:txBody>
          <a:bodyPr wrap="square" lIns="0" tIns="0" rIns="0" bIns="0" rtlCol="0" anchor="ctr"/>
          <a:lstStyle/>
          <a:p>
            <a:pPr indent="0" marL="0">
              <a:buNone/>
            </a:pPr>
            <a:r>
              <a:rPr lang="en-US" sz="1100" i="1" dirty="0">
                <a:solidFill>
                  <a:srgbClr val="6E8CAB"/>
                </a:solidFill>
                <a:latin typeface="Calibri" pitchFamily="34" charset="0"/>
                <a:ea typeface="Calibri" pitchFamily="34" charset="-122"/>
                <a:cs typeface="Calibri" pitchFamily="34" charset="-120"/>
              </a:rPr>
              <a:t>28 August 2026</a:t>
            </a:r>
            <a:endParaRPr lang="en-US" sz="1100" dirty="0"/>
          </a:p>
        </p:txBody>
      </p:sp>
      <p:sp>
        <p:nvSpPr>
          <p:cNvPr id="24" name="Text 21"/>
          <p:cNvSpPr txBox="1"/>
          <p:nvPr/>
        </p:nvSpPr>
        <p:spPr>
          <a:xfrm>
            <a:off x="566928" y="6528816"/>
            <a:ext cx="4572000" cy="256032"/>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NAVGAS  ·  Maintenance &amp; Reliability</a:t>
            </a:r>
            <a:endParaRPr lang="en-US" sz="900" dirty="0"/>
          </a:p>
        </p:txBody>
      </p:sp>
      <p:sp>
        <p:nvSpPr>
          <p:cNvPr id="25" name="Text 22"/>
          <p:cNvSpPr txBox="1"/>
          <p:nvPr/>
        </p:nvSpPr>
        <p:spPr>
          <a:xfrm>
            <a:off x="7050024" y="6528816"/>
            <a:ext cx="4572000" cy="256032"/>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6-Month Performance Review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NAVGAS Limited, Maintenance and Reliability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6-Month Performance Review — Maintenance Engineer</dc:title>
  <dc:subject>PptxGenJS Presentation</dc:subject>
  <dc:creator>Aniekeme Umoren</dc:creator>
  <cp:lastModifiedBy>Aniekeme Umoren</cp:lastModifiedBy>
  <cp:revision>1</cp:revision>
  <dcterms:created xsi:type="dcterms:W3CDTF">2026-08-27T15:38:02Z</dcterms:created>
  <dcterms:modified xsi:type="dcterms:W3CDTF">2026-08-27T15:38:02Z</dcterms:modified>
</cp:coreProperties>
</file>