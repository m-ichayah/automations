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legal duty, not the theory: Climate Change Act 2021 section 24 makes an annual
emissions report compulsory for any entity with 50 or more employees. This is a filing, not a gesture.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Analogy, used once: Scope 1 is the smoke from your own chimney. Scope 2 is the smoke from the
power station that runs your lights. Scope 3 is everyone else's chimney that exists because of you.
Do not use a second analogy later — it reads as condescension.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FCC = Fluid Catalytic Cracking; its regenerator burns coke off the catalyst, so it has no fuel meter
and teams that count fuel meters miss a fifth of the site. SMR = Steam Methane Reforming.
Both acronyms are defined on the slide the first time they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room will remember. Give it time and say the last line slowly.
Scope 1 + 2 = 1.68 Mt = 8.8% of 19.2 Mt. Category 11 alone = 16.7 Mt = 87%.
Reporting Scope 1 and 2 alone and calling it a footprint is the standard criticism of refiners.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decision, not a summary. Do not re-list the scopes.
If asked about cost ranking: the standard tool is a marginal abatement cost curve; the alternatives
are a simple payback ranking or an internal carbon price applied to every investment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QUESTION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810512"/>
            <a:ext cx="98115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Preparing a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Greenhouse Gas Inventory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640080" y="3803904"/>
            <a:ext cx="2194560" cy="82296"/>
          </a:xfrm>
          <a:prstGeom prst="rect">
            <a:avLst/>
          </a:prstGeom>
          <a:solidFill>
            <a:srgbClr val="4C86C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059936"/>
            <a:ext cx="9628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What to count, where to draw the line, and what the answer changes.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577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Worked on a 120,000 barrel-per-day Nigerian refinery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7FA8C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GROUP C  (29 MEMBERS)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6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FIRST DECISION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Three scopes. One fence.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0078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scopes exist so that two companies never count the same tonne twice.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22904" cy="3017520"/>
          </a:xfrm>
          <a:prstGeom prst="roundRect">
            <a:avLst>
              <a:gd name="adj" fmla="val 1818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27000" dist="25400" dir="5400000">
              <a:srgbClr val="8A99AC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542032"/>
            <a:ext cx="280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50976" y="3017520"/>
            <a:ext cx="2801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Direct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50976" y="3456432"/>
            <a:ext cx="28011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Everything burned, flared,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vented or leaked inside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your fence.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3024" y="2286000"/>
            <a:ext cx="3422904" cy="3017520"/>
          </a:xfrm>
          <a:prstGeom prst="roundRect">
            <a:avLst>
              <a:gd name="adj" fmla="val 1818"/>
            </a:avLst>
          </a:prstGeom>
          <a:solidFill>
            <a:srgbClr val="4C86C6"/>
          </a:solidFill>
          <a:ln/>
          <a:effectLst>
            <a:outerShdw sx="100000" sy="100000" kx="0" ky="0" algn="bl" rotWithShape="0" blurRad="127000" dist="25400" dir="5400000">
              <a:srgbClr val="8A99AC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93920" y="2542032"/>
            <a:ext cx="280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93920" y="3017520"/>
            <a:ext cx="2801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Indirect — energy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93920" y="3456432"/>
            <a:ext cx="28011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power station that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runs your lights.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125968" y="2286000"/>
            <a:ext cx="3422904" cy="3017520"/>
          </a:xfrm>
          <a:prstGeom prst="roundRect">
            <a:avLst>
              <a:gd name="adj" fmla="val 1818"/>
            </a:avLst>
          </a:prstGeom>
          <a:solidFill>
            <a:srgbClr val="DCE8F5"/>
          </a:solidFill>
          <a:ln/>
          <a:effectLst>
            <a:outerShdw sx="100000" sy="100000" kx="0" ky="0" algn="bl" rotWithShape="0" blurRad="127000" dist="25400" dir="5400000">
              <a:srgbClr val="8A99AC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36864" y="2542032"/>
            <a:ext cx="280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436864" y="3017520"/>
            <a:ext cx="2801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Indirect — everything else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6864" y="3456432"/>
            <a:ext cx="28011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Your crude supplier, and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vehicle burning the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diesel you sold.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1 and 2 are what you control. Scope 3 is what you cause.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" y="62727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8B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Preparing a GHG inventory for a typical refinery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000232" y="62727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6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1 — 1.60 MILLION TONNES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Two sources carry four fifths of it.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0078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refinery is not one chimney. It is about a dozen distinct mechanisms.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Fired heaters, boilers and CHP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846320" y="2313432"/>
            <a:ext cx="4663440" cy="219456"/>
          </a:xfrm>
          <a:prstGeom prst="roundRect">
            <a:avLst>
              <a:gd name="adj" fmla="val 16667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9637776" y="22128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60%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314432" y="221284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0.96 Mt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724912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FCC catalyst regeneration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846320" y="2825496"/>
            <a:ext cx="1554480" cy="219456"/>
          </a:xfrm>
          <a:prstGeom prst="roundRect">
            <a:avLst>
              <a:gd name="adj" fmla="val 16667"/>
            </a:avLst>
          </a:prstGeom>
          <a:solidFill>
            <a:srgbClr val="4C86C6"/>
          </a:solidFill>
          <a:ln/>
        </p:spPr>
      </p:sp>
      <p:sp>
        <p:nvSpPr>
          <p:cNvPr id="11" name="Text 9"/>
          <p:cNvSpPr/>
          <p:nvPr/>
        </p:nvSpPr>
        <p:spPr>
          <a:xfrm>
            <a:off x="6528816" y="272491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20%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314432" y="272491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0.32 Mt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236976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Hydrogen plant (SMR)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3337560"/>
            <a:ext cx="699516" cy="219456"/>
          </a:xfrm>
          <a:prstGeom prst="roundRect">
            <a:avLst>
              <a:gd name="adj" fmla="val 16667"/>
            </a:avLst>
          </a:prstGeom>
          <a:solidFill>
            <a:srgbClr val="A8C6E5"/>
          </a:solidFill>
          <a:ln/>
        </p:spPr>
      </p:sp>
      <p:sp>
        <p:nvSpPr>
          <p:cNvPr id="15" name="Text 13"/>
          <p:cNvSpPr/>
          <p:nvPr/>
        </p:nvSpPr>
        <p:spPr>
          <a:xfrm>
            <a:off x="5673852" y="32369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9%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314432" y="3236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0.14 Mt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74904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Flaring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49624"/>
            <a:ext cx="310896" cy="219456"/>
          </a:xfrm>
          <a:prstGeom prst="roundRect">
            <a:avLst>
              <a:gd name="adj" fmla="val 16667"/>
            </a:avLst>
          </a:prstGeom>
          <a:solidFill>
            <a:srgbClr val="A8C6E5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74904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4%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314432" y="374904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0.064 Mt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261104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Fugitives and venting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846320" y="4361688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A8C6E5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426110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3%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314432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0.048 Mt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0080" y="47731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Sulphur, coker, water, mobile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846320" y="4873752"/>
            <a:ext cx="310896" cy="219456"/>
          </a:xfrm>
          <a:prstGeom prst="roundRect">
            <a:avLst>
              <a:gd name="adj" fmla="val 16667"/>
            </a:avLst>
          </a:prstGeom>
          <a:solidFill>
            <a:srgbClr val="A8C6E5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477316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4%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314432" y="477316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0.064 Mt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5358384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DCE8F5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358384"/>
            <a:ext cx="10360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two most often missed:  </a:t>
            </a:r>
            <a:pPr indent="0" marL="0">
              <a:buNone/>
            </a:pPr>
            <a:r>
              <a:rPr lang="en-US" sz="16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FCC burns no purchased fuel, and the hydrogen plant releases CO₂ from the reaction, not the flame.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0080" y="62727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8B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Preparing a GHG inventory for a typical refinery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000232" y="62727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NUMBER THAT CHANGES THE CONVERSATION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87% of the footprint leaves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gate in a tanker.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905430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615184"/>
            <a:ext cx="90543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8.3%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545510" y="2615184"/>
            <a:ext cx="43635" cy="1051560"/>
          </a:xfrm>
          <a:prstGeom prst="rect">
            <a:avLst/>
          </a:prstGeom>
          <a:solidFill>
            <a:srgbClr val="A8C6E5"/>
          </a:solidFill>
          <a:ln/>
        </p:spPr>
      </p:sp>
      <p:sp>
        <p:nvSpPr>
          <p:cNvPr id="7" name="Shape 5"/>
          <p:cNvSpPr/>
          <p:nvPr/>
        </p:nvSpPr>
        <p:spPr>
          <a:xfrm>
            <a:off x="1589145" y="2615184"/>
            <a:ext cx="9490649" cy="1051560"/>
          </a:xfrm>
          <a:prstGeom prst="rect">
            <a:avLst/>
          </a:prstGeom>
          <a:solidFill>
            <a:srgbClr val="4C86C6"/>
          </a:solidFill>
          <a:ln/>
        </p:spPr>
      </p:sp>
      <p:sp>
        <p:nvSpPr>
          <p:cNvPr id="8" name="Text 6"/>
          <p:cNvSpPr/>
          <p:nvPr/>
        </p:nvSpPr>
        <p:spPr>
          <a:xfrm>
            <a:off x="1589145" y="2615184"/>
            <a:ext cx="949064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87.0%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1079794" y="2615184"/>
            <a:ext cx="458169" cy="1051560"/>
          </a:xfrm>
          <a:prstGeom prst="rect">
            <a:avLst/>
          </a:prstGeom>
          <a:solidFill>
            <a:srgbClr val="17395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4032504"/>
            <a:ext cx="237744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0704" y="3950208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63840" y="39502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1.60 Mt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237744" cy="237744"/>
          </a:xfrm>
          <a:prstGeom prst="rect">
            <a:avLst/>
          </a:prstGeom>
          <a:solidFill>
            <a:srgbClr val="A8C6E5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4352544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63840" y="435254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0.08 Mt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837176"/>
            <a:ext cx="237744" cy="237744"/>
          </a:xfrm>
          <a:prstGeom prst="rect">
            <a:avLst/>
          </a:prstGeom>
          <a:solidFill>
            <a:srgbClr val="4C86C6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75488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3 — customers burning our fuel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863840" y="47548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16.7 Mt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5239512"/>
            <a:ext cx="237744" cy="237744"/>
          </a:xfrm>
          <a:prstGeom prst="rect">
            <a:avLst/>
          </a:prstGeom>
          <a:solidFill>
            <a:srgbClr val="17395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0704" y="5157216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Scope 3 — all other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863840" y="515721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0.80 Mt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784080" y="3950208"/>
            <a:ext cx="1764792" cy="1609344"/>
          </a:xfrm>
          <a:prstGeom prst="roundRect">
            <a:avLst>
              <a:gd name="adj" fmla="val 3409"/>
            </a:avLst>
          </a:prstGeom>
          <a:solidFill>
            <a:srgbClr val="17395F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114800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19.2 Mt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966960" y="4754880"/>
            <a:ext cx="1399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total CO₂e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across all scopes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5742432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C6E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efficiency lever works on the 8.8%. Moving the 87% is a question about what we sell.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6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FROM INVENTORY TO DECISION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Measure it well, then act on it.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0078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An inventory that changes no decision was a bookkeeping exercise.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4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HOW WE MEASURE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596896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26791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35024" y="25968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Continuous monitoring in the stack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255264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E8F5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" y="3337560"/>
            <a:ext cx="384048" cy="384048"/>
          </a:xfrm>
          <a:prstGeom prst="ellipse">
            <a:avLst/>
          </a:prstGeom>
          <a:solidFill>
            <a:srgbClr val="4C86C6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35024" y="325526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Mass balance — carbon in, carbon out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391363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E8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995928"/>
            <a:ext cx="384048" cy="384048"/>
          </a:xfrm>
          <a:prstGeom prst="ellipse">
            <a:avLst/>
          </a:prstGeom>
          <a:solidFill>
            <a:srgbClr val="4C86C6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35024" y="39136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Engineering calculation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E8F5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4654296"/>
            <a:ext cx="384048" cy="384048"/>
          </a:xfrm>
          <a:prstGeom prst="ellipse">
            <a:avLst/>
          </a:prstGeom>
          <a:solidFill>
            <a:srgbClr val="4C86C6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654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E8F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335024" y="4572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Published emission factor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212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Best evidence at the top. Say which you used.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2212848"/>
            <a:ext cx="5056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40" kern="0" dirty="0">
                <a:solidFill>
                  <a:srgbClr val="4C86C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WHAT WE DO ABOUT IT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2596896"/>
            <a:ext cx="505663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48272" y="25968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Energy and heat integration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241280" y="25968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3–8%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92240" y="3255264"/>
            <a:ext cx="505663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48272" y="325526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Methane leak detection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0241280" y="32552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1–3%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492240" y="3913632"/>
            <a:ext cx="505663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8272" y="39136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Flare gas recovery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0241280" y="391363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2–4%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492240" y="4572000"/>
            <a:ext cx="505663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8C6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48272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0141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Capture on the hydrogen plant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0241280" y="45720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7–9%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492240" y="521208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7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Cut to Scope 1, cheapest first.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" y="5614416"/>
            <a:ext cx="10908792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614416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An inventory is a strategy document that happens to be written in tonnes.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Refinery GHG Inventory</dc:title>
  <dc:subject>PptxGenJS Presentation</dc:subject>
  <dc:creator>Group C (29 Members)</dc:creator>
  <cp:lastModifiedBy>Group C (29 Members)</cp:lastModifiedBy>
  <cp:revision>1</cp:revision>
  <dcterms:created xsi:type="dcterms:W3CDTF">2026-08-27T12:09:23Z</dcterms:created>
  <dcterms:modified xsi:type="dcterms:W3CDTF">2026-08-27T12:09:23Z</dcterms:modified>
</cp:coreProperties>
</file>