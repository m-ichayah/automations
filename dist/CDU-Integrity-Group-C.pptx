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open with methodology. Open with the event on slide 2.
Confirm before presenting: the official Dangote logo has replaced the slot at top-left.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money and the days before any technical word. Everyone in the room understands loss.
Land the last line slowly: luck is not a barrier. That sentence is the reason for the next 40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Put it up, say the sentence, and come back to it between sections.
Three things failed, so we analyse why. What we learn becomes risk that has to be tracked. Tracked risk
generates work on live hydrocarbon equipment, so that work has to be authorised. And the permit authorises
a task that still has to be done safely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minutes for this section. Slow down on the latent roots — that is where the value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template once, here, so you never have to explain it again on slides 6, 7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the whole point: the inspection programme was competent and aimed at the wrong location.
A 15-fold step change in corrosion rate was visible in the data. Nobody owned the question.
For the engineers: TMLs sat on the bottom of the horizontal run, catching erosion and water drop-out.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ignition line: ignition control was never tested, because there was no ignition source. That is not a barrier.
For the managers: maintenance did nothing wrong on any of the three jobs. The system had no way to add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line in the deck: a safety-relevant measurement was switched off by a reasonable person
solving a reasonable problem, and nothing in the organisation would ever ask for it back.
Ask the room: how many inhibits are live on your plant right now, and who could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presentation. Pause after 'and had no route by which anyone would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The matrix two slides on is what they will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do the persuasive work. The inherent-to-residual split shows what the controls buy.
The owner column is the difference between a register and a wish list — a department name there is a wish list.
Full columns in the handout: mechanism, existing barriers, IOW, technique, action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graphic the managers will remember. Give it time.
Analogy, used once: risk-based inspection is spending your security budget where the exposure actually is,
rather than putting one guard on every door.
Markers 1 and 2 share the inherent cell at P5/C4 — say so, it looks like an error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Resist explaining the form. Explain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highlighted lifecycle stages — Isolate, Revalidate, Audit — are what the next slide is about.
The pump seal job needs three permit types at once: Cold Work, Line Breaking, Electrical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chosen because they have the worst incident histories, not because they are hard.
If you only have time for one, take shift handover — everybody in the room has lived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handover moment from Deliverable 3 to Deliverable 4. Rehearse it.
The permit authorises the job. It does not perform it. What the fitter actually does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Do not read all twelve steps — take the four that carry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is the one to dwell on. Most crews have never been shown pyrophoric iron sulfide, and it needs no
ignition source at all. If you take one hazard out of this deck into your own plant, take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slide, high impact. Read two of the left-hand entries aloud in a bored voice, then their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map one last time. This is the transition into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decisions, not summary. Do not re-list what you covered.
Say the last line and stop talking. Let them ask the first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glossary removes the anxiety that stops non-technical attendees from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566928" y="566928"/>
            <a:ext cx="2194560" cy="1207008"/>
          </a:xfrm>
          <a:prstGeom prst="roundRect">
            <a:avLst>
              <a:gd name="adj" fmla="val 3788"/>
            </a:avLst>
          </a:prstGeom>
          <a:solidFill>
            <a:srgbClr val="FFFFFF"/>
          </a:solidFill>
          <a:ln/>
        </p:spPr>
      </p:sp>
      <p:pic>
        <p:nvPicPr>
          <p:cNvPr id="3" name="Image 0" descr="/home/user/Automations/assets/.logo-trimmed.png">    </p:cNvPr>
          <p:cNvPicPr>
            <a:picLocks noChangeAspect="1"/>
          </p:cNvPicPr>
          <p:nvPr/>
        </p:nvPicPr>
        <p:blipFill>
          <a:blip r:embed="rId1"/>
          <a:srcRect l="0" r="0" t="0" b="0"/>
          <a:stretch/>
        </p:blipFill>
        <p:spPr>
          <a:xfrm>
            <a:off x="749808" y="722376"/>
            <a:ext cx="1828800" cy="896112"/>
          </a:xfrm>
          <a:prstGeom prst="rect">
            <a:avLst/>
          </a:prstGeom>
        </p:spPr>
      </p:pic>
      <p:sp>
        <p:nvSpPr>
          <p:cNvPr id="4" name="Text 1"/>
          <p:cNvSpPr/>
          <p:nvPr/>
        </p:nvSpPr>
        <p:spPr>
          <a:xfrm>
            <a:off x="566928" y="2139696"/>
            <a:ext cx="11055096" cy="274320"/>
          </a:xfrm>
          <a:prstGeom prst="rect">
            <a:avLst/>
          </a:prstGeom>
          <a:noFill/>
          <a:ln/>
        </p:spPr>
        <p:txBody>
          <a:bodyPr wrap="square" lIns="0" tIns="0" rIns="0" bIns="0" rtlCol="0" anchor="ctr"/>
          <a:lstStyle/>
          <a:p>
            <a:pPr indent="0" marL="0">
              <a:buNone/>
            </a:pPr>
            <a:r>
              <a:rPr lang="en-US" sz="1150" b="1" spc="200" kern="0" dirty="0">
                <a:solidFill>
                  <a:srgbClr val="7FA8CE"/>
                </a:solidFill>
                <a:latin typeface="Calibri" pitchFamily="34" charset="0"/>
                <a:ea typeface="Calibri" pitchFamily="34" charset="-122"/>
                <a:cs typeface="Calibri" pitchFamily="34" charset="-120"/>
              </a:rPr>
              <a:t>CRUDE DISTILLATION UNIT  ·  INTEGRITY CASE STUDY</a:t>
            </a:r>
            <a:endParaRPr lang="en-US" sz="1150" dirty="0"/>
          </a:p>
        </p:txBody>
      </p:sp>
      <p:sp>
        <p:nvSpPr>
          <p:cNvPr id="5" name="Text 2"/>
          <p:cNvSpPr/>
          <p:nvPr/>
        </p:nvSpPr>
        <p:spPr>
          <a:xfrm>
            <a:off x="566928" y="2432304"/>
            <a:ext cx="11055096"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From Failure to Control</a:t>
            </a:r>
            <a:endParaRPr lang="en-US" sz="5000" dirty="0"/>
          </a:p>
        </p:txBody>
      </p:sp>
      <p:sp>
        <p:nvSpPr>
          <p:cNvPr id="6" name="Text 3"/>
          <p:cNvSpPr/>
          <p:nvPr/>
        </p:nvSpPr>
        <p:spPr>
          <a:xfrm>
            <a:off x="566928" y="3401568"/>
            <a:ext cx="11055096" cy="329184"/>
          </a:xfrm>
          <a:prstGeom prst="rect">
            <a:avLst/>
          </a:prstGeom>
          <a:noFill/>
          <a:ln/>
        </p:spPr>
        <p:txBody>
          <a:bodyPr wrap="square" lIns="0" tIns="0" rIns="0" bIns="0" rtlCol="0" anchor="ctr"/>
          <a:lstStyle/>
          <a:p>
            <a:pPr indent="0" marL="0">
              <a:buNone/>
            </a:pPr>
            <a:r>
              <a:rPr lang="en-US" sz="1600" dirty="0">
                <a:solidFill>
                  <a:srgbClr val="B9CBDD"/>
                </a:solidFill>
                <a:latin typeface="Calibri" pitchFamily="34" charset="0"/>
                <a:ea typeface="Calibri" pitchFamily="34" charset="-122"/>
                <a:cs typeface="Calibri" pitchFamily="34" charset="-120"/>
              </a:rPr>
              <a:t>Root cause analysis · risk register · permit to work · job safety analysis</a:t>
            </a:r>
            <a:endParaRPr lang="en-US" sz="1600" dirty="0"/>
          </a:p>
        </p:txBody>
      </p:sp>
      <p:sp>
        <p:nvSpPr>
          <p:cNvPr id="7" name="Text 4"/>
          <p:cNvSpPr/>
          <p:nvPr/>
        </p:nvSpPr>
        <p:spPr>
          <a:xfrm>
            <a:off x="566928" y="3749040"/>
            <a:ext cx="11055096" cy="292608"/>
          </a:xfrm>
          <a:prstGeom prst="rect">
            <a:avLst/>
          </a:prstGeom>
          <a:noFill/>
          <a:ln/>
        </p:spPr>
        <p:txBody>
          <a:bodyPr wrap="square" lIns="0" tIns="0" rIns="0" bIns="0" rtlCol="0" anchor="ctr"/>
          <a:lstStyle/>
          <a:p>
            <a:pPr indent="0" marL="0">
              <a:buNone/>
            </a:pPr>
            <a:r>
              <a:rPr lang="en-US" sz="1300" i="1" dirty="0">
                <a:solidFill>
                  <a:srgbClr val="88A6C4"/>
                </a:solidFill>
                <a:latin typeface="Calibri" pitchFamily="34" charset="0"/>
                <a:ea typeface="Calibri" pitchFamily="34" charset="-122"/>
                <a:cs typeface="Calibri" pitchFamily="34" charset="-120"/>
              </a:rPr>
              <a:t>One unit. One causal chain. Four deliverables that hand over to each other.</a:t>
            </a:r>
            <a:endParaRPr lang="en-US" sz="1300" dirty="0"/>
          </a:p>
        </p:txBody>
      </p:sp>
      <p:sp>
        <p:nvSpPr>
          <p:cNvPr id="8" name="Text 5"/>
          <p:cNvSpPr/>
          <p:nvPr/>
        </p:nvSpPr>
        <p:spPr>
          <a:xfrm>
            <a:off x="566928" y="4700016"/>
            <a:ext cx="11055096" cy="256032"/>
          </a:xfrm>
          <a:prstGeom prst="rect">
            <a:avLst/>
          </a:prstGeom>
          <a:noFill/>
          <a:ln/>
        </p:spPr>
        <p:txBody>
          <a:bodyPr wrap="square" lIns="0" tIns="0" rIns="0" bIns="0" rtlCol="0" anchor="ctr"/>
          <a:lstStyle/>
          <a:p>
            <a:pPr indent="0" marL="0">
              <a:buNone/>
            </a:pPr>
            <a:r>
              <a:rPr lang="en-US" sz="1050" b="1" spc="160" kern="0" dirty="0">
                <a:solidFill>
                  <a:srgbClr val="7FA8CE"/>
                </a:solidFill>
                <a:latin typeface="Calibri" pitchFamily="34" charset="0"/>
                <a:ea typeface="Calibri" pitchFamily="34" charset="-122"/>
                <a:cs typeface="Calibri" pitchFamily="34" charset="-120"/>
              </a:rPr>
              <a:t>PRESENTED BY  ·  GROUP C  (29 MEMBERS)</a:t>
            </a:r>
            <a:endParaRPr lang="en-US" sz="1050" dirty="0"/>
          </a:p>
        </p:txBody>
      </p:sp>
      <p:sp>
        <p:nvSpPr>
          <p:cNvPr id="9" name="Shape 6"/>
          <p:cNvSpPr/>
          <p:nvPr/>
        </p:nvSpPr>
        <p:spPr>
          <a:xfrm>
            <a:off x="566928" y="5029200"/>
            <a:ext cx="2615184" cy="694944"/>
          </a:xfrm>
          <a:prstGeom prst="roundRect">
            <a:avLst>
              <a:gd name="adj" fmla="val 6579"/>
            </a:avLst>
          </a:prstGeom>
          <a:solidFill>
            <a:srgbClr val="12395F"/>
          </a:solidFill>
          <a:ln w="9525">
            <a:solidFill>
              <a:srgbClr val="2C5580"/>
            </a:solidFill>
            <a:prstDash val="solid"/>
          </a:ln>
        </p:spPr>
      </p:sp>
      <p:sp>
        <p:nvSpPr>
          <p:cNvPr id="10" name="Text 7"/>
          <p:cNvSpPr/>
          <p:nvPr/>
        </p:nvSpPr>
        <p:spPr>
          <a:xfrm>
            <a:off x="694944" y="5029200"/>
            <a:ext cx="2359152" cy="694944"/>
          </a:xfrm>
          <a:prstGeom prst="rect">
            <a:avLst/>
          </a:prstGeom>
          <a:noFill/>
          <a:ln/>
        </p:spPr>
        <p:txBody>
          <a:bodyPr wrap="square" lIns="0" tIns="0" rIns="0" bIns="0" rtlCol="0" anchor="ctr"/>
          <a:lstStyle/>
          <a:p>
            <a:pPr algn="ctr" indent="0" marL="0">
              <a:lnSpc>
                <a:spcPts val="1400"/>
              </a:lnSpc>
              <a:buNone/>
            </a:pPr>
            <a:r>
              <a:rPr lang="en-US" sz="1150" b="1" dirty="0">
                <a:solidFill>
                  <a:srgbClr val="DCE7F2"/>
                </a:solidFill>
                <a:latin typeface="Calibri" pitchFamily="34" charset="0"/>
                <a:ea typeface="Calibri" pitchFamily="34" charset="-122"/>
                <a:cs typeface="Calibri" pitchFamily="34" charset="-120"/>
              </a:rPr>
              <a:t>Abu Omosomi Joy</a:t>
            </a:r>
            <a:endParaRPr lang="en-US" sz="1150" dirty="0"/>
          </a:p>
        </p:txBody>
      </p:sp>
      <p:sp>
        <p:nvSpPr>
          <p:cNvPr id="11" name="Shape 8"/>
          <p:cNvSpPr/>
          <p:nvPr/>
        </p:nvSpPr>
        <p:spPr>
          <a:xfrm>
            <a:off x="3355848" y="5029200"/>
            <a:ext cx="2615184" cy="694944"/>
          </a:xfrm>
          <a:prstGeom prst="roundRect">
            <a:avLst>
              <a:gd name="adj" fmla="val 6579"/>
            </a:avLst>
          </a:prstGeom>
          <a:solidFill>
            <a:srgbClr val="12395F"/>
          </a:solidFill>
          <a:ln w="9525">
            <a:solidFill>
              <a:srgbClr val="2C5580"/>
            </a:solidFill>
            <a:prstDash val="solid"/>
          </a:ln>
        </p:spPr>
      </p:sp>
      <p:sp>
        <p:nvSpPr>
          <p:cNvPr id="12" name="Text 9"/>
          <p:cNvSpPr/>
          <p:nvPr/>
        </p:nvSpPr>
        <p:spPr>
          <a:xfrm>
            <a:off x="3483864" y="5029200"/>
            <a:ext cx="2359152" cy="694944"/>
          </a:xfrm>
          <a:prstGeom prst="rect">
            <a:avLst/>
          </a:prstGeom>
          <a:noFill/>
          <a:ln/>
        </p:spPr>
        <p:txBody>
          <a:bodyPr wrap="square" lIns="0" tIns="0" rIns="0" bIns="0" rtlCol="0" anchor="ctr"/>
          <a:lstStyle/>
          <a:p>
            <a:pPr algn="ctr" indent="0" marL="0">
              <a:lnSpc>
                <a:spcPts val="1400"/>
              </a:lnSpc>
              <a:buNone/>
            </a:pPr>
            <a:r>
              <a:rPr lang="en-US" sz="1150" b="1" dirty="0">
                <a:solidFill>
                  <a:srgbClr val="DCE7F2"/>
                </a:solidFill>
                <a:latin typeface="Calibri" pitchFamily="34" charset="0"/>
                <a:ea typeface="Calibri" pitchFamily="34" charset="-122"/>
                <a:cs typeface="Calibri" pitchFamily="34" charset="-120"/>
              </a:rPr>
              <a:t>Iniovosa Michayah Olamide</a:t>
            </a:r>
            <a:endParaRPr lang="en-US" sz="1150" dirty="0"/>
          </a:p>
        </p:txBody>
      </p:sp>
      <p:sp>
        <p:nvSpPr>
          <p:cNvPr id="13" name="Shape 10"/>
          <p:cNvSpPr/>
          <p:nvPr/>
        </p:nvSpPr>
        <p:spPr>
          <a:xfrm>
            <a:off x="6144768" y="5029200"/>
            <a:ext cx="2615184" cy="694944"/>
          </a:xfrm>
          <a:prstGeom prst="roundRect">
            <a:avLst>
              <a:gd name="adj" fmla="val 6579"/>
            </a:avLst>
          </a:prstGeom>
          <a:solidFill>
            <a:srgbClr val="12395F"/>
          </a:solidFill>
          <a:ln w="9525">
            <a:solidFill>
              <a:srgbClr val="2C5580"/>
            </a:solidFill>
            <a:prstDash val="solid"/>
          </a:ln>
        </p:spPr>
      </p:sp>
      <p:sp>
        <p:nvSpPr>
          <p:cNvPr id="14" name="Text 11"/>
          <p:cNvSpPr/>
          <p:nvPr/>
        </p:nvSpPr>
        <p:spPr>
          <a:xfrm>
            <a:off x="6272784" y="5029200"/>
            <a:ext cx="2359152" cy="694944"/>
          </a:xfrm>
          <a:prstGeom prst="rect">
            <a:avLst/>
          </a:prstGeom>
          <a:noFill/>
          <a:ln/>
        </p:spPr>
        <p:txBody>
          <a:bodyPr wrap="square" lIns="0" tIns="0" rIns="0" bIns="0" rtlCol="0" anchor="ctr"/>
          <a:lstStyle/>
          <a:p>
            <a:pPr algn="ctr" indent="0" marL="0">
              <a:lnSpc>
                <a:spcPts val="1400"/>
              </a:lnSpc>
              <a:buNone/>
            </a:pPr>
            <a:r>
              <a:rPr lang="en-US" sz="1150" b="1" dirty="0">
                <a:solidFill>
                  <a:srgbClr val="DCE7F2"/>
                </a:solidFill>
                <a:latin typeface="Calibri" pitchFamily="34" charset="0"/>
                <a:ea typeface="Calibri" pitchFamily="34" charset="-122"/>
                <a:cs typeface="Calibri" pitchFamily="34" charset="-120"/>
              </a:rPr>
              <a:t>Abdulkadir Garba Yusuf Aondoakaa</a:t>
            </a:r>
            <a:endParaRPr lang="en-US" sz="1150" dirty="0"/>
          </a:p>
        </p:txBody>
      </p:sp>
      <p:sp>
        <p:nvSpPr>
          <p:cNvPr id="15" name="Shape 12"/>
          <p:cNvSpPr/>
          <p:nvPr/>
        </p:nvSpPr>
        <p:spPr>
          <a:xfrm>
            <a:off x="8933688" y="5029200"/>
            <a:ext cx="2615184" cy="694944"/>
          </a:xfrm>
          <a:prstGeom prst="roundRect">
            <a:avLst>
              <a:gd name="adj" fmla="val 6579"/>
            </a:avLst>
          </a:prstGeom>
          <a:solidFill>
            <a:srgbClr val="12395F"/>
          </a:solidFill>
          <a:ln w="9525">
            <a:solidFill>
              <a:srgbClr val="2C5580"/>
            </a:solidFill>
            <a:prstDash val="solid"/>
          </a:ln>
        </p:spPr>
      </p:sp>
      <p:sp>
        <p:nvSpPr>
          <p:cNvPr id="16" name="Text 13"/>
          <p:cNvSpPr/>
          <p:nvPr/>
        </p:nvSpPr>
        <p:spPr>
          <a:xfrm>
            <a:off x="9061704" y="5029200"/>
            <a:ext cx="2359152" cy="694944"/>
          </a:xfrm>
          <a:prstGeom prst="rect">
            <a:avLst/>
          </a:prstGeom>
          <a:noFill/>
          <a:ln/>
        </p:spPr>
        <p:txBody>
          <a:bodyPr wrap="square" lIns="0" tIns="0" rIns="0" bIns="0" rtlCol="0" anchor="ctr"/>
          <a:lstStyle/>
          <a:p>
            <a:pPr algn="ctr" indent="0" marL="0">
              <a:lnSpc>
                <a:spcPts val="1400"/>
              </a:lnSpc>
              <a:buNone/>
            </a:pPr>
            <a:r>
              <a:rPr lang="en-US" sz="1150" b="1" dirty="0">
                <a:solidFill>
                  <a:srgbClr val="DCE7F2"/>
                </a:solidFill>
                <a:latin typeface="Calibri" pitchFamily="34" charset="0"/>
                <a:ea typeface="Calibri" pitchFamily="34" charset="-122"/>
                <a:cs typeface="Calibri" pitchFamily="34" charset="-120"/>
              </a:rPr>
              <a:t>Doochivir Christopher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66928" y="713232"/>
            <a:ext cx="11055096" cy="274320"/>
          </a:xfrm>
          <a:prstGeom prst="rect">
            <a:avLst/>
          </a:prstGeom>
          <a:noFill/>
          <a:ln/>
        </p:spPr>
        <p:txBody>
          <a:bodyPr wrap="square" lIns="0" tIns="0" rIns="0" bIns="0" rtlCol="0" anchor="ctr"/>
          <a:lstStyle/>
          <a:p>
            <a:pPr indent="0" marL="0">
              <a:buNone/>
            </a:pPr>
            <a:r>
              <a:rPr lang="en-US" sz="1200" b="1" spc="200" kern="0" dirty="0">
                <a:solidFill>
                  <a:srgbClr val="7FA8CE"/>
                </a:solidFill>
                <a:latin typeface="Calibri" pitchFamily="34" charset="0"/>
                <a:ea typeface="Calibri" pitchFamily="34" charset="-122"/>
                <a:cs typeface="Calibri" pitchFamily="34" charset="-120"/>
              </a:rPr>
              <a:t>TWELVE MONTHS ON ONE CRUDE DISTILLATION UNIT</a:t>
            </a:r>
            <a:endParaRPr lang="en-US" sz="1200" dirty="0"/>
          </a:p>
        </p:txBody>
      </p:sp>
      <p:sp>
        <p:nvSpPr>
          <p:cNvPr id="3" name="Text 1"/>
          <p:cNvSpPr/>
          <p:nvPr/>
        </p:nvSpPr>
        <p:spPr>
          <a:xfrm>
            <a:off x="566928" y="1042416"/>
            <a:ext cx="11055096" cy="713232"/>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Three failures. Nobody was hurt.</a:t>
            </a:r>
            <a:endParaRPr lang="en-US" sz="3600" dirty="0"/>
          </a:p>
        </p:txBody>
      </p:sp>
      <p:sp>
        <p:nvSpPr>
          <p:cNvPr id="4" name="Shape 2"/>
          <p:cNvSpPr/>
          <p:nvPr/>
        </p:nvSpPr>
        <p:spPr>
          <a:xfrm>
            <a:off x="566928" y="2066544"/>
            <a:ext cx="2615184" cy="1847088"/>
          </a:xfrm>
          <a:prstGeom prst="roundRect">
            <a:avLst>
              <a:gd name="adj" fmla="val 2970"/>
            </a:avLst>
          </a:prstGeom>
          <a:solidFill>
            <a:srgbClr val="12395F"/>
          </a:solidFill>
          <a:ln/>
        </p:spPr>
      </p:sp>
      <p:sp>
        <p:nvSpPr>
          <p:cNvPr id="5" name="Text 3"/>
          <p:cNvSpPr/>
          <p:nvPr/>
        </p:nvSpPr>
        <p:spPr>
          <a:xfrm>
            <a:off x="749808" y="2212848"/>
            <a:ext cx="2249424" cy="676656"/>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$23.1M</a:t>
            </a:r>
            <a:endParaRPr lang="en-US" sz="3300" dirty="0"/>
          </a:p>
        </p:txBody>
      </p:sp>
      <p:sp>
        <p:nvSpPr>
          <p:cNvPr id="6" name="Text 4"/>
          <p:cNvSpPr/>
          <p:nvPr/>
        </p:nvSpPr>
        <p:spPr>
          <a:xfrm>
            <a:off x="749808" y="2926080"/>
            <a:ext cx="2249424" cy="402336"/>
          </a:xfrm>
          <a:prstGeom prst="rect">
            <a:avLst/>
          </a:prstGeom>
          <a:noFill/>
          <a:ln/>
        </p:spPr>
        <p:txBody>
          <a:bodyPr wrap="square" lIns="0" tIns="0" rIns="0" bIns="0" rtlCol="0" anchor="t"/>
          <a:lstStyle/>
          <a:p>
            <a:pPr indent="0" marL="0">
              <a:lnSpc>
                <a:spcPts val="1500"/>
              </a:lnSpc>
              <a:buNone/>
            </a:pPr>
            <a:r>
              <a:rPr lang="en-US" sz="1200" b="1" dirty="0">
                <a:solidFill>
                  <a:srgbClr val="DCE7F2"/>
                </a:solidFill>
                <a:latin typeface="Calibri" pitchFamily="34" charset="0"/>
                <a:ea typeface="Calibri" pitchFamily="34" charset="-122"/>
                <a:cs typeface="Calibri" pitchFamily="34" charset="-120"/>
              </a:rPr>
              <a:t>Direct cost</a:t>
            </a:r>
            <a:endParaRPr lang="en-US" sz="1200" dirty="0"/>
          </a:p>
        </p:txBody>
      </p:sp>
      <p:sp>
        <p:nvSpPr>
          <p:cNvPr id="7" name="Text 5"/>
          <p:cNvSpPr/>
          <p:nvPr/>
        </p:nvSpPr>
        <p:spPr>
          <a:xfrm>
            <a:off x="749808" y="3364992"/>
            <a:ext cx="2249424" cy="384048"/>
          </a:xfrm>
          <a:prstGeom prst="rect">
            <a:avLst/>
          </a:prstGeom>
          <a:noFill/>
          <a:ln/>
        </p:spPr>
        <p:txBody>
          <a:bodyPr wrap="square" lIns="0" tIns="0" rIns="0" bIns="0" rtlCol="0" anchor="t"/>
          <a:lstStyle/>
          <a:p>
            <a:pPr indent="0" marL="0">
              <a:lnSpc>
                <a:spcPts val="1300"/>
              </a:lnSpc>
              <a:buNone/>
            </a:pPr>
            <a:r>
              <a:rPr lang="en-US" sz="1050" dirty="0">
                <a:solidFill>
                  <a:srgbClr val="8FA9C2"/>
                </a:solidFill>
                <a:latin typeface="Calibri" pitchFamily="34" charset="0"/>
                <a:ea typeface="Calibri" pitchFamily="34" charset="-122"/>
                <a:cs typeface="Calibri" pitchFamily="34" charset="-120"/>
              </a:rPr>
              <a:t>lost margin and repair</a:t>
            </a:r>
            <a:endParaRPr lang="en-US" sz="1050" dirty="0"/>
          </a:p>
        </p:txBody>
      </p:sp>
      <p:sp>
        <p:nvSpPr>
          <p:cNvPr id="8" name="Shape 6"/>
          <p:cNvSpPr/>
          <p:nvPr/>
        </p:nvSpPr>
        <p:spPr>
          <a:xfrm>
            <a:off x="3355848" y="2066544"/>
            <a:ext cx="2615184" cy="1847088"/>
          </a:xfrm>
          <a:prstGeom prst="roundRect">
            <a:avLst>
              <a:gd name="adj" fmla="val 2970"/>
            </a:avLst>
          </a:prstGeom>
          <a:solidFill>
            <a:srgbClr val="12395F"/>
          </a:solidFill>
          <a:ln/>
        </p:spPr>
      </p:sp>
      <p:sp>
        <p:nvSpPr>
          <p:cNvPr id="9" name="Text 7"/>
          <p:cNvSpPr/>
          <p:nvPr/>
        </p:nvSpPr>
        <p:spPr>
          <a:xfrm>
            <a:off x="3538728" y="2212848"/>
            <a:ext cx="2249424" cy="676656"/>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28</a:t>
            </a:r>
            <a:endParaRPr lang="en-US" sz="3300" dirty="0"/>
          </a:p>
        </p:txBody>
      </p:sp>
      <p:sp>
        <p:nvSpPr>
          <p:cNvPr id="10" name="Text 8"/>
          <p:cNvSpPr/>
          <p:nvPr/>
        </p:nvSpPr>
        <p:spPr>
          <a:xfrm>
            <a:off x="3538728" y="2926080"/>
            <a:ext cx="2249424" cy="402336"/>
          </a:xfrm>
          <a:prstGeom prst="rect">
            <a:avLst/>
          </a:prstGeom>
          <a:noFill/>
          <a:ln/>
        </p:spPr>
        <p:txBody>
          <a:bodyPr wrap="square" lIns="0" tIns="0" rIns="0" bIns="0" rtlCol="0" anchor="t"/>
          <a:lstStyle/>
          <a:p>
            <a:pPr indent="0" marL="0">
              <a:lnSpc>
                <a:spcPts val="1500"/>
              </a:lnSpc>
              <a:buNone/>
            </a:pPr>
            <a:r>
              <a:rPr lang="en-US" sz="1200" b="1" dirty="0">
                <a:solidFill>
                  <a:srgbClr val="DCE7F2"/>
                </a:solidFill>
                <a:latin typeface="Calibri" pitchFamily="34" charset="0"/>
                <a:ea typeface="Calibri" pitchFamily="34" charset="-122"/>
                <a:cs typeface="Calibri" pitchFamily="34" charset="-120"/>
              </a:rPr>
              <a:t>Days of lost production</a:t>
            </a:r>
            <a:endParaRPr lang="en-US" sz="1200" dirty="0"/>
          </a:p>
        </p:txBody>
      </p:sp>
      <p:sp>
        <p:nvSpPr>
          <p:cNvPr id="11" name="Text 9"/>
          <p:cNvSpPr/>
          <p:nvPr/>
        </p:nvSpPr>
        <p:spPr>
          <a:xfrm>
            <a:off x="3538728" y="3364992"/>
            <a:ext cx="2249424" cy="384048"/>
          </a:xfrm>
          <a:prstGeom prst="rect">
            <a:avLst/>
          </a:prstGeom>
          <a:noFill/>
          <a:ln/>
        </p:spPr>
        <p:txBody>
          <a:bodyPr wrap="square" lIns="0" tIns="0" rIns="0" bIns="0" rtlCol="0" anchor="t"/>
          <a:lstStyle/>
          <a:p>
            <a:pPr indent="0" marL="0">
              <a:lnSpc>
                <a:spcPts val="1300"/>
              </a:lnSpc>
              <a:buNone/>
            </a:pPr>
            <a:r>
              <a:rPr lang="en-US" sz="1050" dirty="0">
                <a:solidFill>
                  <a:srgbClr val="8FA9C2"/>
                </a:solidFill>
                <a:latin typeface="Calibri" pitchFamily="34" charset="0"/>
                <a:ea typeface="Calibri" pitchFamily="34" charset="-122"/>
                <a:cs typeface="Calibri" pitchFamily="34" charset="-120"/>
              </a:rPr>
              <a:t>across three events</a:t>
            </a:r>
            <a:endParaRPr lang="en-US" sz="1050" dirty="0"/>
          </a:p>
        </p:txBody>
      </p:sp>
      <p:sp>
        <p:nvSpPr>
          <p:cNvPr id="12" name="Shape 10"/>
          <p:cNvSpPr/>
          <p:nvPr/>
        </p:nvSpPr>
        <p:spPr>
          <a:xfrm>
            <a:off x="6144768" y="2066544"/>
            <a:ext cx="2615184" cy="1847088"/>
          </a:xfrm>
          <a:prstGeom prst="roundRect">
            <a:avLst>
              <a:gd name="adj" fmla="val 2970"/>
            </a:avLst>
          </a:prstGeom>
          <a:solidFill>
            <a:srgbClr val="12395F"/>
          </a:solidFill>
          <a:ln/>
        </p:spPr>
      </p:sp>
      <p:sp>
        <p:nvSpPr>
          <p:cNvPr id="13" name="Text 11"/>
          <p:cNvSpPr/>
          <p:nvPr/>
        </p:nvSpPr>
        <p:spPr>
          <a:xfrm>
            <a:off x="6327648" y="2212848"/>
            <a:ext cx="2249424" cy="676656"/>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3</a:t>
            </a:r>
            <a:endParaRPr lang="en-US" sz="3300" dirty="0"/>
          </a:p>
        </p:txBody>
      </p:sp>
      <p:sp>
        <p:nvSpPr>
          <p:cNvPr id="14" name="Text 12"/>
          <p:cNvSpPr/>
          <p:nvPr/>
        </p:nvSpPr>
        <p:spPr>
          <a:xfrm>
            <a:off x="6327648" y="2926080"/>
            <a:ext cx="2249424" cy="402336"/>
          </a:xfrm>
          <a:prstGeom prst="rect">
            <a:avLst/>
          </a:prstGeom>
          <a:noFill/>
          <a:ln/>
        </p:spPr>
        <p:txBody>
          <a:bodyPr wrap="square" lIns="0" tIns="0" rIns="0" bIns="0" rtlCol="0" anchor="t"/>
          <a:lstStyle/>
          <a:p>
            <a:pPr indent="0" marL="0">
              <a:lnSpc>
                <a:spcPts val="1500"/>
              </a:lnSpc>
              <a:buNone/>
            </a:pPr>
            <a:r>
              <a:rPr lang="en-US" sz="1200" b="1" dirty="0">
                <a:solidFill>
                  <a:srgbClr val="DCE7F2"/>
                </a:solidFill>
                <a:latin typeface="Calibri" pitchFamily="34" charset="0"/>
                <a:ea typeface="Calibri" pitchFamily="34" charset="-122"/>
                <a:cs typeface="Calibri" pitchFamily="34" charset="-120"/>
              </a:rPr>
              <a:t>High-potential near misses</a:t>
            </a:r>
            <a:endParaRPr lang="en-US" sz="1200" dirty="0"/>
          </a:p>
        </p:txBody>
      </p:sp>
      <p:sp>
        <p:nvSpPr>
          <p:cNvPr id="15" name="Text 13"/>
          <p:cNvSpPr/>
          <p:nvPr/>
        </p:nvSpPr>
        <p:spPr>
          <a:xfrm>
            <a:off x="6327648" y="3364992"/>
            <a:ext cx="2249424" cy="384048"/>
          </a:xfrm>
          <a:prstGeom prst="rect">
            <a:avLst/>
          </a:prstGeom>
          <a:noFill/>
          <a:ln/>
        </p:spPr>
        <p:txBody>
          <a:bodyPr wrap="square" lIns="0" tIns="0" rIns="0" bIns="0" rtlCol="0" anchor="t"/>
          <a:lstStyle/>
          <a:p>
            <a:pPr indent="0" marL="0">
              <a:lnSpc>
                <a:spcPts val="1300"/>
              </a:lnSpc>
              <a:buNone/>
            </a:pPr>
            <a:r>
              <a:rPr lang="en-US" sz="1050" dirty="0">
                <a:solidFill>
                  <a:srgbClr val="8FA9C2"/>
                </a:solidFill>
                <a:latin typeface="Calibri" pitchFamily="34" charset="0"/>
                <a:ea typeface="Calibri" pitchFamily="34" charset="-122"/>
                <a:cs typeface="Calibri" pitchFamily="34" charset="-120"/>
              </a:rPr>
              <a:t>H₂S, pool fire, firebox fire</a:t>
            </a:r>
            <a:endParaRPr lang="en-US" sz="1050" dirty="0"/>
          </a:p>
        </p:txBody>
      </p:sp>
      <p:sp>
        <p:nvSpPr>
          <p:cNvPr id="16" name="Shape 14"/>
          <p:cNvSpPr/>
          <p:nvPr/>
        </p:nvSpPr>
        <p:spPr>
          <a:xfrm>
            <a:off x="8933688" y="2066544"/>
            <a:ext cx="2615184" cy="1847088"/>
          </a:xfrm>
          <a:prstGeom prst="roundRect">
            <a:avLst>
              <a:gd name="adj" fmla="val 2970"/>
            </a:avLst>
          </a:prstGeom>
          <a:solidFill>
            <a:srgbClr val="12395F"/>
          </a:solidFill>
          <a:ln/>
        </p:spPr>
      </p:sp>
      <p:sp>
        <p:nvSpPr>
          <p:cNvPr id="17" name="Text 15"/>
          <p:cNvSpPr/>
          <p:nvPr/>
        </p:nvSpPr>
        <p:spPr>
          <a:xfrm>
            <a:off x="9116568" y="2212848"/>
            <a:ext cx="2249424" cy="676656"/>
          </a:xfrm>
          <a:prstGeom prst="rect">
            <a:avLst/>
          </a:prstGeom>
          <a:noFill/>
          <a:ln/>
        </p:spPr>
        <p:txBody>
          <a:bodyPr wrap="square" lIns="0" tIns="0" rIns="0" bIns="0" rtlCol="0" anchor="ctr"/>
          <a:lstStyle/>
          <a:p>
            <a:pPr indent="0" marL="0">
              <a:buNone/>
            </a:pPr>
            <a:r>
              <a:rPr lang="en-US" sz="3300" b="1" dirty="0">
                <a:solidFill>
                  <a:srgbClr val="7FA8CE"/>
                </a:solidFill>
                <a:latin typeface="Cambria" pitchFamily="34" charset="0"/>
                <a:ea typeface="Cambria" pitchFamily="34" charset="-122"/>
                <a:cs typeface="Cambria" pitchFamily="34" charset="-120"/>
              </a:rPr>
              <a:t>0</a:t>
            </a:r>
            <a:endParaRPr lang="en-US" sz="3300" dirty="0"/>
          </a:p>
        </p:txBody>
      </p:sp>
      <p:sp>
        <p:nvSpPr>
          <p:cNvPr id="18" name="Text 16"/>
          <p:cNvSpPr/>
          <p:nvPr/>
        </p:nvSpPr>
        <p:spPr>
          <a:xfrm>
            <a:off x="9116568" y="2926080"/>
            <a:ext cx="2249424" cy="402336"/>
          </a:xfrm>
          <a:prstGeom prst="rect">
            <a:avLst/>
          </a:prstGeom>
          <a:noFill/>
          <a:ln/>
        </p:spPr>
        <p:txBody>
          <a:bodyPr wrap="square" lIns="0" tIns="0" rIns="0" bIns="0" rtlCol="0" anchor="t"/>
          <a:lstStyle/>
          <a:p>
            <a:pPr indent="0" marL="0">
              <a:lnSpc>
                <a:spcPts val="1500"/>
              </a:lnSpc>
              <a:buNone/>
            </a:pPr>
            <a:r>
              <a:rPr lang="en-US" sz="1200" b="1" dirty="0">
                <a:solidFill>
                  <a:srgbClr val="DCE7F2"/>
                </a:solidFill>
                <a:latin typeface="Calibri" pitchFamily="34" charset="0"/>
                <a:ea typeface="Calibri" pitchFamily="34" charset="-122"/>
                <a:cs typeface="Calibri" pitchFamily="34" charset="-120"/>
              </a:rPr>
              <a:t>Injuries</a:t>
            </a:r>
            <a:endParaRPr lang="en-US" sz="1200" dirty="0"/>
          </a:p>
        </p:txBody>
      </p:sp>
      <p:sp>
        <p:nvSpPr>
          <p:cNvPr id="19" name="Text 17"/>
          <p:cNvSpPr/>
          <p:nvPr/>
        </p:nvSpPr>
        <p:spPr>
          <a:xfrm>
            <a:off x="9116568" y="3364992"/>
            <a:ext cx="2249424" cy="384048"/>
          </a:xfrm>
          <a:prstGeom prst="rect">
            <a:avLst/>
          </a:prstGeom>
          <a:noFill/>
          <a:ln/>
        </p:spPr>
        <p:txBody>
          <a:bodyPr wrap="square" lIns="0" tIns="0" rIns="0" bIns="0" rtlCol="0" anchor="t"/>
          <a:lstStyle/>
          <a:p>
            <a:pPr indent="0" marL="0">
              <a:lnSpc>
                <a:spcPts val="1300"/>
              </a:lnSpc>
              <a:buNone/>
            </a:pPr>
            <a:r>
              <a:rPr lang="en-US" sz="1050" dirty="0">
                <a:solidFill>
                  <a:srgbClr val="8FA9C2"/>
                </a:solidFill>
                <a:latin typeface="Calibri" pitchFamily="34" charset="0"/>
                <a:ea typeface="Calibri" pitchFamily="34" charset="-122"/>
                <a:cs typeface="Calibri" pitchFamily="34" charset="-120"/>
              </a:rPr>
              <a:t>not entirely by design</a:t>
            </a:r>
            <a:endParaRPr lang="en-US" sz="1050" dirty="0"/>
          </a:p>
        </p:txBody>
      </p:sp>
      <p:sp>
        <p:nvSpPr>
          <p:cNvPr id="20" name="Shape 18"/>
          <p:cNvSpPr/>
          <p:nvPr/>
        </p:nvSpPr>
        <p:spPr>
          <a:xfrm>
            <a:off x="566928" y="4224528"/>
            <a:ext cx="11055096" cy="1152144"/>
          </a:xfrm>
          <a:prstGeom prst="roundRect">
            <a:avLst>
              <a:gd name="adj" fmla="val 4762"/>
            </a:avLst>
          </a:prstGeom>
          <a:solidFill>
            <a:srgbClr val="12395F"/>
          </a:solidFill>
          <a:ln/>
        </p:spPr>
      </p:sp>
      <p:sp>
        <p:nvSpPr>
          <p:cNvPr id="21" name="Text 19"/>
          <p:cNvSpPr/>
          <p:nvPr/>
        </p:nvSpPr>
        <p:spPr>
          <a:xfrm>
            <a:off x="877824" y="4224528"/>
            <a:ext cx="10433304" cy="1152144"/>
          </a:xfrm>
          <a:prstGeom prst="rect">
            <a:avLst/>
          </a:prstGeom>
          <a:noFill/>
          <a:ln/>
        </p:spPr>
        <p:txBody>
          <a:bodyPr wrap="square" lIns="0" tIns="0" rIns="0" bIns="0" rtlCol="0" anchor="ctr"/>
          <a:lstStyle/>
          <a:p>
            <a:pPr indent="0" marL="0">
              <a:lnSpc>
                <a:spcPts val="2300"/>
              </a:lnSpc>
              <a:buNone/>
            </a:pPr>
            <a:r>
              <a:rPr lang="en-US" sz="1450" b="1" dirty="0">
                <a:solidFill>
                  <a:srgbClr val="FFFFFF"/>
                </a:solidFill>
                <a:latin typeface="Calibri" pitchFamily="34" charset="0"/>
                <a:ea typeface="Calibri" pitchFamily="34" charset="-122"/>
                <a:cs typeface="Calibri" pitchFamily="34" charset="-120"/>
              </a:rPr>
              <a:t>The zero is not a result. </a:t>
            </a:r>
            <a:pPr indent="0" marL="0">
              <a:lnSpc>
                <a:spcPts val="2300"/>
              </a:lnSpc>
              <a:buNone/>
            </a:pPr>
            <a:r>
              <a:rPr lang="en-US" sz="1450" dirty="0">
                <a:solidFill>
                  <a:srgbClr val="C6D6E6"/>
                </a:solidFill>
                <a:latin typeface="Calibri" pitchFamily="34" charset="0"/>
                <a:ea typeface="Calibri" pitchFamily="34" charset="-122"/>
                <a:cs typeface="Calibri" pitchFamily="34" charset="-120"/>
              </a:rPr>
              <a:t>Two of these three could have killed somebody and did not, for reasons that were not under our control. A hot oil release found no ignition source. A tube ruptured when nobody was standing at the heater. That is luck, and luck is not a barrier.</a:t>
            </a:r>
            <a:endParaRPr lang="en-US" sz="1450" dirty="0"/>
          </a:p>
        </p:txBody>
      </p:sp>
      <p:sp>
        <p:nvSpPr>
          <p:cNvPr id="22" name="Text 20"/>
          <p:cNvSpPr/>
          <p:nvPr/>
        </p:nvSpPr>
        <p:spPr>
          <a:xfrm>
            <a:off x="566928" y="5614416"/>
            <a:ext cx="11055096" cy="274320"/>
          </a:xfrm>
          <a:prstGeom prst="rect">
            <a:avLst/>
          </a:prstGeom>
          <a:noFill/>
          <a:ln/>
        </p:spPr>
        <p:txBody>
          <a:bodyPr wrap="square" lIns="0" tIns="0" rIns="0" bIns="0" rtlCol="0" anchor="ctr"/>
          <a:lstStyle/>
          <a:p>
            <a:pPr indent="0" marL="0">
              <a:buNone/>
            </a:pPr>
            <a:r>
              <a:rPr lang="en-US" sz="1000" i="1" dirty="0">
                <a:solidFill>
                  <a:srgbClr val="6D89A6"/>
                </a:solidFill>
                <a:latin typeface="Calibri" pitchFamily="34" charset="0"/>
                <a:ea typeface="Calibri" pitchFamily="34" charset="-122"/>
                <a:cs typeface="Calibri" pitchFamily="34" charset="-120"/>
              </a:rPr>
              <a:t>Figures are indicative, from a constructed teaching case — see Basis and Scope in the handout.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HOW THE FOUR DELIVERABLES CONNECT</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Backward look, forward look, authorisation, execution.</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Each deliverable produces what the next one consumes. That is the whole session in one line.</a:t>
            </a:r>
            <a:endParaRPr lang="en-US" sz="1200" dirty="0"/>
          </a:p>
        </p:txBody>
      </p:sp>
      <p:sp>
        <p:nvSpPr>
          <p:cNvPr id="5" name="Shape 3"/>
          <p:cNvSpPr/>
          <p:nvPr/>
        </p:nvSpPr>
        <p:spPr>
          <a:xfrm>
            <a:off x="566928" y="1645920"/>
            <a:ext cx="2551176" cy="3401568"/>
          </a:xfrm>
          <a:prstGeom prst="roundRect">
            <a:avLst>
              <a:gd name="adj" fmla="val 1792"/>
            </a:avLst>
          </a:prstGeom>
          <a:solidFill>
            <a:srgbClr val="FFFFFF"/>
          </a:solidFill>
          <a:ln w="9525">
            <a:solidFill>
              <a:srgbClr val="00539B"/>
            </a:solidFill>
            <a:prstDash val="solid"/>
          </a:ln>
          <a:effectLst>
            <a:outerShdw sx="100000" sy="100000" kx="0" ky="0" algn="bl" rotWithShape="0" blurRad="101600" dist="19050" dir="5400000">
              <a:srgbClr val="8A99AC">
                <a:alpha val="16000"/>
              </a:srgbClr>
            </a:outerShdw>
          </a:effectLst>
        </p:spPr>
      </p:sp>
      <p:sp>
        <p:nvSpPr>
          <p:cNvPr id="6" name="Shape 4"/>
          <p:cNvSpPr/>
          <p:nvPr/>
        </p:nvSpPr>
        <p:spPr>
          <a:xfrm>
            <a:off x="822960" y="1920240"/>
            <a:ext cx="566928" cy="566928"/>
          </a:xfrm>
          <a:prstGeom prst="ellipse">
            <a:avLst/>
          </a:prstGeom>
          <a:solidFill>
            <a:srgbClr val="00539B"/>
          </a:solidFill>
          <a:ln/>
        </p:spPr>
      </p:sp>
      <p:sp>
        <p:nvSpPr>
          <p:cNvPr id="7" name="Text 5"/>
          <p:cNvSpPr/>
          <p:nvPr/>
        </p:nvSpPr>
        <p:spPr>
          <a:xfrm>
            <a:off x="822960"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8" name="Text 6"/>
          <p:cNvSpPr/>
          <p:nvPr/>
        </p:nvSpPr>
        <p:spPr>
          <a:xfrm>
            <a:off x="822960" y="2633472"/>
            <a:ext cx="2039112" cy="603504"/>
          </a:xfrm>
          <a:prstGeom prst="rect">
            <a:avLst/>
          </a:prstGeom>
          <a:noFill/>
          <a:ln/>
        </p:spPr>
        <p:txBody>
          <a:bodyPr wrap="square" lIns="0" tIns="0" rIns="0" bIns="0" rtlCol="0" anchor="t"/>
          <a:lstStyle/>
          <a:p>
            <a:pPr indent="0" marL="0">
              <a:lnSpc>
                <a:spcPts val="1900"/>
              </a:lnSpc>
              <a:buNone/>
            </a:pPr>
            <a:r>
              <a:rPr lang="en-US" sz="1600" b="1" dirty="0">
                <a:solidFill>
                  <a:srgbClr val="0A2540"/>
                </a:solidFill>
                <a:latin typeface="Cambria" pitchFamily="34" charset="0"/>
                <a:ea typeface="Cambria" pitchFamily="34" charset="-122"/>
                <a:cs typeface="Cambria" pitchFamily="34" charset="-120"/>
              </a:rPr>
              <a:t>Root Cause Analysis</a:t>
            </a:r>
            <a:endParaRPr lang="en-US" sz="1600" dirty="0"/>
          </a:p>
        </p:txBody>
      </p:sp>
      <p:sp>
        <p:nvSpPr>
          <p:cNvPr id="9" name="Text 7"/>
          <p:cNvSpPr/>
          <p:nvPr/>
        </p:nvSpPr>
        <p:spPr>
          <a:xfrm>
            <a:off x="822960" y="3255264"/>
            <a:ext cx="2039112" cy="274320"/>
          </a:xfrm>
          <a:prstGeom prst="rect">
            <a:avLst/>
          </a:prstGeom>
          <a:noFill/>
          <a:ln/>
        </p:spPr>
        <p:txBody>
          <a:bodyPr wrap="square" lIns="0" tIns="0" rIns="0" bIns="0" rtlCol="0" anchor="ctr"/>
          <a:lstStyle/>
          <a:p>
            <a:pPr indent="0" marL="0">
              <a:buNone/>
            </a:pPr>
            <a:r>
              <a:rPr lang="en-US" sz="1200" b="1" i="1" dirty="0">
                <a:solidFill>
                  <a:srgbClr val="00539B"/>
                </a:solidFill>
                <a:latin typeface="Calibri" pitchFamily="34" charset="0"/>
                <a:ea typeface="Calibri" pitchFamily="34" charset="-122"/>
                <a:cs typeface="Calibri" pitchFamily="34" charset="-120"/>
              </a:rPr>
              <a:t>Why did it fail?</a:t>
            </a:r>
            <a:endParaRPr lang="en-US" sz="1200" dirty="0"/>
          </a:p>
        </p:txBody>
      </p:sp>
      <p:sp>
        <p:nvSpPr>
          <p:cNvPr id="10" name="Text 8"/>
          <p:cNvSpPr/>
          <p:nvPr/>
        </p:nvSpPr>
        <p:spPr>
          <a:xfrm>
            <a:off x="822960" y="3584448"/>
            <a:ext cx="2039112" cy="91440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Three failures, one template, down to the organisational root.</a:t>
            </a:r>
            <a:endParaRPr lang="en-US" sz="1100" dirty="0"/>
          </a:p>
        </p:txBody>
      </p:sp>
      <p:sp>
        <p:nvSpPr>
          <p:cNvPr id="11" name="Shape 9"/>
          <p:cNvSpPr/>
          <p:nvPr/>
        </p:nvSpPr>
        <p:spPr>
          <a:xfrm>
            <a:off x="3159252" y="2048256"/>
            <a:ext cx="201168" cy="310896"/>
          </a:xfrm>
          <a:prstGeom prst="rightArrow">
            <a:avLst/>
          </a:prstGeom>
          <a:solidFill>
            <a:srgbClr val="00539B"/>
          </a:solidFill>
          <a:ln/>
        </p:spPr>
      </p:sp>
      <p:sp>
        <p:nvSpPr>
          <p:cNvPr id="12" name="Shape 10"/>
          <p:cNvSpPr/>
          <p:nvPr/>
        </p:nvSpPr>
        <p:spPr>
          <a:xfrm>
            <a:off x="3401568" y="1645920"/>
            <a:ext cx="2551176" cy="3401568"/>
          </a:xfrm>
          <a:prstGeom prst="roundRect">
            <a:avLst>
              <a:gd name="adj" fmla="val 1792"/>
            </a:avLst>
          </a:prstGeom>
          <a:solidFill>
            <a:srgbClr val="FFFFFF"/>
          </a:solidFill>
          <a:ln w="9525">
            <a:solidFill>
              <a:srgbClr val="C87F16"/>
            </a:solidFill>
            <a:prstDash val="solid"/>
          </a:ln>
          <a:effectLst>
            <a:outerShdw sx="100000" sy="100000" kx="0" ky="0" algn="bl" rotWithShape="0" blurRad="101600" dist="19050" dir="5400000">
              <a:srgbClr val="8A99AC">
                <a:alpha val="16000"/>
              </a:srgbClr>
            </a:outerShdw>
          </a:effectLst>
        </p:spPr>
      </p:sp>
      <p:sp>
        <p:nvSpPr>
          <p:cNvPr id="13" name="Shape 11"/>
          <p:cNvSpPr/>
          <p:nvPr/>
        </p:nvSpPr>
        <p:spPr>
          <a:xfrm>
            <a:off x="3657600" y="1920240"/>
            <a:ext cx="566928" cy="566928"/>
          </a:xfrm>
          <a:prstGeom prst="ellipse">
            <a:avLst/>
          </a:prstGeom>
          <a:solidFill>
            <a:srgbClr val="C87F16"/>
          </a:solidFill>
          <a:ln/>
        </p:spPr>
      </p:sp>
      <p:sp>
        <p:nvSpPr>
          <p:cNvPr id="14" name="Text 12"/>
          <p:cNvSpPr/>
          <p:nvPr/>
        </p:nvSpPr>
        <p:spPr>
          <a:xfrm>
            <a:off x="3657600"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5" name="Text 13"/>
          <p:cNvSpPr/>
          <p:nvPr/>
        </p:nvSpPr>
        <p:spPr>
          <a:xfrm>
            <a:off x="3657600" y="2633472"/>
            <a:ext cx="2039112" cy="603504"/>
          </a:xfrm>
          <a:prstGeom prst="rect">
            <a:avLst/>
          </a:prstGeom>
          <a:noFill/>
          <a:ln/>
        </p:spPr>
        <p:txBody>
          <a:bodyPr wrap="square" lIns="0" tIns="0" rIns="0" bIns="0" rtlCol="0" anchor="t"/>
          <a:lstStyle/>
          <a:p>
            <a:pPr indent="0" marL="0">
              <a:lnSpc>
                <a:spcPts val="1900"/>
              </a:lnSpc>
              <a:buNone/>
            </a:pPr>
            <a:r>
              <a:rPr lang="en-US" sz="1600" b="1" dirty="0">
                <a:solidFill>
                  <a:srgbClr val="0A2540"/>
                </a:solidFill>
                <a:latin typeface="Cambria" pitchFamily="34" charset="0"/>
                <a:ea typeface="Cambria" pitchFamily="34" charset="-122"/>
                <a:cs typeface="Cambria" pitchFamily="34" charset="-120"/>
              </a:rPr>
              <a:t>Risk Register</a:t>
            </a:r>
            <a:endParaRPr lang="en-US" sz="1600" dirty="0"/>
          </a:p>
        </p:txBody>
      </p:sp>
      <p:sp>
        <p:nvSpPr>
          <p:cNvPr id="16" name="Text 14"/>
          <p:cNvSpPr/>
          <p:nvPr/>
        </p:nvSpPr>
        <p:spPr>
          <a:xfrm>
            <a:off x="3657600" y="3255264"/>
            <a:ext cx="2039112" cy="274320"/>
          </a:xfrm>
          <a:prstGeom prst="rect">
            <a:avLst/>
          </a:prstGeom>
          <a:noFill/>
          <a:ln/>
        </p:spPr>
        <p:txBody>
          <a:bodyPr wrap="square" lIns="0" tIns="0" rIns="0" bIns="0" rtlCol="0" anchor="ctr"/>
          <a:lstStyle/>
          <a:p>
            <a:pPr indent="0" marL="0">
              <a:buNone/>
            </a:pPr>
            <a:r>
              <a:rPr lang="en-US" sz="1200" b="1" i="1" dirty="0">
                <a:solidFill>
                  <a:srgbClr val="C87F16"/>
                </a:solidFill>
                <a:latin typeface="Calibri" pitchFamily="34" charset="0"/>
                <a:ea typeface="Calibri" pitchFamily="34" charset="-122"/>
                <a:cs typeface="Calibri" pitchFamily="34" charset="-120"/>
              </a:rPr>
              <a:t>What could still fail?</a:t>
            </a:r>
            <a:endParaRPr lang="en-US" sz="1200" dirty="0"/>
          </a:p>
        </p:txBody>
      </p:sp>
      <p:sp>
        <p:nvSpPr>
          <p:cNvPr id="17" name="Text 15"/>
          <p:cNvSpPr/>
          <p:nvPr/>
        </p:nvSpPr>
        <p:spPr>
          <a:xfrm>
            <a:off x="3657600" y="3584448"/>
            <a:ext cx="2039112" cy="91440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Five entries, scored twice, every one with a named owner.</a:t>
            </a:r>
            <a:endParaRPr lang="en-US" sz="1100" dirty="0"/>
          </a:p>
        </p:txBody>
      </p:sp>
      <p:sp>
        <p:nvSpPr>
          <p:cNvPr id="18" name="Shape 16"/>
          <p:cNvSpPr/>
          <p:nvPr/>
        </p:nvSpPr>
        <p:spPr>
          <a:xfrm>
            <a:off x="5993892" y="2048256"/>
            <a:ext cx="201168" cy="310896"/>
          </a:xfrm>
          <a:prstGeom prst="rightArrow">
            <a:avLst/>
          </a:prstGeom>
          <a:solidFill>
            <a:srgbClr val="C87F16"/>
          </a:solidFill>
          <a:ln/>
        </p:spPr>
      </p:sp>
      <p:sp>
        <p:nvSpPr>
          <p:cNvPr id="19" name="Shape 17"/>
          <p:cNvSpPr/>
          <p:nvPr/>
        </p:nvSpPr>
        <p:spPr>
          <a:xfrm>
            <a:off x="6236208" y="1645920"/>
            <a:ext cx="2551176" cy="3401568"/>
          </a:xfrm>
          <a:prstGeom prst="roundRect">
            <a:avLst>
              <a:gd name="adj" fmla="val 1792"/>
            </a:avLst>
          </a:prstGeom>
          <a:solidFill>
            <a:srgbClr val="FFFFFF"/>
          </a:solidFill>
          <a:ln w="9525">
            <a:solidFill>
              <a:srgbClr val="2E7D5B"/>
            </a:solidFill>
            <a:prstDash val="solid"/>
          </a:ln>
          <a:effectLst>
            <a:outerShdw sx="100000" sy="100000" kx="0" ky="0" algn="bl" rotWithShape="0" blurRad="101600" dist="19050" dir="5400000">
              <a:srgbClr val="8A99AC">
                <a:alpha val="16000"/>
              </a:srgbClr>
            </a:outerShdw>
          </a:effectLst>
        </p:spPr>
      </p:sp>
      <p:sp>
        <p:nvSpPr>
          <p:cNvPr id="20" name="Shape 18"/>
          <p:cNvSpPr/>
          <p:nvPr/>
        </p:nvSpPr>
        <p:spPr>
          <a:xfrm>
            <a:off x="6492240" y="1920240"/>
            <a:ext cx="566928" cy="566928"/>
          </a:xfrm>
          <a:prstGeom prst="ellipse">
            <a:avLst/>
          </a:prstGeom>
          <a:solidFill>
            <a:srgbClr val="2E7D5B"/>
          </a:solidFill>
          <a:ln/>
        </p:spPr>
      </p:sp>
      <p:sp>
        <p:nvSpPr>
          <p:cNvPr id="21" name="Text 19"/>
          <p:cNvSpPr/>
          <p:nvPr/>
        </p:nvSpPr>
        <p:spPr>
          <a:xfrm>
            <a:off x="6492240"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2" name="Text 20"/>
          <p:cNvSpPr/>
          <p:nvPr/>
        </p:nvSpPr>
        <p:spPr>
          <a:xfrm>
            <a:off x="6492240" y="2633472"/>
            <a:ext cx="2039112" cy="603504"/>
          </a:xfrm>
          <a:prstGeom prst="rect">
            <a:avLst/>
          </a:prstGeom>
          <a:noFill/>
          <a:ln/>
        </p:spPr>
        <p:txBody>
          <a:bodyPr wrap="square" lIns="0" tIns="0" rIns="0" bIns="0" rtlCol="0" anchor="t"/>
          <a:lstStyle/>
          <a:p>
            <a:pPr indent="0" marL="0">
              <a:lnSpc>
                <a:spcPts val="1900"/>
              </a:lnSpc>
              <a:buNone/>
            </a:pPr>
            <a:r>
              <a:rPr lang="en-US" sz="1600" b="1" dirty="0">
                <a:solidFill>
                  <a:srgbClr val="0A2540"/>
                </a:solidFill>
                <a:latin typeface="Cambria" pitchFamily="34" charset="0"/>
                <a:ea typeface="Cambria" pitchFamily="34" charset="-122"/>
                <a:cs typeface="Cambria" pitchFamily="34" charset="-120"/>
              </a:rPr>
              <a:t>Permit to Work</a:t>
            </a:r>
            <a:endParaRPr lang="en-US" sz="1600" dirty="0"/>
          </a:p>
        </p:txBody>
      </p:sp>
      <p:sp>
        <p:nvSpPr>
          <p:cNvPr id="23" name="Text 21"/>
          <p:cNvSpPr/>
          <p:nvPr/>
        </p:nvSpPr>
        <p:spPr>
          <a:xfrm>
            <a:off x="6492240" y="3255264"/>
            <a:ext cx="2039112" cy="274320"/>
          </a:xfrm>
          <a:prstGeom prst="rect">
            <a:avLst/>
          </a:prstGeom>
          <a:noFill/>
          <a:ln/>
        </p:spPr>
        <p:txBody>
          <a:bodyPr wrap="square" lIns="0" tIns="0" rIns="0" bIns="0" rtlCol="0" anchor="ctr"/>
          <a:lstStyle/>
          <a:p>
            <a:pPr indent="0" marL="0">
              <a:buNone/>
            </a:pPr>
            <a:r>
              <a:rPr lang="en-US" sz="1200" b="1" i="1" dirty="0">
                <a:solidFill>
                  <a:srgbClr val="2E7D5B"/>
                </a:solidFill>
                <a:latin typeface="Calibri" pitchFamily="34" charset="0"/>
                <a:ea typeface="Calibri" pitchFamily="34" charset="-122"/>
                <a:cs typeface="Calibri" pitchFamily="34" charset="-120"/>
              </a:rPr>
              <a:t>Who authorises it?</a:t>
            </a:r>
            <a:endParaRPr lang="en-US" sz="1200" dirty="0"/>
          </a:p>
        </p:txBody>
      </p:sp>
      <p:sp>
        <p:nvSpPr>
          <p:cNvPr id="24" name="Text 22"/>
          <p:cNvSpPr/>
          <p:nvPr/>
        </p:nvSpPr>
        <p:spPr>
          <a:xfrm>
            <a:off x="6492240" y="3584448"/>
            <a:ext cx="2039112" cy="91440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A control architecture, evidenced by a form.</a:t>
            </a:r>
            <a:endParaRPr lang="en-US" sz="1100" dirty="0"/>
          </a:p>
        </p:txBody>
      </p:sp>
      <p:sp>
        <p:nvSpPr>
          <p:cNvPr id="25" name="Shape 23"/>
          <p:cNvSpPr/>
          <p:nvPr/>
        </p:nvSpPr>
        <p:spPr>
          <a:xfrm>
            <a:off x="8828532" y="2048256"/>
            <a:ext cx="201168" cy="310896"/>
          </a:xfrm>
          <a:prstGeom prst="rightArrow">
            <a:avLst/>
          </a:prstGeom>
          <a:solidFill>
            <a:srgbClr val="2E7D5B"/>
          </a:solidFill>
          <a:ln/>
        </p:spPr>
      </p:sp>
      <p:sp>
        <p:nvSpPr>
          <p:cNvPr id="26" name="Shape 24"/>
          <p:cNvSpPr/>
          <p:nvPr/>
        </p:nvSpPr>
        <p:spPr>
          <a:xfrm>
            <a:off x="9070848" y="1645920"/>
            <a:ext cx="2551176" cy="3401568"/>
          </a:xfrm>
          <a:prstGeom prst="roundRect">
            <a:avLst>
              <a:gd name="adj" fmla="val 1792"/>
            </a:avLst>
          </a:prstGeom>
          <a:solidFill>
            <a:srgbClr val="FFFFFF"/>
          </a:solidFill>
          <a:ln w="9525">
            <a:solidFill>
              <a:srgbClr val="C8102E"/>
            </a:solidFill>
            <a:prstDash val="solid"/>
          </a:ln>
          <a:effectLst>
            <a:outerShdw sx="100000" sy="100000" kx="0" ky="0" algn="bl" rotWithShape="0" blurRad="101600" dist="19050" dir="5400000">
              <a:srgbClr val="8A99AC">
                <a:alpha val="16000"/>
              </a:srgbClr>
            </a:outerShdw>
          </a:effectLst>
        </p:spPr>
      </p:sp>
      <p:sp>
        <p:nvSpPr>
          <p:cNvPr id="27" name="Shape 25"/>
          <p:cNvSpPr/>
          <p:nvPr/>
        </p:nvSpPr>
        <p:spPr>
          <a:xfrm>
            <a:off x="9326880" y="1920240"/>
            <a:ext cx="566928" cy="566928"/>
          </a:xfrm>
          <a:prstGeom prst="ellipse">
            <a:avLst/>
          </a:prstGeom>
          <a:solidFill>
            <a:srgbClr val="C8102E"/>
          </a:solidFill>
          <a:ln/>
        </p:spPr>
      </p:sp>
      <p:sp>
        <p:nvSpPr>
          <p:cNvPr id="28" name="Text 26"/>
          <p:cNvSpPr/>
          <p:nvPr/>
        </p:nvSpPr>
        <p:spPr>
          <a:xfrm>
            <a:off x="9326880"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9" name="Text 27"/>
          <p:cNvSpPr/>
          <p:nvPr/>
        </p:nvSpPr>
        <p:spPr>
          <a:xfrm>
            <a:off x="9326880" y="2633472"/>
            <a:ext cx="2039112" cy="603504"/>
          </a:xfrm>
          <a:prstGeom prst="rect">
            <a:avLst/>
          </a:prstGeom>
          <a:noFill/>
          <a:ln/>
        </p:spPr>
        <p:txBody>
          <a:bodyPr wrap="square" lIns="0" tIns="0" rIns="0" bIns="0" rtlCol="0" anchor="t"/>
          <a:lstStyle/>
          <a:p>
            <a:pPr indent="0" marL="0">
              <a:lnSpc>
                <a:spcPts val="1900"/>
              </a:lnSpc>
              <a:buNone/>
            </a:pPr>
            <a:r>
              <a:rPr lang="en-US" sz="1600" b="1" dirty="0">
                <a:solidFill>
                  <a:srgbClr val="0A2540"/>
                </a:solidFill>
                <a:latin typeface="Cambria" pitchFamily="34" charset="0"/>
                <a:ea typeface="Cambria" pitchFamily="34" charset="-122"/>
                <a:cs typeface="Cambria" pitchFamily="34" charset="-120"/>
              </a:rPr>
              <a:t>Job Safety Analysis</a:t>
            </a:r>
            <a:endParaRPr lang="en-US" sz="1600" dirty="0"/>
          </a:p>
        </p:txBody>
      </p:sp>
      <p:sp>
        <p:nvSpPr>
          <p:cNvPr id="30" name="Text 28"/>
          <p:cNvSpPr/>
          <p:nvPr/>
        </p:nvSpPr>
        <p:spPr>
          <a:xfrm>
            <a:off x="9326880" y="3255264"/>
            <a:ext cx="2039112" cy="274320"/>
          </a:xfrm>
          <a:prstGeom prst="rect">
            <a:avLst/>
          </a:prstGeom>
          <a:noFill/>
          <a:ln/>
        </p:spPr>
        <p:txBody>
          <a:bodyPr wrap="square" lIns="0" tIns="0" rIns="0" bIns="0" rtlCol="0" anchor="ctr"/>
          <a:lstStyle/>
          <a:p>
            <a:pPr indent="0" marL="0">
              <a:buNone/>
            </a:pPr>
            <a:r>
              <a:rPr lang="en-US" sz="1200" b="1" i="1" dirty="0">
                <a:solidFill>
                  <a:srgbClr val="C8102E"/>
                </a:solidFill>
                <a:latin typeface="Calibri" pitchFamily="34" charset="0"/>
                <a:ea typeface="Calibri" pitchFamily="34" charset="-122"/>
                <a:cs typeface="Calibri" pitchFamily="34" charset="-120"/>
              </a:rPr>
              <a:t>How is it done safely?</a:t>
            </a:r>
            <a:endParaRPr lang="en-US" sz="1200" dirty="0"/>
          </a:p>
        </p:txBody>
      </p:sp>
      <p:sp>
        <p:nvSpPr>
          <p:cNvPr id="31" name="Text 29"/>
          <p:cNvSpPr/>
          <p:nvPr/>
        </p:nvSpPr>
        <p:spPr>
          <a:xfrm>
            <a:off x="9326880" y="3584448"/>
            <a:ext cx="2039112" cy="91440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Twelve steps at the hands of a fitter with a spanner.</a:t>
            </a:r>
            <a:endParaRPr lang="en-US" sz="1100" dirty="0"/>
          </a:p>
        </p:txBody>
      </p:sp>
      <p:sp>
        <p:nvSpPr>
          <p:cNvPr id="32" name="Text 30"/>
          <p:cNvSpPr/>
          <p:nvPr/>
        </p:nvSpPr>
        <p:spPr>
          <a:xfrm>
            <a:off x="1842516" y="5175504"/>
            <a:ext cx="2834640" cy="310896"/>
          </a:xfrm>
          <a:prstGeom prst="rect">
            <a:avLst/>
          </a:prstGeom>
          <a:noFill/>
          <a:ln/>
        </p:spPr>
        <p:txBody>
          <a:bodyPr wrap="square" lIns="0" tIns="0" rIns="0" bIns="0" rtlCol="0" anchor="t"/>
          <a:lstStyle/>
          <a:p>
            <a:pPr algn="ctr" indent="0" marL="0">
              <a:lnSpc>
                <a:spcPts val="1100"/>
              </a:lnSpc>
              <a:buNone/>
            </a:pPr>
            <a:r>
              <a:rPr lang="en-US" sz="850" i="1" dirty="0">
                <a:solidFill>
                  <a:srgbClr val="8494A6"/>
                </a:solidFill>
                <a:latin typeface="Calibri" pitchFamily="34" charset="0"/>
                <a:ea typeface="Calibri" pitchFamily="34" charset="-122"/>
                <a:cs typeface="Calibri" pitchFamily="34" charset="-120"/>
              </a:rPr>
              <a:t>→  what we learn becomes tracked risk</a:t>
            </a:r>
            <a:endParaRPr lang="en-US" sz="850" dirty="0"/>
          </a:p>
        </p:txBody>
      </p:sp>
      <p:sp>
        <p:nvSpPr>
          <p:cNvPr id="33" name="Text 31"/>
          <p:cNvSpPr/>
          <p:nvPr/>
        </p:nvSpPr>
        <p:spPr>
          <a:xfrm>
            <a:off x="4677156" y="5175504"/>
            <a:ext cx="2834640" cy="310896"/>
          </a:xfrm>
          <a:prstGeom prst="rect">
            <a:avLst/>
          </a:prstGeom>
          <a:noFill/>
          <a:ln/>
        </p:spPr>
        <p:txBody>
          <a:bodyPr wrap="square" lIns="0" tIns="0" rIns="0" bIns="0" rtlCol="0" anchor="t"/>
          <a:lstStyle/>
          <a:p>
            <a:pPr algn="ctr" indent="0" marL="0">
              <a:lnSpc>
                <a:spcPts val="1100"/>
              </a:lnSpc>
              <a:buNone/>
            </a:pPr>
            <a:r>
              <a:rPr lang="en-US" sz="850" i="1" dirty="0">
                <a:solidFill>
                  <a:srgbClr val="8494A6"/>
                </a:solidFill>
                <a:latin typeface="Calibri" pitchFamily="34" charset="0"/>
                <a:ea typeface="Calibri" pitchFamily="34" charset="-122"/>
                <a:cs typeface="Calibri" pitchFamily="34" charset="-120"/>
              </a:rPr>
              <a:t>→  tracked risk generates work on live plant</a:t>
            </a:r>
            <a:endParaRPr lang="en-US" sz="850" dirty="0"/>
          </a:p>
        </p:txBody>
      </p:sp>
      <p:sp>
        <p:nvSpPr>
          <p:cNvPr id="34" name="Text 32"/>
          <p:cNvSpPr/>
          <p:nvPr/>
        </p:nvSpPr>
        <p:spPr>
          <a:xfrm>
            <a:off x="7511796" y="5175504"/>
            <a:ext cx="2834640" cy="310896"/>
          </a:xfrm>
          <a:prstGeom prst="rect">
            <a:avLst/>
          </a:prstGeom>
          <a:noFill/>
          <a:ln/>
        </p:spPr>
        <p:txBody>
          <a:bodyPr wrap="square" lIns="0" tIns="0" rIns="0" bIns="0" rtlCol="0" anchor="t"/>
          <a:lstStyle/>
          <a:p>
            <a:pPr algn="ctr" indent="0" marL="0">
              <a:lnSpc>
                <a:spcPts val="1100"/>
              </a:lnSpc>
              <a:buNone/>
            </a:pPr>
            <a:r>
              <a:rPr lang="en-US" sz="850" i="1" dirty="0">
                <a:solidFill>
                  <a:srgbClr val="8494A6"/>
                </a:solidFill>
                <a:latin typeface="Calibri" pitchFamily="34" charset="0"/>
                <a:ea typeface="Calibri" pitchFamily="34" charset="-122"/>
                <a:cs typeface="Calibri" pitchFamily="34" charset="-120"/>
              </a:rPr>
              <a:t>→  the permit authorises the task</a:t>
            </a:r>
            <a:endParaRPr lang="en-US" sz="850" dirty="0"/>
          </a:p>
        </p:txBody>
      </p:sp>
      <p:sp>
        <p:nvSpPr>
          <p:cNvPr id="35" name="Shape 33"/>
          <p:cNvSpPr/>
          <p:nvPr/>
        </p:nvSpPr>
        <p:spPr>
          <a:xfrm>
            <a:off x="566928" y="6053328"/>
            <a:ext cx="11055096" cy="475488"/>
          </a:xfrm>
          <a:prstGeom prst="roundRect">
            <a:avLst>
              <a:gd name="adj" fmla="val 11538"/>
            </a:avLst>
          </a:prstGeom>
          <a:solidFill>
            <a:srgbClr val="F1F4F8"/>
          </a:solidFill>
          <a:ln w="9525">
            <a:solidFill>
              <a:srgbClr val="CFD8E3"/>
            </a:solidFill>
            <a:prstDash val="solid"/>
          </a:ln>
        </p:spPr>
      </p:sp>
      <p:sp>
        <p:nvSpPr>
          <p:cNvPr id="36" name="Text 34"/>
          <p:cNvSpPr/>
          <p:nvPr/>
        </p:nvSpPr>
        <p:spPr>
          <a:xfrm>
            <a:off x="713232"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Unit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CDU, 120,000 bpsd, medium sour blend</a:t>
            </a:r>
            <a:endParaRPr lang="en-US" sz="950" dirty="0"/>
          </a:p>
        </p:txBody>
      </p:sp>
      <p:sp>
        <p:nvSpPr>
          <p:cNvPr id="37" name="Text 35"/>
          <p:cNvSpPr/>
          <p:nvPr/>
        </p:nvSpPr>
        <p:spPr>
          <a:xfrm>
            <a:off x="4398264"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Period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12 months to 30 June 2026</a:t>
            </a:r>
            <a:endParaRPr lang="en-US" sz="950" dirty="0"/>
          </a:p>
        </p:txBody>
      </p:sp>
      <p:sp>
        <p:nvSpPr>
          <p:cNvPr id="38" name="Text 36"/>
          <p:cNvSpPr/>
          <p:nvPr/>
        </p:nvSpPr>
        <p:spPr>
          <a:xfrm>
            <a:off x="8083296"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Standards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API RP 571 / 580 / 584 / 682 · ISO 45001</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66928" y="1371600"/>
            <a:ext cx="2926080" cy="2377440"/>
          </a:xfrm>
          <a:prstGeom prst="rect">
            <a:avLst/>
          </a:prstGeom>
          <a:noFill/>
          <a:ln/>
        </p:spPr>
        <p:txBody>
          <a:bodyPr wrap="square" lIns="0" tIns="0" rIns="0" bIns="0" rtlCol="0" anchor="ctr"/>
          <a:lstStyle/>
          <a:p>
            <a:pPr indent="0" marL="0">
              <a:buNone/>
            </a:pPr>
            <a:r>
              <a:rPr lang="en-US" sz="15000" b="1" dirty="0">
                <a:solidFill>
                  <a:srgbClr val="12395F"/>
                </a:solidFill>
                <a:latin typeface="Cambria" pitchFamily="34" charset="0"/>
                <a:ea typeface="Cambria" pitchFamily="34" charset="-122"/>
                <a:cs typeface="Cambria" pitchFamily="34" charset="-120"/>
              </a:rPr>
              <a:t>01</a:t>
            </a:r>
            <a:endParaRPr lang="en-US" sz="15000" dirty="0"/>
          </a:p>
        </p:txBody>
      </p:sp>
      <p:sp>
        <p:nvSpPr>
          <p:cNvPr id="3" name="Text 1"/>
          <p:cNvSpPr/>
          <p:nvPr/>
        </p:nvSpPr>
        <p:spPr>
          <a:xfrm>
            <a:off x="3584448" y="2148840"/>
            <a:ext cx="8037576" cy="274320"/>
          </a:xfrm>
          <a:prstGeom prst="rect">
            <a:avLst/>
          </a:prstGeom>
          <a:noFill/>
          <a:ln/>
        </p:spPr>
        <p:txBody>
          <a:bodyPr wrap="square" lIns="0" tIns="0" rIns="0" bIns="0" rtlCol="0" anchor="ctr"/>
          <a:lstStyle/>
          <a:p>
            <a:pPr indent="0" marL="0">
              <a:buNone/>
            </a:pPr>
            <a:r>
              <a:rPr lang="en-US" sz="1200" b="1" spc="200" kern="0" dirty="0">
                <a:solidFill>
                  <a:srgbClr val="7FA8CE"/>
                </a:solidFill>
                <a:latin typeface="Calibri" pitchFamily="34" charset="0"/>
                <a:ea typeface="Calibri" pitchFamily="34" charset="-122"/>
                <a:cs typeface="Calibri" pitchFamily="34" charset="-120"/>
              </a:rPr>
              <a:t>THE BACKWARD LOOK</a:t>
            </a:r>
            <a:endParaRPr lang="en-US" sz="1200" dirty="0"/>
          </a:p>
        </p:txBody>
      </p:sp>
      <p:sp>
        <p:nvSpPr>
          <p:cNvPr id="4" name="Text 2"/>
          <p:cNvSpPr/>
          <p:nvPr/>
        </p:nvSpPr>
        <p:spPr>
          <a:xfrm>
            <a:off x="3584448" y="2414016"/>
            <a:ext cx="8037576" cy="1042416"/>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Why three things failed</a:t>
            </a:r>
            <a:endParaRPr lang="en-US" sz="3600" dirty="0"/>
          </a:p>
        </p:txBody>
      </p:sp>
      <p:sp>
        <p:nvSpPr>
          <p:cNvPr id="5" name="Text 3"/>
          <p:cNvSpPr/>
          <p:nvPr/>
        </p:nvSpPr>
        <p:spPr>
          <a:xfrm>
            <a:off x="3584448" y="3566160"/>
            <a:ext cx="7580376" cy="868680"/>
          </a:xfrm>
          <a:prstGeom prst="rect">
            <a:avLst/>
          </a:prstGeom>
          <a:noFill/>
          <a:ln/>
        </p:spPr>
        <p:txBody>
          <a:bodyPr wrap="square" lIns="0" tIns="0" rIns="0" bIns="0" rtlCol="0" anchor="t"/>
          <a:lstStyle/>
          <a:p>
            <a:pPr indent="0" marL="0">
              <a:lnSpc>
                <a:spcPts val="2100"/>
              </a:lnSpc>
              <a:buNone/>
            </a:pPr>
            <a:r>
              <a:rPr lang="en-US" sz="1400" dirty="0">
                <a:solidFill>
                  <a:srgbClr val="B9CBDD"/>
                </a:solidFill>
                <a:latin typeface="Calibri" pitchFamily="34" charset="0"/>
                <a:ea typeface="Calibri" pitchFamily="34" charset="-122"/>
                <a:cs typeface="Calibri" pitchFamily="34" charset="-120"/>
              </a:rPr>
              <a:t>Three different mechanisms — aqueous corrosion, mechanical reliability, high-temperature metallurgy. One analysis template.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ONE METHOD, APPLIED THREE TIMES</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The same seven questions, asked of every failure.</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The repetition is deliberate. By the third failure you will be predicting the structure and listening to the content.</a:t>
            </a:r>
            <a:endParaRPr lang="en-US" sz="1200" dirty="0"/>
          </a:p>
        </p:txBody>
      </p:sp>
      <p:sp>
        <p:nvSpPr>
          <p:cNvPr id="5" name="Shape 3"/>
          <p:cNvSpPr/>
          <p:nvPr/>
        </p:nvSpPr>
        <p:spPr>
          <a:xfrm>
            <a:off x="566928" y="1645920"/>
            <a:ext cx="5358384" cy="713232"/>
          </a:xfrm>
          <a:prstGeom prst="roundRect">
            <a:avLst>
              <a:gd name="adj" fmla="val 6410"/>
            </a:avLst>
          </a:prstGeom>
          <a:solidFill>
            <a:srgbClr val="F1F4F8"/>
          </a:solidFill>
          <a:ln w="9525">
            <a:solidFill>
              <a:srgbClr val="CFD8E3"/>
            </a:solidFill>
            <a:prstDash val="solid"/>
          </a:ln>
        </p:spPr>
      </p:sp>
      <p:sp>
        <p:nvSpPr>
          <p:cNvPr id="6" name="Shape 4"/>
          <p:cNvSpPr/>
          <p:nvPr/>
        </p:nvSpPr>
        <p:spPr>
          <a:xfrm>
            <a:off x="749808" y="1819656"/>
            <a:ext cx="365760" cy="365760"/>
          </a:xfrm>
          <a:prstGeom prst="ellipse">
            <a:avLst/>
          </a:prstGeom>
          <a:solidFill>
            <a:srgbClr val="8FA0B4"/>
          </a:solidFill>
          <a:ln/>
        </p:spPr>
      </p:sp>
      <p:sp>
        <p:nvSpPr>
          <p:cNvPr id="7" name="Text 5"/>
          <p:cNvSpPr/>
          <p:nvPr/>
        </p:nvSpPr>
        <p:spPr>
          <a:xfrm>
            <a:off x="749808" y="181965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8" name="Text 6"/>
          <p:cNvSpPr/>
          <p:nvPr/>
        </p:nvSpPr>
        <p:spPr>
          <a:xfrm>
            <a:off x="1225296" y="1737360"/>
            <a:ext cx="4498848" cy="274320"/>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Event and consequence</a:t>
            </a:r>
            <a:endParaRPr lang="en-US" sz="1250" dirty="0"/>
          </a:p>
        </p:txBody>
      </p:sp>
      <p:sp>
        <p:nvSpPr>
          <p:cNvPr id="9" name="Text 7"/>
          <p:cNvSpPr/>
          <p:nvPr/>
        </p:nvSpPr>
        <p:spPr>
          <a:xfrm>
            <a:off x="1225296" y="2011680"/>
            <a:ext cx="4498848" cy="274320"/>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What happened, what it cost, who could have been hurt</a:t>
            </a:r>
            <a:endParaRPr lang="en-US" sz="1050" dirty="0"/>
          </a:p>
        </p:txBody>
      </p:sp>
      <p:sp>
        <p:nvSpPr>
          <p:cNvPr id="10" name="Shape 8"/>
          <p:cNvSpPr/>
          <p:nvPr/>
        </p:nvSpPr>
        <p:spPr>
          <a:xfrm>
            <a:off x="566928" y="2505456"/>
            <a:ext cx="5358384" cy="713232"/>
          </a:xfrm>
          <a:prstGeom prst="roundRect">
            <a:avLst>
              <a:gd name="adj" fmla="val 6410"/>
            </a:avLst>
          </a:prstGeom>
          <a:solidFill>
            <a:srgbClr val="F1F4F8"/>
          </a:solidFill>
          <a:ln w="9525">
            <a:solidFill>
              <a:srgbClr val="CFD8E3"/>
            </a:solidFill>
            <a:prstDash val="solid"/>
          </a:ln>
        </p:spPr>
      </p:sp>
      <p:sp>
        <p:nvSpPr>
          <p:cNvPr id="11" name="Shape 9"/>
          <p:cNvSpPr/>
          <p:nvPr/>
        </p:nvSpPr>
        <p:spPr>
          <a:xfrm>
            <a:off x="749808" y="2679192"/>
            <a:ext cx="365760" cy="365760"/>
          </a:xfrm>
          <a:prstGeom prst="ellipse">
            <a:avLst/>
          </a:prstGeom>
          <a:solidFill>
            <a:srgbClr val="8FA0B4"/>
          </a:solidFill>
          <a:ln/>
        </p:spPr>
      </p:sp>
      <p:sp>
        <p:nvSpPr>
          <p:cNvPr id="12" name="Text 10"/>
          <p:cNvSpPr/>
          <p:nvPr/>
        </p:nvSpPr>
        <p:spPr>
          <a:xfrm>
            <a:off x="749808" y="26791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3" name="Text 11"/>
          <p:cNvSpPr/>
          <p:nvPr/>
        </p:nvSpPr>
        <p:spPr>
          <a:xfrm>
            <a:off x="1225296" y="2596896"/>
            <a:ext cx="4498848" cy="274320"/>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Evidence preserved</a:t>
            </a:r>
            <a:endParaRPr lang="en-US" sz="1250" dirty="0"/>
          </a:p>
        </p:txBody>
      </p:sp>
      <p:sp>
        <p:nvSpPr>
          <p:cNvPr id="14" name="Text 12"/>
          <p:cNvSpPr/>
          <p:nvPr/>
        </p:nvSpPr>
        <p:spPr>
          <a:xfrm>
            <a:off x="1225296" y="2871216"/>
            <a:ext cx="4498848" cy="274320"/>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What we secured before anything was cleaned or repaired</a:t>
            </a:r>
            <a:endParaRPr lang="en-US" sz="1050" dirty="0"/>
          </a:p>
        </p:txBody>
      </p:sp>
      <p:sp>
        <p:nvSpPr>
          <p:cNvPr id="15" name="Shape 13"/>
          <p:cNvSpPr/>
          <p:nvPr/>
        </p:nvSpPr>
        <p:spPr>
          <a:xfrm>
            <a:off x="566928" y="3364992"/>
            <a:ext cx="5358384" cy="713232"/>
          </a:xfrm>
          <a:prstGeom prst="roundRect">
            <a:avLst>
              <a:gd name="adj" fmla="val 6410"/>
            </a:avLst>
          </a:prstGeom>
          <a:solidFill>
            <a:srgbClr val="F1F4F8"/>
          </a:solidFill>
          <a:ln w="9525">
            <a:solidFill>
              <a:srgbClr val="CFD8E3"/>
            </a:solidFill>
            <a:prstDash val="solid"/>
          </a:ln>
        </p:spPr>
      </p:sp>
      <p:sp>
        <p:nvSpPr>
          <p:cNvPr id="16" name="Shape 14"/>
          <p:cNvSpPr/>
          <p:nvPr/>
        </p:nvSpPr>
        <p:spPr>
          <a:xfrm>
            <a:off x="749808" y="3538728"/>
            <a:ext cx="365760" cy="365760"/>
          </a:xfrm>
          <a:prstGeom prst="ellipse">
            <a:avLst/>
          </a:prstGeom>
          <a:solidFill>
            <a:srgbClr val="8FA0B4"/>
          </a:solidFill>
          <a:ln/>
        </p:spPr>
      </p:sp>
      <p:sp>
        <p:nvSpPr>
          <p:cNvPr id="17" name="Text 15"/>
          <p:cNvSpPr/>
          <p:nvPr/>
        </p:nvSpPr>
        <p:spPr>
          <a:xfrm>
            <a:off x="749808" y="35387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8" name="Text 16"/>
          <p:cNvSpPr/>
          <p:nvPr/>
        </p:nvSpPr>
        <p:spPr>
          <a:xfrm>
            <a:off x="1225296" y="3456432"/>
            <a:ext cx="4498848" cy="274320"/>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Physical root</a:t>
            </a:r>
            <a:endParaRPr lang="en-US" sz="1250" dirty="0"/>
          </a:p>
        </p:txBody>
      </p:sp>
      <p:sp>
        <p:nvSpPr>
          <p:cNvPr id="19" name="Text 17"/>
          <p:cNvSpPr/>
          <p:nvPr/>
        </p:nvSpPr>
        <p:spPr>
          <a:xfrm>
            <a:off x="1225296" y="3730752"/>
            <a:ext cx="4498848" cy="274320"/>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What the metal actually did, named per API RP 571</a:t>
            </a:r>
            <a:endParaRPr lang="en-US" sz="1050" dirty="0"/>
          </a:p>
        </p:txBody>
      </p:sp>
      <p:sp>
        <p:nvSpPr>
          <p:cNvPr id="20" name="Shape 18"/>
          <p:cNvSpPr/>
          <p:nvPr/>
        </p:nvSpPr>
        <p:spPr>
          <a:xfrm>
            <a:off x="566928" y="4224528"/>
            <a:ext cx="5358384" cy="713232"/>
          </a:xfrm>
          <a:prstGeom prst="roundRect">
            <a:avLst>
              <a:gd name="adj" fmla="val 6410"/>
            </a:avLst>
          </a:prstGeom>
          <a:solidFill>
            <a:srgbClr val="F1F4F8"/>
          </a:solidFill>
          <a:ln w="9525">
            <a:solidFill>
              <a:srgbClr val="CFD8E3"/>
            </a:solidFill>
            <a:prstDash val="solid"/>
          </a:ln>
        </p:spPr>
      </p:sp>
      <p:sp>
        <p:nvSpPr>
          <p:cNvPr id="21" name="Shape 19"/>
          <p:cNvSpPr/>
          <p:nvPr/>
        </p:nvSpPr>
        <p:spPr>
          <a:xfrm>
            <a:off x="749808" y="4398264"/>
            <a:ext cx="365760" cy="365760"/>
          </a:xfrm>
          <a:prstGeom prst="ellipse">
            <a:avLst/>
          </a:prstGeom>
          <a:solidFill>
            <a:srgbClr val="8FA0B4"/>
          </a:solidFill>
          <a:ln/>
        </p:spPr>
      </p:sp>
      <p:sp>
        <p:nvSpPr>
          <p:cNvPr id="22" name="Text 20"/>
          <p:cNvSpPr/>
          <p:nvPr/>
        </p:nvSpPr>
        <p:spPr>
          <a:xfrm>
            <a:off x="749808" y="43982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3" name="Text 21"/>
          <p:cNvSpPr/>
          <p:nvPr/>
        </p:nvSpPr>
        <p:spPr>
          <a:xfrm>
            <a:off x="1225296" y="4315968"/>
            <a:ext cx="4498848" cy="274320"/>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Human root</a:t>
            </a:r>
            <a:endParaRPr lang="en-US" sz="1250" dirty="0"/>
          </a:p>
        </p:txBody>
      </p:sp>
      <p:sp>
        <p:nvSpPr>
          <p:cNvPr id="24" name="Text 22"/>
          <p:cNvSpPr/>
          <p:nvPr/>
        </p:nvSpPr>
        <p:spPr>
          <a:xfrm>
            <a:off x="1225296" y="4590288"/>
            <a:ext cx="4498848" cy="274320"/>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What people did, or did not do, and why it was reasonable to them</a:t>
            </a:r>
            <a:endParaRPr lang="en-US" sz="1050" dirty="0"/>
          </a:p>
        </p:txBody>
      </p:sp>
      <p:sp>
        <p:nvSpPr>
          <p:cNvPr id="25" name="Shape 23"/>
          <p:cNvSpPr/>
          <p:nvPr/>
        </p:nvSpPr>
        <p:spPr>
          <a:xfrm>
            <a:off x="6263640" y="1645920"/>
            <a:ext cx="5358384" cy="713232"/>
          </a:xfrm>
          <a:prstGeom prst="roundRect">
            <a:avLst>
              <a:gd name="adj" fmla="val 6410"/>
            </a:avLst>
          </a:prstGeom>
          <a:solidFill>
            <a:srgbClr val="E4EAF1"/>
          </a:solidFill>
          <a:ln w="9525">
            <a:solidFill>
              <a:srgbClr val="00539B"/>
            </a:solidFill>
            <a:prstDash val="solid"/>
          </a:ln>
        </p:spPr>
      </p:sp>
      <p:sp>
        <p:nvSpPr>
          <p:cNvPr id="26" name="Shape 24"/>
          <p:cNvSpPr/>
          <p:nvPr/>
        </p:nvSpPr>
        <p:spPr>
          <a:xfrm>
            <a:off x="6446520" y="1819656"/>
            <a:ext cx="365760" cy="365760"/>
          </a:xfrm>
          <a:prstGeom prst="ellipse">
            <a:avLst/>
          </a:prstGeom>
          <a:solidFill>
            <a:srgbClr val="00539B"/>
          </a:solidFill>
          <a:ln/>
        </p:spPr>
      </p:sp>
      <p:sp>
        <p:nvSpPr>
          <p:cNvPr id="27" name="Text 25"/>
          <p:cNvSpPr/>
          <p:nvPr/>
        </p:nvSpPr>
        <p:spPr>
          <a:xfrm>
            <a:off x="6446520" y="181965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p>
        </p:txBody>
      </p:sp>
      <p:sp>
        <p:nvSpPr>
          <p:cNvPr id="28" name="Text 26"/>
          <p:cNvSpPr/>
          <p:nvPr/>
        </p:nvSpPr>
        <p:spPr>
          <a:xfrm>
            <a:off x="6922008" y="1737360"/>
            <a:ext cx="4498848" cy="274320"/>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Latent / system root</a:t>
            </a:r>
            <a:endParaRPr lang="en-US" sz="1250" dirty="0"/>
          </a:p>
        </p:txBody>
      </p:sp>
      <p:sp>
        <p:nvSpPr>
          <p:cNvPr id="29" name="Text 27"/>
          <p:cNvSpPr/>
          <p:nvPr/>
        </p:nvSpPr>
        <p:spPr>
          <a:xfrm>
            <a:off x="6922008" y="2011680"/>
            <a:ext cx="4498848" cy="274320"/>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What the organisation permitted or never asked for</a:t>
            </a:r>
            <a:endParaRPr lang="en-US" sz="1050" dirty="0"/>
          </a:p>
        </p:txBody>
      </p:sp>
      <p:sp>
        <p:nvSpPr>
          <p:cNvPr id="30" name="Shape 28"/>
          <p:cNvSpPr/>
          <p:nvPr/>
        </p:nvSpPr>
        <p:spPr>
          <a:xfrm>
            <a:off x="6263640" y="2505456"/>
            <a:ext cx="5358384" cy="713232"/>
          </a:xfrm>
          <a:prstGeom prst="roundRect">
            <a:avLst>
              <a:gd name="adj" fmla="val 6410"/>
            </a:avLst>
          </a:prstGeom>
          <a:solidFill>
            <a:srgbClr val="F1F4F8"/>
          </a:solidFill>
          <a:ln w="9525">
            <a:solidFill>
              <a:srgbClr val="CFD8E3"/>
            </a:solidFill>
            <a:prstDash val="solid"/>
          </a:ln>
        </p:spPr>
      </p:sp>
      <p:sp>
        <p:nvSpPr>
          <p:cNvPr id="31" name="Shape 29"/>
          <p:cNvSpPr/>
          <p:nvPr/>
        </p:nvSpPr>
        <p:spPr>
          <a:xfrm>
            <a:off x="6446520" y="2679192"/>
            <a:ext cx="365760" cy="365760"/>
          </a:xfrm>
          <a:prstGeom prst="ellipse">
            <a:avLst/>
          </a:prstGeom>
          <a:solidFill>
            <a:srgbClr val="8FA0B4"/>
          </a:solidFill>
          <a:ln/>
        </p:spPr>
      </p:sp>
      <p:sp>
        <p:nvSpPr>
          <p:cNvPr id="32" name="Text 30"/>
          <p:cNvSpPr/>
          <p:nvPr/>
        </p:nvSpPr>
        <p:spPr>
          <a:xfrm>
            <a:off x="6446520" y="26791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33" name="Text 31"/>
          <p:cNvSpPr/>
          <p:nvPr/>
        </p:nvSpPr>
        <p:spPr>
          <a:xfrm>
            <a:off x="6922008" y="2596896"/>
            <a:ext cx="4498848" cy="274320"/>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Barrier analysis</a:t>
            </a:r>
            <a:endParaRPr lang="en-US" sz="1250" dirty="0"/>
          </a:p>
        </p:txBody>
      </p:sp>
      <p:sp>
        <p:nvSpPr>
          <p:cNvPr id="34" name="Text 32"/>
          <p:cNvSpPr/>
          <p:nvPr/>
        </p:nvSpPr>
        <p:spPr>
          <a:xfrm>
            <a:off x="6922008" y="2871216"/>
            <a:ext cx="4498848" cy="274320"/>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What should have stopped it — absent, degraded, or working</a:t>
            </a:r>
            <a:endParaRPr lang="en-US" sz="1050" dirty="0"/>
          </a:p>
        </p:txBody>
      </p:sp>
      <p:sp>
        <p:nvSpPr>
          <p:cNvPr id="35" name="Shape 33"/>
          <p:cNvSpPr/>
          <p:nvPr/>
        </p:nvSpPr>
        <p:spPr>
          <a:xfrm>
            <a:off x="6263640" y="3364992"/>
            <a:ext cx="5358384" cy="713232"/>
          </a:xfrm>
          <a:prstGeom prst="roundRect">
            <a:avLst>
              <a:gd name="adj" fmla="val 6410"/>
            </a:avLst>
          </a:prstGeom>
          <a:solidFill>
            <a:srgbClr val="F1F4F8"/>
          </a:solidFill>
          <a:ln w="9525">
            <a:solidFill>
              <a:srgbClr val="CFD8E3"/>
            </a:solidFill>
            <a:prstDash val="solid"/>
          </a:ln>
        </p:spPr>
      </p:sp>
      <p:sp>
        <p:nvSpPr>
          <p:cNvPr id="36" name="Shape 34"/>
          <p:cNvSpPr/>
          <p:nvPr/>
        </p:nvSpPr>
        <p:spPr>
          <a:xfrm>
            <a:off x="6446520" y="3538728"/>
            <a:ext cx="365760" cy="365760"/>
          </a:xfrm>
          <a:prstGeom prst="ellipse">
            <a:avLst/>
          </a:prstGeom>
          <a:solidFill>
            <a:srgbClr val="8FA0B4"/>
          </a:solidFill>
          <a:ln/>
        </p:spPr>
      </p:sp>
      <p:sp>
        <p:nvSpPr>
          <p:cNvPr id="37" name="Text 35"/>
          <p:cNvSpPr/>
          <p:nvPr/>
        </p:nvSpPr>
        <p:spPr>
          <a:xfrm>
            <a:off x="6446520" y="35387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p>
        </p:txBody>
      </p:sp>
      <p:sp>
        <p:nvSpPr>
          <p:cNvPr id="38" name="Text 36"/>
          <p:cNvSpPr/>
          <p:nvPr/>
        </p:nvSpPr>
        <p:spPr>
          <a:xfrm>
            <a:off x="6922008" y="3456432"/>
            <a:ext cx="4498848" cy="274320"/>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Corrective actions</a:t>
            </a:r>
            <a:endParaRPr lang="en-US" sz="1250" dirty="0"/>
          </a:p>
        </p:txBody>
      </p:sp>
      <p:sp>
        <p:nvSpPr>
          <p:cNvPr id="39" name="Text 37"/>
          <p:cNvSpPr/>
          <p:nvPr/>
        </p:nvSpPr>
        <p:spPr>
          <a:xfrm>
            <a:off x="6922008" y="3730752"/>
            <a:ext cx="4498848" cy="274320"/>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Ranked against the hierarchy of controls, not listed at random</a:t>
            </a:r>
            <a:endParaRPr lang="en-US" sz="1050" dirty="0"/>
          </a:p>
        </p:txBody>
      </p:sp>
      <p:sp>
        <p:nvSpPr>
          <p:cNvPr id="40" name="Shape 38"/>
          <p:cNvSpPr/>
          <p:nvPr/>
        </p:nvSpPr>
        <p:spPr>
          <a:xfrm>
            <a:off x="6263640" y="4224528"/>
            <a:ext cx="5358384" cy="713232"/>
          </a:xfrm>
          <a:prstGeom prst="roundRect">
            <a:avLst>
              <a:gd name="adj" fmla="val 6410"/>
            </a:avLst>
          </a:prstGeom>
          <a:solidFill>
            <a:srgbClr val="0A2540"/>
          </a:solidFill>
          <a:ln/>
        </p:spPr>
      </p:sp>
      <p:sp>
        <p:nvSpPr>
          <p:cNvPr id="41" name="Text 39"/>
          <p:cNvSpPr/>
          <p:nvPr/>
        </p:nvSpPr>
        <p:spPr>
          <a:xfrm>
            <a:off x="6483096" y="4224528"/>
            <a:ext cx="4919472" cy="713232"/>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Section E is where the value is. </a:t>
            </a:r>
            <a:pPr indent="0" marL="0">
              <a:lnSpc>
                <a:spcPts val="1500"/>
              </a:lnSpc>
              <a:buNone/>
            </a:pPr>
            <a:r>
              <a:rPr lang="en-US" sz="1150" dirty="0">
                <a:solidFill>
                  <a:srgbClr val="B9CBDD"/>
                </a:solidFill>
                <a:latin typeface="Calibri" pitchFamily="34" charset="0"/>
                <a:ea typeface="Calibri" pitchFamily="34" charset="-122"/>
                <a:cs typeface="Calibri" pitchFamily="34" charset="-120"/>
              </a:rPr>
              <a:t>A report that stops at C and D is a maintenance record.</a:t>
            </a:r>
            <a:endParaRPr lang="en-US" sz="1150" dirty="0"/>
          </a:p>
        </p:txBody>
      </p:sp>
      <p:sp>
        <p:nvSpPr>
          <p:cNvPr id="42" name="Text 40"/>
          <p:cNvSpPr/>
          <p:nvPr/>
        </p:nvSpPr>
        <p:spPr>
          <a:xfrm>
            <a:off x="566928" y="5230368"/>
            <a:ext cx="11055096" cy="274320"/>
          </a:xfrm>
          <a:prstGeom prst="rect">
            <a:avLst/>
          </a:prstGeom>
          <a:noFill/>
          <a:ln/>
        </p:spPr>
        <p:txBody>
          <a:bodyPr wrap="square" lIns="0" tIns="0" rIns="0" bIns="0" rtlCol="0" anchor="ctr"/>
          <a:lstStyle/>
          <a:p>
            <a:pPr indent="0" marL="0">
              <a:buNone/>
            </a:pPr>
            <a:r>
              <a:rPr lang="en-US" sz="1100" i="1" dirty="0">
                <a:solidFill>
                  <a:srgbClr val="56677A"/>
                </a:solidFill>
                <a:latin typeface="Calibri" pitchFamily="34" charset="0"/>
                <a:ea typeface="Calibri" pitchFamily="34" charset="-122"/>
                <a:cs typeface="Calibri" pitchFamily="34" charset="-120"/>
              </a:rPr>
              <a:t>Drawn as a logic tree in the handout; the Five Whys chain runs underneath each one as a narrative caption.</a:t>
            </a:r>
            <a:endParaRPr lang="en-US" sz="1100" dirty="0"/>
          </a:p>
        </p:txBody>
      </p:sp>
      <p:sp>
        <p:nvSpPr>
          <p:cNvPr id="43" name="Shape 41"/>
          <p:cNvSpPr/>
          <p:nvPr/>
        </p:nvSpPr>
        <p:spPr>
          <a:xfrm>
            <a:off x="566928" y="6053328"/>
            <a:ext cx="11055096" cy="475488"/>
          </a:xfrm>
          <a:prstGeom prst="roundRect">
            <a:avLst>
              <a:gd name="adj" fmla="val 11538"/>
            </a:avLst>
          </a:prstGeom>
          <a:solidFill>
            <a:srgbClr val="F1F4F8"/>
          </a:solidFill>
          <a:ln w="9525">
            <a:solidFill>
              <a:srgbClr val="CFD8E3"/>
            </a:solidFill>
            <a:prstDash val="solid"/>
          </a:ln>
        </p:spPr>
      </p:sp>
      <p:sp>
        <p:nvSpPr>
          <p:cNvPr id="44" name="Text 42"/>
          <p:cNvSpPr/>
          <p:nvPr/>
        </p:nvSpPr>
        <p:spPr>
          <a:xfrm>
            <a:off x="713232" y="6053328"/>
            <a:ext cx="5234940"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Mechanism naming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API RP 571 terminology throughout — never the word “corrosion” on its own</a:t>
            </a:r>
            <a:endParaRPr lang="en-US" sz="950" dirty="0"/>
          </a:p>
        </p:txBody>
      </p:sp>
      <p:sp>
        <p:nvSpPr>
          <p:cNvPr id="45" name="Text 43"/>
          <p:cNvSpPr/>
          <p:nvPr/>
        </p:nvSpPr>
        <p:spPr>
          <a:xfrm>
            <a:off x="6240780" y="6053328"/>
            <a:ext cx="5234940"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Action ranking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Eliminate → substitute → engineering → administrative → PPE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FAILURE 1 OF 3  ·  E-1103A OVERHEAD CONDENSER  ·  14 NOV 2025</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We inspected the wrong part of this line for years.</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Ammonium chloride salt corrosion, progressing to hydrochloric acid attack once free water condensed (API RP 571).</a:t>
            </a:r>
            <a:endParaRPr lang="en-US" sz="1200" dirty="0"/>
          </a:p>
        </p:txBody>
      </p:sp>
      <p:sp>
        <p:nvSpPr>
          <p:cNvPr id="5" name="Shape 3"/>
          <p:cNvSpPr/>
          <p:nvPr/>
        </p:nvSpPr>
        <p:spPr>
          <a:xfrm>
            <a:off x="566928" y="1645920"/>
            <a:ext cx="6309360" cy="877824"/>
          </a:xfrm>
          <a:prstGeom prst="roundRect">
            <a:avLst>
              <a:gd name="adj" fmla="val 5208"/>
            </a:avLst>
          </a:prstGeom>
          <a:solidFill>
            <a:srgbClr val="F1F4F8"/>
          </a:solidFill>
          <a:ln w="9525">
            <a:solidFill>
              <a:srgbClr val="CFD8E3"/>
            </a:solidFill>
            <a:prstDash val="solid"/>
          </a:ln>
        </p:spPr>
      </p:sp>
      <p:sp>
        <p:nvSpPr>
          <p:cNvPr id="6" name="Text 4"/>
          <p:cNvSpPr/>
          <p:nvPr/>
        </p:nvSpPr>
        <p:spPr>
          <a:xfrm>
            <a:off x="768096" y="1719072"/>
            <a:ext cx="5907024" cy="182880"/>
          </a:xfrm>
          <a:prstGeom prst="rect">
            <a:avLst/>
          </a:prstGeom>
          <a:noFill/>
          <a:ln/>
        </p:spPr>
        <p:txBody>
          <a:bodyPr wrap="square" lIns="0" tIns="0" rIns="0" bIns="0" rtlCol="0" anchor="ctr"/>
          <a:lstStyle/>
          <a:p>
            <a:pPr indent="0" marL="0">
              <a:buNone/>
            </a:pPr>
            <a:r>
              <a:rPr lang="en-US" sz="850" b="1" spc="120" kern="0" dirty="0">
                <a:solidFill>
                  <a:srgbClr val="C8102E"/>
                </a:solidFill>
                <a:latin typeface="Calibri" pitchFamily="34" charset="0"/>
                <a:ea typeface="Calibri" pitchFamily="34" charset="-122"/>
                <a:cs typeface="Calibri" pitchFamily="34" charset="-120"/>
              </a:rPr>
              <a:t>EVENT</a:t>
            </a:r>
            <a:endParaRPr lang="en-US" sz="850" dirty="0"/>
          </a:p>
        </p:txBody>
      </p:sp>
      <p:sp>
        <p:nvSpPr>
          <p:cNvPr id="7" name="Text 5"/>
          <p:cNvSpPr/>
          <p:nvPr/>
        </p:nvSpPr>
        <p:spPr>
          <a:xfrm>
            <a:off x="768096" y="1901952"/>
            <a:ext cx="5907024" cy="54864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Through-wall leak in the upper tube rows and the overhead elbow. Sour hydrocarbon and sour water released at grade; H₂S measured 28 ppm at source. Six days down, $4.2M.</a:t>
            </a:r>
            <a:endParaRPr lang="en-US" sz="1100" dirty="0"/>
          </a:p>
        </p:txBody>
      </p:sp>
      <p:sp>
        <p:nvSpPr>
          <p:cNvPr id="8" name="Shape 6"/>
          <p:cNvSpPr/>
          <p:nvPr/>
        </p:nvSpPr>
        <p:spPr>
          <a:xfrm>
            <a:off x="950976" y="2528316"/>
            <a:ext cx="182880" cy="137160"/>
          </a:xfrm>
          <a:prstGeom prst="downArrow">
            <a:avLst/>
          </a:prstGeom>
          <a:solidFill>
            <a:srgbClr val="AEBBCA"/>
          </a:solidFill>
          <a:ln/>
        </p:spPr>
      </p:sp>
      <p:sp>
        <p:nvSpPr>
          <p:cNvPr id="9" name="Shape 7"/>
          <p:cNvSpPr/>
          <p:nvPr/>
        </p:nvSpPr>
        <p:spPr>
          <a:xfrm>
            <a:off x="566928" y="2660904"/>
            <a:ext cx="6309360" cy="877824"/>
          </a:xfrm>
          <a:prstGeom prst="roundRect">
            <a:avLst>
              <a:gd name="adj" fmla="val 5208"/>
            </a:avLst>
          </a:prstGeom>
          <a:solidFill>
            <a:srgbClr val="F1F4F8"/>
          </a:solidFill>
          <a:ln w="9525">
            <a:solidFill>
              <a:srgbClr val="CFD8E3"/>
            </a:solidFill>
            <a:prstDash val="solid"/>
          </a:ln>
        </p:spPr>
      </p:sp>
      <p:sp>
        <p:nvSpPr>
          <p:cNvPr id="10" name="Text 8"/>
          <p:cNvSpPr/>
          <p:nvPr/>
        </p:nvSpPr>
        <p:spPr>
          <a:xfrm>
            <a:off x="768096" y="2734056"/>
            <a:ext cx="5907024" cy="182880"/>
          </a:xfrm>
          <a:prstGeom prst="rect">
            <a:avLst/>
          </a:prstGeom>
          <a:noFill/>
          <a:ln/>
        </p:spPr>
        <p:txBody>
          <a:bodyPr wrap="square" lIns="0" tIns="0" rIns="0" bIns="0" rtlCol="0" anchor="ctr"/>
          <a:lstStyle/>
          <a:p>
            <a:pPr indent="0" marL="0">
              <a:buNone/>
            </a:pPr>
            <a:r>
              <a:rPr lang="en-US" sz="850" b="1" spc="120" kern="0" dirty="0">
                <a:solidFill>
                  <a:srgbClr val="0A2540"/>
                </a:solidFill>
                <a:latin typeface="Calibri" pitchFamily="34" charset="0"/>
                <a:ea typeface="Calibri" pitchFamily="34" charset="-122"/>
                <a:cs typeface="Calibri" pitchFamily="34" charset="-120"/>
              </a:rPr>
              <a:t>PHYSICAL ROOT</a:t>
            </a:r>
            <a:endParaRPr lang="en-US" sz="850" dirty="0"/>
          </a:p>
        </p:txBody>
      </p:sp>
      <p:sp>
        <p:nvSpPr>
          <p:cNvPr id="11" name="Text 9"/>
          <p:cNvSpPr/>
          <p:nvPr/>
        </p:nvSpPr>
        <p:spPr>
          <a:xfrm>
            <a:off x="768096" y="2916936"/>
            <a:ext cx="5907024" cy="54864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Hygroscopic NH₄Cl salts deposit above the water dew point, pull moisture from the vapour and form a concentrated acidic brine against the wall — localised attack while the bulk stream still looks dry.</a:t>
            </a:r>
            <a:endParaRPr lang="en-US" sz="1100" dirty="0"/>
          </a:p>
        </p:txBody>
      </p:sp>
      <p:sp>
        <p:nvSpPr>
          <p:cNvPr id="12" name="Shape 10"/>
          <p:cNvSpPr/>
          <p:nvPr/>
        </p:nvSpPr>
        <p:spPr>
          <a:xfrm>
            <a:off x="950976" y="3543300"/>
            <a:ext cx="182880" cy="137160"/>
          </a:xfrm>
          <a:prstGeom prst="downArrow">
            <a:avLst/>
          </a:prstGeom>
          <a:solidFill>
            <a:srgbClr val="AEBBCA"/>
          </a:solidFill>
          <a:ln/>
        </p:spPr>
      </p:sp>
      <p:sp>
        <p:nvSpPr>
          <p:cNvPr id="13" name="Shape 11"/>
          <p:cNvSpPr/>
          <p:nvPr/>
        </p:nvSpPr>
        <p:spPr>
          <a:xfrm>
            <a:off x="566928" y="3675888"/>
            <a:ext cx="6309360" cy="877824"/>
          </a:xfrm>
          <a:prstGeom prst="roundRect">
            <a:avLst>
              <a:gd name="adj" fmla="val 5208"/>
            </a:avLst>
          </a:prstGeom>
          <a:solidFill>
            <a:srgbClr val="F1F4F8"/>
          </a:solidFill>
          <a:ln w="9525">
            <a:solidFill>
              <a:srgbClr val="CFD8E3"/>
            </a:solidFill>
            <a:prstDash val="solid"/>
          </a:ln>
        </p:spPr>
      </p:sp>
      <p:sp>
        <p:nvSpPr>
          <p:cNvPr id="14" name="Text 12"/>
          <p:cNvSpPr/>
          <p:nvPr/>
        </p:nvSpPr>
        <p:spPr>
          <a:xfrm>
            <a:off x="768096" y="3749040"/>
            <a:ext cx="5907024" cy="182880"/>
          </a:xfrm>
          <a:prstGeom prst="rect">
            <a:avLst/>
          </a:prstGeom>
          <a:noFill/>
          <a:ln/>
        </p:spPr>
        <p:txBody>
          <a:bodyPr wrap="square" lIns="0" tIns="0" rIns="0" bIns="0" rtlCol="0" anchor="ctr"/>
          <a:lstStyle/>
          <a:p>
            <a:pPr indent="0" marL="0">
              <a:buNone/>
            </a:pPr>
            <a:r>
              <a:rPr lang="en-US" sz="850" b="1" spc="120" kern="0" dirty="0">
                <a:solidFill>
                  <a:srgbClr val="0A2540"/>
                </a:solidFill>
                <a:latin typeface="Calibri" pitchFamily="34" charset="0"/>
                <a:ea typeface="Calibri" pitchFamily="34" charset="-122"/>
                <a:cs typeface="Calibri" pitchFamily="34" charset="-120"/>
              </a:rPr>
              <a:t>HUMAN ROOT</a:t>
            </a:r>
            <a:endParaRPr lang="en-US" sz="850" dirty="0"/>
          </a:p>
        </p:txBody>
      </p:sp>
      <p:sp>
        <p:nvSpPr>
          <p:cNvPr id="15" name="Text 13"/>
          <p:cNvSpPr/>
          <p:nvPr/>
        </p:nvSpPr>
        <p:spPr>
          <a:xfrm>
            <a:off x="768096" y="3931920"/>
            <a:ext cx="5907024" cy="54864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The crude slate moved to a higher-chloride blend and desalter wash water was never increased to match. Overhead chemistry sampling fell from daily to weekly during a staffing gap.</a:t>
            </a:r>
            <a:endParaRPr lang="en-US" sz="1100" dirty="0"/>
          </a:p>
        </p:txBody>
      </p:sp>
      <p:sp>
        <p:nvSpPr>
          <p:cNvPr id="16" name="Shape 14"/>
          <p:cNvSpPr/>
          <p:nvPr/>
        </p:nvSpPr>
        <p:spPr>
          <a:xfrm>
            <a:off x="950976" y="4558284"/>
            <a:ext cx="182880" cy="137160"/>
          </a:xfrm>
          <a:prstGeom prst="downArrow">
            <a:avLst/>
          </a:prstGeom>
          <a:solidFill>
            <a:srgbClr val="AEBBCA"/>
          </a:solidFill>
          <a:ln/>
        </p:spPr>
      </p:sp>
      <p:sp>
        <p:nvSpPr>
          <p:cNvPr id="17" name="Shape 15"/>
          <p:cNvSpPr/>
          <p:nvPr/>
        </p:nvSpPr>
        <p:spPr>
          <a:xfrm>
            <a:off x="566928" y="4690872"/>
            <a:ext cx="6309360" cy="1188720"/>
          </a:xfrm>
          <a:prstGeom prst="roundRect">
            <a:avLst>
              <a:gd name="adj" fmla="val 3846"/>
            </a:avLst>
          </a:prstGeom>
          <a:solidFill>
            <a:srgbClr val="E4EAF1"/>
          </a:solidFill>
          <a:ln w="9525">
            <a:solidFill>
              <a:srgbClr val="00539B"/>
            </a:solidFill>
            <a:prstDash val="solid"/>
          </a:ln>
          <a:effectLst>
            <a:outerShdw sx="100000" sy="100000" kx="0" ky="0" algn="bl" rotWithShape="0" blurRad="101600" dist="19050" dir="5400000">
              <a:srgbClr val="8A99AC">
                <a:alpha val="16000"/>
              </a:srgbClr>
            </a:outerShdw>
          </a:effectLst>
        </p:spPr>
      </p:sp>
      <p:sp>
        <p:nvSpPr>
          <p:cNvPr id="18" name="Text 16"/>
          <p:cNvSpPr/>
          <p:nvPr/>
        </p:nvSpPr>
        <p:spPr>
          <a:xfrm>
            <a:off x="768096" y="4764024"/>
            <a:ext cx="5907024" cy="182880"/>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LATENT / SYSTEM ROOT</a:t>
            </a:r>
            <a:endParaRPr lang="en-US" sz="850" dirty="0"/>
          </a:p>
        </p:txBody>
      </p:sp>
      <p:sp>
        <p:nvSpPr>
          <p:cNvPr id="19" name="Text 17"/>
          <p:cNvSpPr/>
          <p:nvPr/>
        </p:nvSpPr>
        <p:spPr>
          <a:xfrm>
            <a:off x="768096" y="4946904"/>
            <a:ext cx="5907024" cy="859536"/>
          </a:xfrm>
          <a:prstGeom prst="rect">
            <a:avLst/>
          </a:prstGeom>
          <a:noFill/>
          <a:ln/>
        </p:spPr>
        <p:txBody>
          <a:bodyPr wrap="square" lIns="0" tIns="0" rIns="0" bIns="0" rtlCol="0" anchor="t"/>
          <a:lstStyle/>
          <a:p>
            <a:pPr indent="0" marL="0">
              <a:lnSpc>
                <a:spcPts val="1400"/>
              </a:lnSpc>
              <a:buNone/>
            </a:pPr>
            <a:r>
              <a:rPr lang="en-US" sz="1100" b="1" dirty="0">
                <a:solidFill>
                  <a:srgbClr val="0A2540"/>
                </a:solidFill>
                <a:latin typeface="Calibri" pitchFamily="34" charset="0"/>
                <a:ea typeface="Calibri" pitchFamily="34" charset="-122"/>
                <a:cs typeface="Calibri" pitchFamily="34" charset="-120"/>
              </a:rPr>
              <a:t>No Management of Change was raised for the crude slate change — blending was treated as an operating adjustment, not a change. So the corrosion loop review never triggered, and the monitoring locations stayed where the wrong mechanism would show.</a:t>
            </a:r>
            <a:endParaRPr lang="en-US" sz="1100" dirty="0"/>
          </a:p>
        </p:txBody>
      </p:sp>
      <p:sp>
        <p:nvSpPr>
          <p:cNvPr id="20" name="Shape 18"/>
          <p:cNvSpPr/>
          <p:nvPr/>
        </p:nvSpPr>
        <p:spPr>
          <a:xfrm>
            <a:off x="7187184" y="1645920"/>
            <a:ext cx="4434840" cy="2029968"/>
          </a:xfrm>
          <a:prstGeom prst="roundRect">
            <a:avLst>
              <a:gd name="adj" fmla="val 2252"/>
            </a:avLst>
          </a:prstGeom>
          <a:solidFill>
            <a:srgbClr val="0A2540"/>
          </a:solidFill>
          <a:ln/>
        </p:spPr>
      </p:sp>
      <p:sp>
        <p:nvSpPr>
          <p:cNvPr id="21" name="Text 19"/>
          <p:cNvSpPr/>
          <p:nvPr/>
        </p:nvSpPr>
        <p:spPr>
          <a:xfrm>
            <a:off x="7406640" y="1755648"/>
            <a:ext cx="3995928" cy="201168"/>
          </a:xfrm>
          <a:prstGeom prst="rect">
            <a:avLst/>
          </a:prstGeom>
          <a:noFill/>
          <a:ln/>
        </p:spPr>
        <p:txBody>
          <a:bodyPr wrap="square" lIns="0" tIns="0" rIns="0" bIns="0" rtlCol="0" anchor="ctr"/>
          <a:lstStyle/>
          <a:p>
            <a:pPr indent="0" marL="0">
              <a:buNone/>
            </a:pPr>
            <a:r>
              <a:rPr lang="en-US" sz="850" b="1" spc="120" kern="0" dirty="0">
                <a:solidFill>
                  <a:srgbClr val="7FA8CE"/>
                </a:solidFill>
                <a:latin typeface="Calibri" pitchFamily="34" charset="0"/>
                <a:ea typeface="Calibri" pitchFamily="34" charset="-122"/>
                <a:cs typeface="Calibri" pitchFamily="34" charset="-120"/>
              </a:rPr>
              <a:t>THE NUMBERS</a:t>
            </a:r>
            <a:endParaRPr lang="en-US" sz="850" dirty="0"/>
          </a:p>
        </p:txBody>
      </p:sp>
      <p:sp>
        <p:nvSpPr>
          <p:cNvPr id="22" name="Text 20"/>
          <p:cNvSpPr/>
          <p:nvPr/>
        </p:nvSpPr>
        <p:spPr>
          <a:xfrm>
            <a:off x="7406640" y="2011680"/>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Nominal wall</a:t>
            </a:r>
            <a:endParaRPr lang="en-US" sz="1050" dirty="0"/>
          </a:p>
        </p:txBody>
      </p:sp>
      <p:sp>
        <p:nvSpPr>
          <p:cNvPr id="23" name="Text 21"/>
          <p:cNvSpPr/>
          <p:nvPr/>
        </p:nvSpPr>
        <p:spPr>
          <a:xfrm>
            <a:off x="10085832" y="2011680"/>
            <a:ext cx="1316736"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9.53 mm</a:t>
            </a:r>
            <a:endParaRPr lang="en-US" sz="1100" dirty="0"/>
          </a:p>
        </p:txBody>
      </p:sp>
      <p:sp>
        <p:nvSpPr>
          <p:cNvPr id="24" name="Text 22"/>
          <p:cNvSpPr/>
          <p:nvPr/>
        </p:nvSpPr>
        <p:spPr>
          <a:xfrm>
            <a:off x="7406640" y="2340864"/>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Retirement limit</a:t>
            </a:r>
            <a:endParaRPr lang="en-US" sz="1050" dirty="0"/>
          </a:p>
        </p:txBody>
      </p:sp>
      <p:sp>
        <p:nvSpPr>
          <p:cNvPr id="25" name="Text 23"/>
          <p:cNvSpPr/>
          <p:nvPr/>
        </p:nvSpPr>
        <p:spPr>
          <a:xfrm>
            <a:off x="10085832" y="2340864"/>
            <a:ext cx="1316736"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4.80 mm</a:t>
            </a:r>
            <a:endParaRPr lang="en-US" sz="1100" dirty="0"/>
          </a:p>
        </p:txBody>
      </p:sp>
      <p:sp>
        <p:nvSpPr>
          <p:cNvPr id="26" name="Text 24"/>
          <p:cNvSpPr/>
          <p:nvPr/>
        </p:nvSpPr>
        <p:spPr>
          <a:xfrm>
            <a:off x="7406640" y="2670048"/>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Measured at failure</a:t>
            </a:r>
            <a:endParaRPr lang="en-US" sz="1050" dirty="0"/>
          </a:p>
        </p:txBody>
      </p:sp>
      <p:sp>
        <p:nvSpPr>
          <p:cNvPr id="27" name="Text 25"/>
          <p:cNvSpPr/>
          <p:nvPr/>
        </p:nvSpPr>
        <p:spPr>
          <a:xfrm>
            <a:off x="10085832" y="2670048"/>
            <a:ext cx="1316736" cy="310896"/>
          </a:xfrm>
          <a:prstGeom prst="rect">
            <a:avLst/>
          </a:prstGeom>
          <a:noFill/>
          <a:ln/>
        </p:spPr>
        <p:txBody>
          <a:bodyPr wrap="square" lIns="0" tIns="0" rIns="0" bIns="0" rtlCol="0" anchor="ctr"/>
          <a:lstStyle/>
          <a:p>
            <a:pPr algn="r" indent="0" marL="0">
              <a:buNone/>
            </a:pPr>
            <a:r>
              <a:rPr lang="en-US" sz="1100" b="1" dirty="0">
                <a:solidFill>
                  <a:srgbClr val="FF8A94"/>
                </a:solidFill>
                <a:latin typeface="Calibri" pitchFamily="34" charset="0"/>
                <a:ea typeface="Calibri" pitchFamily="34" charset="-122"/>
                <a:cs typeface="Calibri" pitchFamily="34" charset="-120"/>
              </a:rPr>
              <a:t>2.10 mm</a:t>
            </a:r>
            <a:endParaRPr lang="en-US" sz="1100" dirty="0"/>
          </a:p>
        </p:txBody>
      </p:sp>
      <p:sp>
        <p:nvSpPr>
          <p:cNvPr id="28" name="Text 26"/>
          <p:cNvSpPr/>
          <p:nvPr/>
        </p:nvSpPr>
        <p:spPr>
          <a:xfrm>
            <a:off x="7406640" y="2999232"/>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Rate, historic</a:t>
            </a:r>
            <a:endParaRPr lang="en-US" sz="1050" dirty="0"/>
          </a:p>
        </p:txBody>
      </p:sp>
      <p:sp>
        <p:nvSpPr>
          <p:cNvPr id="29" name="Text 27"/>
          <p:cNvSpPr/>
          <p:nvPr/>
        </p:nvSpPr>
        <p:spPr>
          <a:xfrm>
            <a:off x="10085832" y="2999232"/>
            <a:ext cx="1316736"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0.12 mm/yr</a:t>
            </a:r>
            <a:endParaRPr lang="en-US" sz="1100" dirty="0"/>
          </a:p>
        </p:txBody>
      </p:sp>
      <p:sp>
        <p:nvSpPr>
          <p:cNvPr id="30" name="Text 28"/>
          <p:cNvSpPr/>
          <p:nvPr/>
        </p:nvSpPr>
        <p:spPr>
          <a:xfrm>
            <a:off x="7406640" y="3328416"/>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Rate, final 9 months</a:t>
            </a:r>
            <a:endParaRPr lang="en-US" sz="1050" dirty="0"/>
          </a:p>
        </p:txBody>
      </p:sp>
      <p:sp>
        <p:nvSpPr>
          <p:cNvPr id="31" name="Text 29"/>
          <p:cNvSpPr/>
          <p:nvPr/>
        </p:nvSpPr>
        <p:spPr>
          <a:xfrm>
            <a:off x="10085832" y="3328416"/>
            <a:ext cx="1316736" cy="310896"/>
          </a:xfrm>
          <a:prstGeom prst="rect">
            <a:avLst/>
          </a:prstGeom>
          <a:noFill/>
          <a:ln/>
        </p:spPr>
        <p:txBody>
          <a:bodyPr wrap="square" lIns="0" tIns="0" rIns="0" bIns="0" rtlCol="0" anchor="ctr"/>
          <a:lstStyle/>
          <a:p>
            <a:pPr algn="r" indent="0" marL="0">
              <a:buNone/>
            </a:pPr>
            <a:r>
              <a:rPr lang="en-US" sz="1100" b="1" dirty="0">
                <a:solidFill>
                  <a:srgbClr val="FF8A94"/>
                </a:solidFill>
                <a:latin typeface="Calibri" pitchFamily="34" charset="0"/>
                <a:ea typeface="Calibri" pitchFamily="34" charset="-122"/>
                <a:cs typeface="Calibri" pitchFamily="34" charset="-120"/>
              </a:rPr>
              <a:t>1.80 mm/yr</a:t>
            </a:r>
            <a:endParaRPr lang="en-US" sz="1100" dirty="0"/>
          </a:p>
        </p:txBody>
      </p:sp>
      <p:sp>
        <p:nvSpPr>
          <p:cNvPr id="32" name="Shape 30"/>
          <p:cNvSpPr/>
          <p:nvPr/>
        </p:nvSpPr>
        <p:spPr>
          <a:xfrm>
            <a:off x="7187184" y="3813048"/>
            <a:ext cx="4434840" cy="2066544"/>
          </a:xfrm>
          <a:prstGeom prst="roundRect">
            <a:avLst>
              <a:gd name="adj" fmla="val 2212"/>
            </a:avLst>
          </a:prstGeom>
          <a:solidFill>
            <a:srgbClr val="F1F4F8"/>
          </a:solidFill>
          <a:ln w="9525">
            <a:solidFill>
              <a:srgbClr val="CFD8E3"/>
            </a:solidFill>
            <a:prstDash val="solid"/>
          </a:ln>
        </p:spPr>
      </p:sp>
      <p:sp>
        <p:nvSpPr>
          <p:cNvPr id="33" name="Text 31"/>
          <p:cNvSpPr/>
          <p:nvPr/>
        </p:nvSpPr>
        <p:spPr>
          <a:xfrm>
            <a:off x="7406640" y="3922776"/>
            <a:ext cx="3995928" cy="201168"/>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BARRIERS</a:t>
            </a:r>
            <a:endParaRPr lang="en-US" sz="850" dirty="0"/>
          </a:p>
        </p:txBody>
      </p:sp>
      <p:sp>
        <p:nvSpPr>
          <p:cNvPr id="34" name="Shape 32"/>
          <p:cNvSpPr/>
          <p:nvPr/>
        </p:nvSpPr>
        <p:spPr>
          <a:xfrm>
            <a:off x="7406640" y="4242816"/>
            <a:ext cx="118872" cy="118872"/>
          </a:xfrm>
          <a:prstGeom prst="ellipse">
            <a:avLst/>
          </a:prstGeom>
          <a:solidFill>
            <a:srgbClr val="C8102E"/>
          </a:solidFill>
          <a:ln/>
        </p:spPr>
      </p:sp>
      <p:sp>
        <p:nvSpPr>
          <p:cNvPr id="35" name="Text 33"/>
          <p:cNvSpPr/>
          <p:nvPr/>
        </p:nvSpPr>
        <p:spPr>
          <a:xfrm>
            <a:off x="7626096" y="417880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Chloride cap in blend spec</a:t>
            </a:r>
            <a:endParaRPr lang="en-US" sz="1000" dirty="0"/>
          </a:p>
        </p:txBody>
      </p:sp>
      <p:sp>
        <p:nvSpPr>
          <p:cNvPr id="36" name="Shape 34"/>
          <p:cNvSpPr/>
          <p:nvPr/>
        </p:nvSpPr>
        <p:spPr>
          <a:xfrm>
            <a:off x="7406640" y="4517136"/>
            <a:ext cx="118872" cy="118872"/>
          </a:xfrm>
          <a:prstGeom prst="ellipse">
            <a:avLst/>
          </a:prstGeom>
          <a:solidFill>
            <a:srgbClr val="C8102E"/>
          </a:solidFill>
          <a:ln/>
        </p:spPr>
      </p:sp>
      <p:sp>
        <p:nvSpPr>
          <p:cNvPr id="37" name="Text 35"/>
          <p:cNvSpPr/>
          <p:nvPr/>
        </p:nvSpPr>
        <p:spPr>
          <a:xfrm>
            <a:off x="7626096" y="445312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MOC on feedstock change</a:t>
            </a:r>
            <a:endParaRPr lang="en-US" sz="1000" dirty="0"/>
          </a:p>
        </p:txBody>
      </p:sp>
      <p:sp>
        <p:nvSpPr>
          <p:cNvPr id="38" name="Shape 36"/>
          <p:cNvSpPr/>
          <p:nvPr/>
        </p:nvSpPr>
        <p:spPr>
          <a:xfrm>
            <a:off x="7406640" y="4791456"/>
            <a:ext cx="118872" cy="118872"/>
          </a:xfrm>
          <a:prstGeom prst="ellipse">
            <a:avLst/>
          </a:prstGeom>
          <a:solidFill>
            <a:srgbClr val="C87F16"/>
          </a:solidFill>
          <a:ln/>
        </p:spPr>
      </p:sp>
      <p:sp>
        <p:nvSpPr>
          <p:cNvPr id="39" name="Text 37"/>
          <p:cNvSpPr/>
          <p:nvPr/>
        </p:nvSpPr>
        <p:spPr>
          <a:xfrm>
            <a:off x="7626096" y="472744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Desalter performance</a:t>
            </a:r>
            <a:endParaRPr lang="en-US" sz="1000" dirty="0"/>
          </a:p>
        </p:txBody>
      </p:sp>
      <p:sp>
        <p:nvSpPr>
          <p:cNvPr id="40" name="Shape 38"/>
          <p:cNvSpPr/>
          <p:nvPr/>
        </p:nvSpPr>
        <p:spPr>
          <a:xfrm>
            <a:off x="7406640" y="5065776"/>
            <a:ext cx="118872" cy="118872"/>
          </a:xfrm>
          <a:prstGeom prst="ellipse">
            <a:avLst/>
          </a:prstGeom>
          <a:solidFill>
            <a:srgbClr val="C87F16"/>
          </a:solidFill>
          <a:ln/>
        </p:spPr>
      </p:sp>
      <p:sp>
        <p:nvSpPr>
          <p:cNvPr id="41" name="Text 39"/>
          <p:cNvSpPr/>
          <p:nvPr/>
        </p:nvSpPr>
        <p:spPr>
          <a:xfrm>
            <a:off x="7626096" y="500176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Overhead water wash</a:t>
            </a:r>
            <a:endParaRPr lang="en-US" sz="1000" dirty="0"/>
          </a:p>
        </p:txBody>
      </p:sp>
      <p:sp>
        <p:nvSpPr>
          <p:cNvPr id="42" name="Shape 40"/>
          <p:cNvSpPr/>
          <p:nvPr/>
        </p:nvSpPr>
        <p:spPr>
          <a:xfrm>
            <a:off x="7406640" y="5340096"/>
            <a:ext cx="118872" cy="118872"/>
          </a:xfrm>
          <a:prstGeom prst="ellipse">
            <a:avLst/>
          </a:prstGeom>
          <a:solidFill>
            <a:srgbClr val="C87F16"/>
          </a:solidFill>
          <a:ln/>
        </p:spPr>
      </p:sp>
      <p:sp>
        <p:nvSpPr>
          <p:cNvPr id="43" name="Text 41"/>
          <p:cNvSpPr/>
          <p:nvPr/>
        </p:nvSpPr>
        <p:spPr>
          <a:xfrm>
            <a:off x="7626096" y="527608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Chemistry monitoring (IOW)</a:t>
            </a:r>
            <a:endParaRPr lang="en-US" sz="1000" dirty="0"/>
          </a:p>
        </p:txBody>
      </p:sp>
      <p:sp>
        <p:nvSpPr>
          <p:cNvPr id="44" name="Shape 42"/>
          <p:cNvSpPr/>
          <p:nvPr/>
        </p:nvSpPr>
        <p:spPr>
          <a:xfrm>
            <a:off x="7406640" y="5614416"/>
            <a:ext cx="118872" cy="118872"/>
          </a:xfrm>
          <a:prstGeom prst="ellipse">
            <a:avLst/>
          </a:prstGeom>
          <a:solidFill>
            <a:srgbClr val="2E7D5B"/>
          </a:solidFill>
          <a:ln/>
        </p:spPr>
      </p:sp>
      <p:sp>
        <p:nvSpPr>
          <p:cNvPr id="45" name="Text 43"/>
          <p:cNvSpPr/>
          <p:nvPr/>
        </p:nvSpPr>
        <p:spPr>
          <a:xfrm>
            <a:off x="7626096" y="5550408"/>
            <a:ext cx="3776472"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Gas detection and unit trip</a:t>
            </a:r>
            <a:endParaRPr lang="en-US" sz="1000" dirty="0"/>
          </a:p>
        </p:txBody>
      </p:sp>
      <p:sp>
        <p:nvSpPr>
          <p:cNvPr id="46" name="Shape 44"/>
          <p:cNvSpPr/>
          <p:nvPr/>
        </p:nvSpPr>
        <p:spPr>
          <a:xfrm>
            <a:off x="566928" y="6053328"/>
            <a:ext cx="11055096" cy="475488"/>
          </a:xfrm>
          <a:prstGeom prst="roundRect">
            <a:avLst>
              <a:gd name="adj" fmla="val 11538"/>
            </a:avLst>
          </a:prstGeom>
          <a:solidFill>
            <a:srgbClr val="F1F4F8"/>
          </a:solidFill>
          <a:ln w="9525">
            <a:solidFill>
              <a:srgbClr val="CFD8E3"/>
            </a:solidFill>
            <a:prstDash val="solid"/>
          </a:ln>
        </p:spPr>
      </p:sp>
      <p:sp>
        <p:nvSpPr>
          <p:cNvPr id="47" name="Text 45"/>
          <p:cNvSpPr/>
          <p:nvPr/>
        </p:nvSpPr>
        <p:spPr>
          <a:xfrm>
            <a:off x="713232"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Mechanism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NH₄Cl salt → HCl corrosion, API RP 571</a:t>
            </a:r>
            <a:endParaRPr lang="en-US" sz="950" dirty="0"/>
          </a:p>
        </p:txBody>
      </p:sp>
      <p:sp>
        <p:nvSpPr>
          <p:cNvPr id="48" name="Text 46"/>
          <p:cNvSpPr/>
          <p:nvPr/>
        </p:nvSpPr>
        <p:spPr>
          <a:xfrm>
            <a:off x="4398264"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Boot water pH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4.1 against a 5.5–6.5 band</a:t>
            </a:r>
            <a:endParaRPr lang="en-US" sz="950" dirty="0"/>
          </a:p>
        </p:txBody>
      </p:sp>
      <p:sp>
        <p:nvSpPr>
          <p:cNvPr id="49" name="Text 47"/>
          <p:cNvSpPr/>
          <p:nvPr/>
        </p:nvSpPr>
        <p:spPr>
          <a:xfrm>
            <a:off x="8083296"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Desalted chloride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41 ptb against ≤ 20 ptb design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FAILURE 2 OF 3  ·  P-1104A HEAVY GAS OIL PUMP  ·  3 MAR 2026</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This pump told us three times. Nobody asked why.</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Mechanical seal failure on 290 °C hydrocarbon service — loss of containment above the flash point, with contractors 30 m away.</a:t>
            </a:r>
            <a:endParaRPr lang="en-US" sz="1200" dirty="0"/>
          </a:p>
        </p:txBody>
      </p:sp>
      <p:sp>
        <p:nvSpPr>
          <p:cNvPr id="5" name="Shape 3"/>
          <p:cNvSpPr/>
          <p:nvPr/>
        </p:nvSpPr>
        <p:spPr>
          <a:xfrm>
            <a:off x="566928" y="1645920"/>
            <a:ext cx="6309360" cy="877824"/>
          </a:xfrm>
          <a:prstGeom prst="roundRect">
            <a:avLst>
              <a:gd name="adj" fmla="val 5208"/>
            </a:avLst>
          </a:prstGeom>
          <a:solidFill>
            <a:srgbClr val="F1F4F8"/>
          </a:solidFill>
          <a:ln w="9525">
            <a:solidFill>
              <a:srgbClr val="CFD8E3"/>
            </a:solidFill>
            <a:prstDash val="solid"/>
          </a:ln>
        </p:spPr>
      </p:sp>
      <p:sp>
        <p:nvSpPr>
          <p:cNvPr id="6" name="Text 4"/>
          <p:cNvSpPr/>
          <p:nvPr/>
        </p:nvSpPr>
        <p:spPr>
          <a:xfrm>
            <a:off x="768096" y="1719072"/>
            <a:ext cx="5907024" cy="182880"/>
          </a:xfrm>
          <a:prstGeom prst="rect">
            <a:avLst/>
          </a:prstGeom>
          <a:noFill/>
          <a:ln/>
        </p:spPr>
        <p:txBody>
          <a:bodyPr wrap="square" lIns="0" tIns="0" rIns="0" bIns="0" rtlCol="0" anchor="ctr"/>
          <a:lstStyle/>
          <a:p>
            <a:pPr indent="0" marL="0">
              <a:buNone/>
            </a:pPr>
            <a:r>
              <a:rPr lang="en-US" sz="850" b="1" spc="120" kern="0" dirty="0">
                <a:solidFill>
                  <a:srgbClr val="C8102E"/>
                </a:solidFill>
                <a:latin typeface="Calibri" pitchFamily="34" charset="0"/>
                <a:ea typeface="Calibri" pitchFamily="34" charset="-122"/>
                <a:cs typeface="Calibri" pitchFamily="34" charset="-120"/>
              </a:rPr>
              <a:t>EVENT</a:t>
            </a:r>
            <a:endParaRPr lang="en-US" sz="850" dirty="0"/>
          </a:p>
        </p:txBody>
      </p:sp>
      <p:sp>
        <p:nvSpPr>
          <p:cNvPr id="7" name="Text 5"/>
          <p:cNvSpPr/>
          <p:nvPr/>
        </p:nvSpPr>
        <p:spPr>
          <a:xfrm>
            <a:off x="768096" y="1901952"/>
            <a:ext cx="5907024" cy="54864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The seal failed catastrophically; 2.1 m³ of gas oil at 290 °C released and pooled. Gas detection alarmed, the pump tripped, area ESD initiated. It did not ignite. 18 hours down, $0.9M.</a:t>
            </a:r>
            <a:endParaRPr lang="en-US" sz="1100" dirty="0"/>
          </a:p>
        </p:txBody>
      </p:sp>
      <p:sp>
        <p:nvSpPr>
          <p:cNvPr id="8" name="Shape 6"/>
          <p:cNvSpPr/>
          <p:nvPr/>
        </p:nvSpPr>
        <p:spPr>
          <a:xfrm>
            <a:off x="950976" y="2528316"/>
            <a:ext cx="182880" cy="137160"/>
          </a:xfrm>
          <a:prstGeom prst="downArrow">
            <a:avLst/>
          </a:prstGeom>
          <a:solidFill>
            <a:srgbClr val="AEBBCA"/>
          </a:solidFill>
          <a:ln/>
        </p:spPr>
      </p:sp>
      <p:sp>
        <p:nvSpPr>
          <p:cNvPr id="9" name="Shape 7"/>
          <p:cNvSpPr/>
          <p:nvPr/>
        </p:nvSpPr>
        <p:spPr>
          <a:xfrm>
            <a:off x="566928" y="2660904"/>
            <a:ext cx="6309360" cy="877824"/>
          </a:xfrm>
          <a:prstGeom prst="roundRect">
            <a:avLst>
              <a:gd name="adj" fmla="val 5208"/>
            </a:avLst>
          </a:prstGeom>
          <a:solidFill>
            <a:srgbClr val="F1F4F8"/>
          </a:solidFill>
          <a:ln w="9525">
            <a:solidFill>
              <a:srgbClr val="CFD8E3"/>
            </a:solidFill>
            <a:prstDash val="solid"/>
          </a:ln>
        </p:spPr>
      </p:sp>
      <p:sp>
        <p:nvSpPr>
          <p:cNvPr id="10" name="Text 8"/>
          <p:cNvSpPr/>
          <p:nvPr/>
        </p:nvSpPr>
        <p:spPr>
          <a:xfrm>
            <a:off x="768096" y="2734056"/>
            <a:ext cx="5907024" cy="182880"/>
          </a:xfrm>
          <a:prstGeom prst="rect">
            <a:avLst/>
          </a:prstGeom>
          <a:noFill/>
          <a:ln/>
        </p:spPr>
        <p:txBody>
          <a:bodyPr wrap="square" lIns="0" tIns="0" rIns="0" bIns="0" rtlCol="0" anchor="ctr"/>
          <a:lstStyle/>
          <a:p>
            <a:pPr indent="0" marL="0">
              <a:buNone/>
            </a:pPr>
            <a:r>
              <a:rPr lang="en-US" sz="850" b="1" spc="120" kern="0" dirty="0">
                <a:solidFill>
                  <a:srgbClr val="0A2540"/>
                </a:solidFill>
                <a:latin typeface="Calibri" pitchFamily="34" charset="0"/>
                <a:ea typeface="Calibri" pitchFamily="34" charset="-122"/>
                <a:cs typeface="Calibri" pitchFamily="34" charset="-120"/>
              </a:rPr>
              <a:t>PHYSICAL ROOT</a:t>
            </a:r>
            <a:endParaRPr lang="en-US" sz="850" dirty="0"/>
          </a:p>
        </p:txBody>
      </p:sp>
      <p:sp>
        <p:nvSpPr>
          <p:cNvPr id="11" name="Text 9"/>
          <p:cNvSpPr/>
          <p:nvPr/>
        </p:nvSpPr>
        <p:spPr>
          <a:xfrm>
            <a:off x="768096" y="2916936"/>
            <a:ext cx="5907024" cy="54864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The Plan 11 flush line was blocked with coke fines at the orifice. With no flush the seal chamber lost cooling and pressure margin, the faces ran dry, and the carbon face cracked by thermal shock.</a:t>
            </a:r>
            <a:endParaRPr lang="en-US" sz="1100" dirty="0"/>
          </a:p>
        </p:txBody>
      </p:sp>
      <p:sp>
        <p:nvSpPr>
          <p:cNvPr id="12" name="Shape 10"/>
          <p:cNvSpPr/>
          <p:nvPr/>
        </p:nvSpPr>
        <p:spPr>
          <a:xfrm>
            <a:off x="950976" y="3543300"/>
            <a:ext cx="182880" cy="137160"/>
          </a:xfrm>
          <a:prstGeom prst="downArrow">
            <a:avLst/>
          </a:prstGeom>
          <a:solidFill>
            <a:srgbClr val="AEBBCA"/>
          </a:solidFill>
          <a:ln/>
        </p:spPr>
      </p:sp>
      <p:sp>
        <p:nvSpPr>
          <p:cNvPr id="13" name="Shape 11"/>
          <p:cNvSpPr/>
          <p:nvPr/>
        </p:nvSpPr>
        <p:spPr>
          <a:xfrm>
            <a:off x="566928" y="3675888"/>
            <a:ext cx="6309360" cy="877824"/>
          </a:xfrm>
          <a:prstGeom prst="roundRect">
            <a:avLst>
              <a:gd name="adj" fmla="val 5208"/>
            </a:avLst>
          </a:prstGeom>
          <a:solidFill>
            <a:srgbClr val="F1F4F8"/>
          </a:solidFill>
          <a:ln w="9525">
            <a:solidFill>
              <a:srgbClr val="CFD8E3"/>
            </a:solidFill>
            <a:prstDash val="solid"/>
          </a:ln>
        </p:spPr>
      </p:sp>
      <p:sp>
        <p:nvSpPr>
          <p:cNvPr id="14" name="Text 12"/>
          <p:cNvSpPr/>
          <p:nvPr/>
        </p:nvSpPr>
        <p:spPr>
          <a:xfrm>
            <a:off x="768096" y="3749040"/>
            <a:ext cx="5907024" cy="182880"/>
          </a:xfrm>
          <a:prstGeom prst="rect">
            <a:avLst/>
          </a:prstGeom>
          <a:noFill/>
          <a:ln/>
        </p:spPr>
        <p:txBody>
          <a:bodyPr wrap="square" lIns="0" tIns="0" rIns="0" bIns="0" rtlCol="0" anchor="ctr"/>
          <a:lstStyle/>
          <a:p>
            <a:pPr indent="0" marL="0">
              <a:buNone/>
            </a:pPr>
            <a:r>
              <a:rPr lang="en-US" sz="850" b="1" spc="120" kern="0" dirty="0">
                <a:solidFill>
                  <a:srgbClr val="0A2540"/>
                </a:solidFill>
                <a:latin typeface="Calibri" pitchFamily="34" charset="0"/>
                <a:ea typeface="Calibri" pitchFamily="34" charset="-122"/>
                <a:cs typeface="Calibri" pitchFamily="34" charset="-120"/>
              </a:rPr>
              <a:t>HUMAN ROOT</a:t>
            </a:r>
            <a:endParaRPr lang="en-US" sz="850" dirty="0"/>
          </a:p>
        </p:txBody>
      </p:sp>
      <p:sp>
        <p:nvSpPr>
          <p:cNvPr id="15" name="Text 13"/>
          <p:cNvSpPr/>
          <p:nvPr/>
        </p:nvSpPr>
        <p:spPr>
          <a:xfrm>
            <a:off x="768096" y="3931920"/>
            <a:ext cx="5907024" cy="54864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Three seal failures in eighteen months were each closed as a maintenance job — like-for-like, no investigation. The vibration alarm was acknowledged and reset without a work order.</a:t>
            </a:r>
            <a:endParaRPr lang="en-US" sz="1100" dirty="0"/>
          </a:p>
        </p:txBody>
      </p:sp>
      <p:sp>
        <p:nvSpPr>
          <p:cNvPr id="16" name="Shape 14"/>
          <p:cNvSpPr/>
          <p:nvPr/>
        </p:nvSpPr>
        <p:spPr>
          <a:xfrm>
            <a:off x="950976" y="4558284"/>
            <a:ext cx="182880" cy="137160"/>
          </a:xfrm>
          <a:prstGeom prst="downArrow">
            <a:avLst/>
          </a:prstGeom>
          <a:solidFill>
            <a:srgbClr val="AEBBCA"/>
          </a:solidFill>
          <a:ln/>
        </p:spPr>
      </p:sp>
      <p:sp>
        <p:nvSpPr>
          <p:cNvPr id="17" name="Shape 15"/>
          <p:cNvSpPr/>
          <p:nvPr/>
        </p:nvSpPr>
        <p:spPr>
          <a:xfrm>
            <a:off x="566928" y="4690872"/>
            <a:ext cx="6309360" cy="1188720"/>
          </a:xfrm>
          <a:prstGeom prst="roundRect">
            <a:avLst>
              <a:gd name="adj" fmla="val 3846"/>
            </a:avLst>
          </a:prstGeom>
          <a:solidFill>
            <a:srgbClr val="E4EAF1"/>
          </a:solidFill>
          <a:ln w="9525">
            <a:solidFill>
              <a:srgbClr val="00539B"/>
            </a:solidFill>
            <a:prstDash val="solid"/>
          </a:ln>
          <a:effectLst>
            <a:outerShdw sx="100000" sy="100000" kx="0" ky="0" algn="bl" rotWithShape="0" blurRad="101600" dist="19050" dir="5400000">
              <a:srgbClr val="8A99AC">
                <a:alpha val="16000"/>
              </a:srgbClr>
            </a:outerShdw>
          </a:effectLst>
        </p:spPr>
      </p:sp>
      <p:sp>
        <p:nvSpPr>
          <p:cNvPr id="18" name="Text 16"/>
          <p:cNvSpPr/>
          <p:nvPr/>
        </p:nvSpPr>
        <p:spPr>
          <a:xfrm>
            <a:off x="768096" y="4764024"/>
            <a:ext cx="5907024" cy="182880"/>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LATENT / SYSTEM ROOT</a:t>
            </a:r>
            <a:endParaRPr lang="en-US" sz="850" dirty="0"/>
          </a:p>
        </p:txBody>
      </p:sp>
      <p:sp>
        <p:nvSpPr>
          <p:cNvPr id="19" name="Text 17"/>
          <p:cNvSpPr/>
          <p:nvPr/>
        </p:nvSpPr>
        <p:spPr>
          <a:xfrm>
            <a:off x="768096" y="4946904"/>
            <a:ext cx="5907024" cy="859536"/>
          </a:xfrm>
          <a:prstGeom prst="rect">
            <a:avLst/>
          </a:prstGeom>
          <a:noFill/>
          <a:ln/>
        </p:spPr>
        <p:txBody>
          <a:bodyPr wrap="square" lIns="0" tIns="0" rIns="0" bIns="0" rtlCol="0" anchor="t"/>
          <a:lstStyle/>
          <a:p>
            <a:pPr indent="0" marL="0">
              <a:lnSpc>
                <a:spcPts val="1400"/>
              </a:lnSpc>
              <a:buNone/>
            </a:pPr>
            <a:r>
              <a:rPr lang="en-US" sz="1100" b="1" dirty="0">
                <a:solidFill>
                  <a:srgbClr val="0A2540"/>
                </a:solidFill>
                <a:latin typeface="Calibri" pitchFamily="34" charset="0"/>
                <a:ea typeface="Calibri" pitchFamily="34" charset="-122"/>
                <a:cs typeface="Calibri" pitchFamily="34" charset="-120"/>
              </a:rPr>
              <a:t>No defect elimination process and no bad-actor threshold. Nothing said that three failures in eighteen months is abnormal, so the repeats were never visible as a pattern — only as a series of small, well-handled jobs.</a:t>
            </a:r>
            <a:endParaRPr lang="en-US" sz="1100" dirty="0"/>
          </a:p>
        </p:txBody>
      </p:sp>
      <p:sp>
        <p:nvSpPr>
          <p:cNvPr id="20" name="Shape 18"/>
          <p:cNvSpPr/>
          <p:nvPr/>
        </p:nvSpPr>
        <p:spPr>
          <a:xfrm>
            <a:off x="7187184" y="1645920"/>
            <a:ext cx="4434840" cy="2029968"/>
          </a:xfrm>
          <a:prstGeom prst="roundRect">
            <a:avLst>
              <a:gd name="adj" fmla="val 2252"/>
            </a:avLst>
          </a:prstGeom>
          <a:solidFill>
            <a:srgbClr val="0A2540"/>
          </a:solidFill>
          <a:ln/>
        </p:spPr>
      </p:sp>
      <p:sp>
        <p:nvSpPr>
          <p:cNvPr id="21" name="Text 19"/>
          <p:cNvSpPr/>
          <p:nvPr/>
        </p:nvSpPr>
        <p:spPr>
          <a:xfrm>
            <a:off x="7406640" y="1755648"/>
            <a:ext cx="3995928" cy="201168"/>
          </a:xfrm>
          <a:prstGeom prst="rect">
            <a:avLst/>
          </a:prstGeom>
          <a:noFill/>
          <a:ln/>
        </p:spPr>
        <p:txBody>
          <a:bodyPr wrap="square" lIns="0" tIns="0" rIns="0" bIns="0" rtlCol="0" anchor="ctr"/>
          <a:lstStyle/>
          <a:p>
            <a:pPr indent="0" marL="0">
              <a:buNone/>
            </a:pPr>
            <a:r>
              <a:rPr lang="en-US" sz="850" b="1" spc="120" kern="0" dirty="0">
                <a:solidFill>
                  <a:srgbClr val="7FA8CE"/>
                </a:solidFill>
                <a:latin typeface="Calibri" pitchFamily="34" charset="0"/>
                <a:ea typeface="Calibri" pitchFamily="34" charset="-122"/>
                <a:cs typeface="Calibri" pitchFamily="34" charset="-120"/>
              </a:rPr>
              <a:t>THE NUMBERS</a:t>
            </a:r>
            <a:endParaRPr lang="en-US" sz="850" dirty="0"/>
          </a:p>
        </p:txBody>
      </p:sp>
      <p:sp>
        <p:nvSpPr>
          <p:cNvPr id="22" name="Text 20"/>
          <p:cNvSpPr/>
          <p:nvPr/>
        </p:nvSpPr>
        <p:spPr>
          <a:xfrm>
            <a:off x="7406640" y="2011680"/>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Seal arrangement</a:t>
            </a:r>
            <a:endParaRPr lang="en-US" sz="1050" dirty="0"/>
          </a:p>
        </p:txBody>
      </p:sp>
      <p:sp>
        <p:nvSpPr>
          <p:cNvPr id="23" name="Text 21"/>
          <p:cNvSpPr/>
          <p:nvPr/>
        </p:nvSpPr>
        <p:spPr>
          <a:xfrm>
            <a:off x="10085832" y="2011680"/>
            <a:ext cx="1316736"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API 682 Arr. 1</a:t>
            </a:r>
            <a:endParaRPr lang="en-US" sz="1100" dirty="0"/>
          </a:p>
        </p:txBody>
      </p:sp>
      <p:sp>
        <p:nvSpPr>
          <p:cNvPr id="24" name="Text 22"/>
          <p:cNvSpPr/>
          <p:nvPr/>
        </p:nvSpPr>
        <p:spPr>
          <a:xfrm>
            <a:off x="7406640" y="2340864"/>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Vibration at failure</a:t>
            </a:r>
            <a:endParaRPr lang="en-US" sz="1050" dirty="0"/>
          </a:p>
        </p:txBody>
      </p:sp>
      <p:sp>
        <p:nvSpPr>
          <p:cNvPr id="25" name="Text 23"/>
          <p:cNvSpPr/>
          <p:nvPr/>
        </p:nvSpPr>
        <p:spPr>
          <a:xfrm>
            <a:off x="10085832" y="2340864"/>
            <a:ext cx="1316736" cy="310896"/>
          </a:xfrm>
          <a:prstGeom prst="rect">
            <a:avLst/>
          </a:prstGeom>
          <a:noFill/>
          <a:ln/>
        </p:spPr>
        <p:txBody>
          <a:bodyPr wrap="square" lIns="0" tIns="0" rIns="0" bIns="0" rtlCol="0" anchor="ctr"/>
          <a:lstStyle/>
          <a:p>
            <a:pPr algn="r" indent="0" marL="0">
              <a:buNone/>
            </a:pPr>
            <a:r>
              <a:rPr lang="en-US" sz="1100" b="1" dirty="0">
                <a:solidFill>
                  <a:srgbClr val="FF8A94"/>
                </a:solidFill>
                <a:latin typeface="Calibri" pitchFamily="34" charset="0"/>
                <a:ea typeface="Calibri" pitchFamily="34" charset="-122"/>
                <a:cs typeface="Calibri" pitchFamily="34" charset="-120"/>
              </a:rPr>
              <a:t>11.4 mm/s</a:t>
            </a:r>
            <a:endParaRPr lang="en-US" sz="1100" dirty="0"/>
          </a:p>
        </p:txBody>
      </p:sp>
      <p:sp>
        <p:nvSpPr>
          <p:cNvPr id="26" name="Text 24"/>
          <p:cNvSpPr/>
          <p:nvPr/>
        </p:nvSpPr>
        <p:spPr>
          <a:xfrm>
            <a:off x="7406640" y="2670048"/>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ISO 10816-3 alarm</a:t>
            </a:r>
            <a:endParaRPr lang="en-US" sz="1050" dirty="0"/>
          </a:p>
        </p:txBody>
      </p:sp>
      <p:sp>
        <p:nvSpPr>
          <p:cNvPr id="27" name="Text 25"/>
          <p:cNvSpPr/>
          <p:nvPr/>
        </p:nvSpPr>
        <p:spPr>
          <a:xfrm>
            <a:off x="10085832" y="2670048"/>
            <a:ext cx="1316736"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7.10 mm/s</a:t>
            </a:r>
            <a:endParaRPr lang="en-US" sz="1100" dirty="0"/>
          </a:p>
        </p:txBody>
      </p:sp>
      <p:sp>
        <p:nvSpPr>
          <p:cNvPr id="28" name="Text 26"/>
          <p:cNvSpPr/>
          <p:nvPr/>
        </p:nvSpPr>
        <p:spPr>
          <a:xfrm>
            <a:off x="7406640" y="2999232"/>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Failures in 18 months</a:t>
            </a:r>
            <a:endParaRPr lang="en-US" sz="1050" dirty="0"/>
          </a:p>
        </p:txBody>
      </p:sp>
      <p:sp>
        <p:nvSpPr>
          <p:cNvPr id="29" name="Text 27"/>
          <p:cNvSpPr/>
          <p:nvPr/>
        </p:nvSpPr>
        <p:spPr>
          <a:xfrm>
            <a:off x="10085832" y="2999232"/>
            <a:ext cx="1316736" cy="310896"/>
          </a:xfrm>
          <a:prstGeom prst="rect">
            <a:avLst/>
          </a:prstGeom>
          <a:noFill/>
          <a:ln/>
        </p:spPr>
        <p:txBody>
          <a:bodyPr wrap="square" lIns="0" tIns="0" rIns="0" bIns="0" rtlCol="0" anchor="ctr"/>
          <a:lstStyle/>
          <a:p>
            <a:pPr algn="r" indent="0" marL="0">
              <a:buNone/>
            </a:pPr>
            <a:r>
              <a:rPr lang="en-US" sz="1100" b="1" dirty="0">
                <a:solidFill>
                  <a:srgbClr val="FF8A94"/>
                </a:solidFill>
                <a:latin typeface="Calibri" pitchFamily="34" charset="0"/>
                <a:ea typeface="Calibri" pitchFamily="34" charset="-122"/>
                <a:cs typeface="Calibri" pitchFamily="34" charset="-120"/>
              </a:rPr>
              <a:t>3</a:t>
            </a:r>
            <a:endParaRPr lang="en-US" sz="1100" dirty="0"/>
          </a:p>
        </p:txBody>
      </p:sp>
      <p:sp>
        <p:nvSpPr>
          <p:cNvPr id="30" name="Text 28"/>
          <p:cNvSpPr/>
          <p:nvPr/>
        </p:nvSpPr>
        <p:spPr>
          <a:xfrm>
            <a:off x="7406640" y="3328416"/>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MTBF, achieved / target</a:t>
            </a:r>
            <a:endParaRPr lang="en-US" sz="1050" dirty="0"/>
          </a:p>
        </p:txBody>
      </p:sp>
      <p:sp>
        <p:nvSpPr>
          <p:cNvPr id="31" name="Text 29"/>
          <p:cNvSpPr/>
          <p:nvPr/>
        </p:nvSpPr>
        <p:spPr>
          <a:xfrm>
            <a:off x="10085832" y="3328416"/>
            <a:ext cx="1316736" cy="310896"/>
          </a:xfrm>
          <a:prstGeom prst="rect">
            <a:avLst/>
          </a:prstGeom>
          <a:noFill/>
          <a:ln/>
        </p:spPr>
        <p:txBody>
          <a:bodyPr wrap="square" lIns="0" tIns="0" rIns="0" bIns="0" rtlCol="0" anchor="ctr"/>
          <a:lstStyle/>
          <a:p>
            <a:pPr algn="r" indent="0" marL="0">
              <a:buNone/>
            </a:pPr>
            <a:r>
              <a:rPr lang="en-US" sz="1100" b="1" dirty="0">
                <a:solidFill>
                  <a:srgbClr val="FF8A94"/>
                </a:solidFill>
                <a:latin typeface="Calibri" pitchFamily="34" charset="0"/>
                <a:ea typeface="Calibri" pitchFamily="34" charset="-122"/>
                <a:cs typeface="Calibri" pitchFamily="34" charset="-120"/>
              </a:rPr>
              <a:t>6 / 36 mo</a:t>
            </a:r>
            <a:endParaRPr lang="en-US" sz="1100" dirty="0"/>
          </a:p>
        </p:txBody>
      </p:sp>
      <p:sp>
        <p:nvSpPr>
          <p:cNvPr id="32" name="Shape 30"/>
          <p:cNvSpPr/>
          <p:nvPr/>
        </p:nvSpPr>
        <p:spPr>
          <a:xfrm>
            <a:off x="7187184" y="3813048"/>
            <a:ext cx="4434840" cy="2066544"/>
          </a:xfrm>
          <a:prstGeom prst="roundRect">
            <a:avLst>
              <a:gd name="adj" fmla="val 2212"/>
            </a:avLst>
          </a:prstGeom>
          <a:solidFill>
            <a:srgbClr val="F1F4F8"/>
          </a:solidFill>
          <a:ln w="9525">
            <a:solidFill>
              <a:srgbClr val="CFD8E3"/>
            </a:solidFill>
            <a:prstDash val="solid"/>
          </a:ln>
        </p:spPr>
      </p:sp>
      <p:sp>
        <p:nvSpPr>
          <p:cNvPr id="33" name="Text 31"/>
          <p:cNvSpPr/>
          <p:nvPr/>
        </p:nvSpPr>
        <p:spPr>
          <a:xfrm>
            <a:off x="7406640" y="3922776"/>
            <a:ext cx="3995928" cy="201168"/>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BARRIERS</a:t>
            </a:r>
            <a:endParaRPr lang="en-US" sz="850" dirty="0"/>
          </a:p>
        </p:txBody>
      </p:sp>
      <p:sp>
        <p:nvSpPr>
          <p:cNvPr id="34" name="Shape 32"/>
          <p:cNvSpPr/>
          <p:nvPr/>
        </p:nvSpPr>
        <p:spPr>
          <a:xfrm>
            <a:off x="7406640" y="4242816"/>
            <a:ext cx="118872" cy="118872"/>
          </a:xfrm>
          <a:prstGeom prst="ellipse">
            <a:avLst/>
          </a:prstGeom>
          <a:solidFill>
            <a:srgbClr val="C8102E"/>
          </a:solidFill>
          <a:ln/>
        </p:spPr>
      </p:sp>
      <p:sp>
        <p:nvSpPr>
          <p:cNvPr id="35" name="Text 33"/>
          <p:cNvSpPr/>
          <p:nvPr/>
        </p:nvSpPr>
        <p:spPr>
          <a:xfrm>
            <a:off x="7626096" y="417880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Seal flush (Plan 11)</a:t>
            </a:r>
            <a:endParaRPr lang="en-US" sz="1000" dirty="0"/>
          </a:p>
        </p:txBody>
      </p:sp>
      <p:sp>
        <p:nvSpPr>
          <p:cNvPr id="36" name="Shape 34"/>
          <p:cNvSpPr/>
          <p:nvPr/>
        </p:nvSpPr>
        <p:spPr>
          <a:xfrm>
            <a:off x="7406640" y="4517136"/>
            <a:ext cx="118872" cy="118872"/>
          </a:xfrm>
          <a:prstGeom prst="ellipse">
            <a:avLst/>
          </a:prstGeom>
          <a:solidFill>
            <a:srgbClr val="C8102E"/>
          </a:solidFill>
          <a:ln/>
        </p:spPr>
      </p:sp>
      <p:sp>
        <p:nvSpPr>
          <p:cNvPr id="37" name="Text 35"/>
          <p:cNvSpPr/>
          <p:nvPr/>
        </p:nvSpPr>
        <p:spPr>
          <a:xfrm>
            <a:off x="7626096" y="445312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Dual seal containment</a:t>
            </a:r>
            <a:endParaRPr lang="en-US" sz="1000" dirty="0"/>
          </a:p>
        </p:txBody>
      </p:sp>
      <p:sp>
        <p:nvSpPr>
          <p:cNvPr id="38" name="Shape 36"/>
          <p:cNvSpPr/>
          <p:nvPr/>
        </p:nvSpPr>
        <p:spPr>
          <a:xfrm>
            <a:off x="7406640" y="4791456"/>
            <a:ext cx="118872" cy="118872"/>
          </a:xfrm>
          <a:prstGeom prst="ellipse">
            <a:avLst/>
          </a:prstGeom>
          <a:solidFill>
            <a:srgbClr val="C8102E"/>
          </a:solidFill>
          <a:ln/>
        </p:spPr>
      </p:sp>
      <p:sp>
        <p:nvSpPr>
          <p:cNvPr id="39" name="Text 37"/>
          <p:cNvSpPr/>
          <p:nvPr/>
        </p:nvSpPr>
        <p:spPr>
          <a:xfrm>
            <a:off x="7626096" y="472744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Bad actor / RCA trigger</a:t>
            </a:r>
            <a:endParaRPr lang="en-US" sz="1000" dirty="0"/>
          </a:p>
        </p:txBody>
      </p:sp>
      <p:sp>
        <p:nvSpPr>
          <p:cNvPr id="40" name="Shape 38"/>
          <p:cNvSpPr/>
          <p:nvPr/>
        </p:nvSpPr>
        <p:spPr>
          <a:xfrm>
            <a:off x="7406640" y="5065776"/>
            <a:ext cx="118872" cy="118872"/>
          </a:xfrm>
          <a:prstGeom prst="ellipse">
            <a:avLst/>
          </a:prstGeom>
          <a:solidFill>
            <a:srgbClr val="C87F16"/>
          </a:solidFill>
          <a:ln/>
        </p:spPr>
      </p:sp>
      <p:sp>
        <p:nvSpPr>
          <p:cNvPr id="41" name="Text 39"/>
          <p:cNvSpPr/>
          <p:nvPr/>
        </p:nvSpPr>
        <p:spPr>
          <a:xfrm>
            <a:off x="7626096" y="500176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Vibration alarm response</a:t>
            </a:r>
            <a:endParaRPr lang="en-US" sz="1000" dirty="0"/>
          </a:p>
        </p:txBody>
      </p:sp>
      <p:sp>
        <p:nvSpPr>
          <p:cNvPr id="42" name="Shape 40"/>
          <p:cNvSpPr/>
          <p:nvPr/>
        </p:nvSpPr>
        <p:spPr>
          <a:xfrm>
            <a:off x="7406640" y="5340096"/>
            <a:ext cx="118872" cy="118872"/>
          </a:xfrm>
          <a:prstGeom prst="ellipse">
            <a:avLst/>
          </a:prstGeom>
          <a:solidFill>
            <a:srgbClr val="C87F16"/>
          </a:solidFill>
          <a:ln/>
        </p:spPr>
      </p:sp>
      <p:sp>
        <p:nvSpPr>
          <p:cNvPr id="43" name="Text 41"/>
          <p:cNvSpPr/>
          <p:nvPr/>
        </p:nvSpPr>
        <p:spPr>
          <a:xfrm>
            <a:off x="7626096" y="527608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Ignition control — untested</a:t>
            </a:r>
            <a:endParaRPr lang="en-US" sz="1000" dirty="0"/>
          </a:p>
        </p:txBody>
      </p:sp>
      <p:sp>
        <p:nvSpPr>
          <p:cNvPr id="44" name="Shape 42"/>
          <p:cNvSpPr/>
          <p:nvPr/>
        </p:nvSpPr>
        <p:spPr>
          <a:xfrm>
            <a:off x="7406640" y="5614416"/>
            <a:ext cx="118872" cy="118872"/>
          </a:xfrm>
          <a:prstGeom prst="ellipse">
            <a:avLst/>
          </a:prstGeom>
          <a:solidFill>
            <a:srgbClr val="2E7D5B"/>
          </a:solidFill>
          <a:ln/>
        </p:spPr>
      </p:sp>
      <p:sp>
        <p:nvSpPr>
          <p:cNvPr id="45" name="Text 43"/>
          <p:cNvSpPr/>
          <p:nvPr/>
        </p:nvSpPr>
        <p:spPr>
          <a:xfrm>
            <a:off x="7626096" y="5550408"/>
            <a:ext cx="3776472"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Gas detection and ESD</a:t>
            </a:r>
            <a:endParaRPr lang="en-US" sz="1000" dirty="0"/>
          </a:p>
        </p:txBody>
      </p:sp>
      <p:sp>
        <p:nvSpPr>
          <p:cNvPr id="46" name="Shape 44"/>
          <p:cNvSpPr/>
          <p:nvPr/>
        </p:nvSpPr>
        <p:spPr>
          <a:xfrm>
            <a:off x="566928" y="6053328"/>
            <a:ext cx="11055096" cy="475488"/>
          </a:xfrm>
          <a:prstGeom prst="roundRect">
            <a:avLst>
              <a:gd name="adj" fmla="val 11538"/>
            </a:avLst>
          </a:prstGeom>
          <a:solidFill>
            <a:srgbClr val="F1F4F8"/>
          </a:solidFill>
          <a:ln w="9525">
            <a:solidFill>
              <a:srgbClr val="CFD8E3"/>
            </a:solidFill>
            <a:prstDash val="solid"/>
          </a:ln>
        </p:spPr>
      </p:sp>
      <p:sp>
        <p:nvSpPr>
          <p:cNvPr id="47" name="Text 45"/>
          <p:cNvSpPr/>
          <p:nvPr/>
        </p:nvSpPr>
        <p:spPr>
          <a:xfrm>
            <a:off x="713232"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Mechanism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Seal face thermal shock from loss of flush</a:t>
            </a:r>
            <a:endParaRPr lang="en-US" sz="950" dirty="0"/>
          </a:p>
        </p:txBody>
      </p:sp>
      <p:sp>
        <p:nvSpPr>
          <p:cNvPr id="48" name="Text 46"/>
          <p:cNvSpPr/>
          <p:nvPr/>
        </p:nvSpPr>
        <p:spPr>
          <a:xfrm>
            <a:off x="4398264"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Service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290 °C, above the 195 °C flash point</a:t>
            </a:r>
            <a:endParaRPr lang="en-US" sz="950" dirty="0"/>
          </a:p>
        </p:txBody>
      </p:sp>
      <p:sp>
        <p:nvSpPr>
          <p:cNvPr id="49" name="Text 47"/>
          <p:cNvSpPr/>
          <p:nvPr/>
        </p:nvSpPr>
        <p:spPr>
          <a:xfrm>
            <a:off x="8083296"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Fix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API 682 Arr. 2 dual seal, Plan 53B barrier fluid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FAILURE 3 OF 3  ·  H-1101 CRUDE CHARGE HEATER  ·  22 MAY 2026</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The instrument that would have seen this coming was switched off.</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Creep and stress rupture from localised overheating with internal coke deposition (API RP 571), on a 9Cr-1Mo radiant tube.</a:t>
            </a:r>
            <a:endParaRPr lang="en-US" sz="1200" dirty="0"/>
          </a:p>
        </p:txBody>
      </p:sp>
      <p:sp>
        <p:nvSpPr>
          <p:cNvPr id="5" name="Shape 3"/>
          <p:cNvSpPr/>
          <p:nvPr/>
        </p:nvSpPr>
        <p:spPr>
          <a:xfrm>
            <a:off x="566928" y="1645920"/>
            <a:ext cx="6309360" cy="877824"/>
          </a:xfrm>
          <a:prstGeom prst="roundRect">
            <a:avLst>
              <a:gd name="adj" fmla="val 5208"/>
            </a:avLst>
          </a:prstGeom>
          <a:solidFill>
            <a:srgbClr val="F1F4F8"/>
          </a:solidFill>
          <a:ln w="9525">
            <a:solidFill>
              <a:srgbClr val="CFD8E3"/>
            </a:solidFill>
            <a:prstDash val="solid"/>
          </a:ln>
        </p:spPr>
      </p:sp>
      <p:sp>
        <p:nvSpPr>
          <p:cNvPr id="6" name="Text 4"/>
          <p:cNvSpPr/>
          <p:nvPr/>
        </p:nvSpPr>
        <p:spPr>
          <a:xfrm>
            <a:off x="768096" y="1719072"/>
            <a:ext cx="5907024" cy="182880"/>
          </a:xfrm>
          <a:prstGeom prst="rect">
            <a:avLst/>
          </a:prstGeom>
          <a:noFill/>
          <a:ln/>
        </p:spPr>
        <p:txBody>
          <a:bodyPr wrap="square" lIns="0" tIns="0" rIns="0" bIns="0" rtlCol="0" anchor="ctr"/>
          <a:lstStyle/>
          <a:p>
            <a:pPr indent="0" marL="0">
              <a:buNone/>
            </a:pPr>
            <a:r>
              <a:rPr lang="en-US" sz="850" b="1" spc="120" kern="0" dirty="0">
                <a:solidFill>
                  <a:srgbClr val="C8102E"/>
                </a:solidFill>
                <a:latin typeface="Calibri" pitchFamily="34" charset="0"/>
                <a:ea typeface="Calibri" pitchFamily="34" charset="-122"/>
                <a:cs typeface="Calibri" pitchFamily="34" charset="-120"/>
              </a:rPr>
              <a:t>EVENT</a:t>
            </a:r>
            <a:endParaRPr lang="en-US" sz="850" dirty="0"/>
          </a:p>
        </p:txBody>
      </p:sp>
      <p:sp>
        <p:nvSpPr>
          <p:cNvPr id="7" name="Text 5"/>
          <p:cNvSpPr/>
          <p:nvPr/>
        </p:nvSpPr>
        <p:spPr>
          <a:xfrm>
            <a:off x="768096" y="1901952"/>
            <a:ext cx="5907024" cy="54864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A Pass 3 radiant tube bulged and ruptured longitudinally. Crude discharged into the firebox and ignited. Heater tripped, emergency depressuring initiated, refractory and adjacent tubes damaged. 21 days down, $18.0M.</a:t>
            </a:r>
            <a:endParaRPr lang="en-US" sz="1100" dirty="0"/>
          </a:p>
        </p:txBody>
      </p:sp>
      <p:sp>
        <p:nvSpPr>
          <p:cNvPr id="8" name="Shape 6"/>
          <p:cNvSpPr/>
          <p:nvPr/>
        </p:nvSpPr>
        <p:spPr>
          <a:xfrm>
            <a:off x="950976" y="2528316"/>
            <a:ext cx="182880" cy="137160"/>
          </a:xfrm>
          <a:prstGeom prst="downArrow">
            <a:avLst/>
          </a:prstGeom>
          <a:solidFill>
            <a:srgbClr val="AEBBCA"/>
          </a:solidFill>
          <a:ln/>
        </p:spPr>
      </p:sp>
      <p:sp>
        <p:nvSpPr>
          <p:cNvPr id="9" name="Shape 7"/>
          <p:cNvSpPr/>
          <p:nvPr/>
        </p:nvSpPr>
        <p:spPr>
          <a:xfrm>
            <a:off x="566928" y="2660904"/>
            <a:ext cx="6309360" cy="877824"/>
          </a:xfrm>
          <a:prstGeom prst="roundRect">
            <a:avLst>
              <a:gd name="adj" fmla="val 5208"/>
            </a:avLst>
          </a:prstGeom>
          <a:solidFill>
            <a:srgbClr val="F1F4F8"/>
          </a:solidFill>
          <a:ln w="9525">
            <a:solidFill>
              <a:srgbClr val="CFD8E3"/>
            </a:solidFill>
            <a:prstDash val="solid"/>
          </a:ln>
        </p:spPr>
      </p:sp>
      <p:sp>
        <p:nvSpPr>
          <p:cNvPr id="10" name="Text 8"/>
          <p:cNvSpPr/>
          <p:nvPr/>
        </p:nvSpPr>
        <p:spPr>
          <a:xfrm>
            <a:off x="768096" y="2734056"/>
            <a:ext cx="5907024" cy="182880"/>
          </a:xfrm>
          <a:prstGeom prst="rect">
            <a:avLst/>
          </a:prstGeom>
          <a:noFill/>
          <a:ln/>
        </p:spPr>
        <p:txBody>
          <a:bodyPr wrap="square" lIns="0" tIns="0" rIns="0" bIns="0" rtlCol="0" anchor="ctr"/>
          <a:lstStyle/>
          <a:p>
            <a:pPr indent="0" marL="0">
              <a:buNone/>
            </a:pPr>
            <a:r>
              <a:rPr lang="en-US" sz="850" b="1" spc="120" kern="0" dirty="0">
                <a:solidFill>
                  <a:srgbClr val="0A2540"/>
                </a:solidFill>
                <a:latin typeface="Calibri" pitchFamily="34" charset="0"/>
                <a:ea typeface="Calibri" pitchFamily="34" charset="-122"/>
                <a:cs typeface="Calibri" pitchFamily="34" charset="-120"/>
              </a:rPr>
              <a:t>PHYSICAL ROOT</a:t>
            </a:r>
            <a:endParaRPr lang="en-US" sz="850" dirty="0"/>
          </a:p>
        </p:txBody>
      </p:sp>
      <p:sp>
        <p:nvSpPr>
          <p:cNvPr id="11" name="Text 9"/>
          <p:cNvSpPr/>
          <p:nvPr/>
        </p:nvSpPr>
        <p:spPr>
          <a:xfrm>
            <a:off x="768096" y="2916936"/>
            <a:ext cx="5907024" cy="54864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A partly plugged burner tip impinged flame on the tube. Coke laid down inside; coke insulates, so heat stayed in the wall instead of reaching the process; metal temperature climbed, which laid down coke faster.</a:t>
            </a:r>
            <a:endParaRPr lang="en-US" sz="1100" dirty="0"/>
          </a:p>
        </p:txBody>
      </p:sp>
      <p:sp>
        <p:nvSpPr>
          <p:cNvPr id="12" name="Shape 10"/>
          <p:cNvSpPr/>
          <p:nvPr/>
        </p:nvSpPr>
        <p:spPr>
          <a:xfrm>
            <a:off x="950976" y="3543300"/>
            <a:ext cx="182880" cy="137160"/>
          </a:xfrm>
          <a:prstGeom prst="downArrow">
            <a:avLst/>
          </a:prstGeom>
          <a:solidFill>
            <a:srgbClr val="AEBBCA"/>
          </a:solidFill>
          <a:ln/>
        </p:spPr>
      </p:sp>
      <p:sp>
        <p:nvSpPr>
          <p:cNvPr id="13" name="Shape 11"/>
          <p:cNvSpPr/>
          <p:nvPr/>
        </p:nvSpPr>
        <p:spPr>
          <a:xfrm>
            <a:off x="566928" y="3675888"/>
            <a:ext cx="6309360" cy="877824"/>
          </a:xfrm>
          <a:prstGeom prst="roundRect">
            <a:avLst>
              <a:gd name="adj" fmla="val 5208"/>
            </a:avLst>
          </a:prstGeom>
          <a:solidFill>
            <a:srgbClr val="F1F4F8"/>
          </a:solidFill>
          <a:ln w="9525">
            <a:solidFill>
              <a:srgbClr val="CFD8E3"/>
            </a:solidFill>
            <a:prstDash val="solid"/>
          </a:ln>
        </p:spPr>
      </p:sp>
      <p:sp>
        <p:nvSpPr>
          <p:cNvPr id="14" name="Text 12"/>
          <p:cNvSpPr/>
          <p:nvPr/>
        </p:nvSpPr>
        <p:spPr>
          <a:xfrm>
            <a:off x="768096" y="3749040"/>
            <a:ext cx="5907024" cy="182880"/>
          </a:xfrm>
          <a:prstGeom prst="rect">
            <a:avLst/>
          </a:prstGeom>
          <a:noFill/>
          <a:ln/>
        </p:spPr>
        <p:txBody>
          <a:bodyPr wrap="square" lIns="0" tIns="0" rIns="0" bIns="0" rtlCol="0" anchor="ctr"/>
          <a:lstStyle/>
          <a:p>
            <a:pPr indent="0" marL="0">
              <a:buNone/>
            </a:pPr>
            <a:r>
              <a:rPr lang="en-US" sz="850" b="1" spc="120" kern="0" dirty="0">
                <a:solidFill>
                  <a:srgbClr val="0A2540"/>
                </a:solidFill>
                <a:latin typeface="Calibri" pitchFamily="34" charset="0"/>
                <a:ea typeface="Calibri" pitchFamily="34" charset="-122"/>
                <a:cs typeface="Calibri" pitchFamily="34" charset="-120"/>
              </a:rPr>
              <a:t>HUMAN ROOT</a:t>
            </a:r>
            <a:endParaRPr lang="en-US" sz="850" dirty="0"/>
          </a:p>
        </p:txBody>
      </p:sp>
      <p:sp>
        <p:nvSpPr>
          <p:cNvPr id="15" name="Text 13"/>
          <p:cNvSpPr/>
          <p:nvPr/>
        </p:nvSpPr>
        <p:spPr>
          <a:xfrm>
            <a:off x="768096" y="3931920"/>
            <a:ext cx="5907024" cy="54864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The Pass 3 tube skin thermocouple failed and was inhibited in the DCS to stop nuisance alarms — eight months before the rupture. Pass flow imbalance had been normalised on the panel.</a:t>
            </a:r>
            <a:endParaRPr lang="en-US" sz="1100" dirty="0"/>
          </a:p>
        </p:txBody>
      </p:sp>
      <p:sp>
        <p:nvSpPr>
          <p:cNvPr id="16" name="Shape 14"/>
          <p:cNvSpPr/>
          <p:nvPr/>
        </p:nvSpPr>
        <p:spPr>
          <a:xfrm>
            <a:off x="950976" y="4558284"/>
            <a:ext cx="182880" cy="137160"/>
          </a:xfrm>
          <a:prstGeom prst="downArrow">
            <a:avLst/>
          </a:prstGeom>
          <a:solidFill>
            <a:srgbClr val="AEBBCA"/>
          </a:solidFill>
          <a:ln/>
        </p:spPr>
      </p:sp>
      <p:sp>
        <p:nvSpPr>
          <p:cNvPr id="17" name="Shape 15"/>
          <p:cNvSpPr/>
          <p:nvPr/>
        </p:nvSpPr>
        <p:spPr>
          <a:xfrm>
            <a:off x="566928" y="4690872"/>
            <a:ext cx="6309360" cy="1188720"/>
          </a:xfrm>
          <a:prstGeom prst="roundRect">
            <a:avLst>
              <a:gd name="adj" fmla="val 3846"/>
            </a:avLst>
          </a:prstGeom>
          <a:solidFill>
            <a:srgbClr val="E4EAF1"/>
          </a:solidFill>
          <a:ln w="9525">
            <a:solidFill>
              <a:srgbClr val="00539B"/>
            </a:solidFill>
            <a:prstDash val="solid"/>
          </a:ln>
          <a:effectLst>
            <a:outerShdw sx="100000" sy="100000" kx="0" ky="0" algn="bl" rotWithShape="0" blurRad="101600" dist="19050" dir="5400000">
              <a:srgbClr val="8A99AC">
                <a:alpha val="16000"/>
              </a:srgbClr>
            </a:outerShdw>
          </a:effectLst>
        </p:spPr>
      </p:sp>
      <p:sp>
        <p:nvSpPr>
          <p:cNvPr id="18" name="Text 16"/>
          <p:cNvSpPr/>
          <p:nvPr/>
        </p:nvSpPr>
        <p:spPr>
          <a:xfrm>
            <a:off x="768096" y="4764024"/>
            <a:ext cx="5907024" cy="182880"/>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LATENT / SYSTEM ROOT</a:t>
            </a:r>
            <a:endParaRPr lang="en-US" sz="850" dirty="0"/>
          </a:p>
        </p:txBody>
      </p:sp>
      <p:sp>
        <p:nvSpPr>
          <p:cNvPr id="19" name="Text 17"/>
          <p:cNvSpPr/>
          <p:nvPr/>
        </p:nvSpPr>
        <p:spPr>
          <a:xfrm>
            <a:off x="768096" y="4946904"/>
            <a:ext cx="5907024" cy="859536"/>
          </a:xfrm>
          <a:prstGeom prst="rect">
            <a:avLst/>
          </a:prstGeom>
          <a:noFill/>
          <a:ln/>
        </p:spPr>
        <p:txBody>
          <a:bodyPr wrap="square" lIns="0" tIns="0" rIns="0" bIns="0" rtlCol="0" anchor="t"/>
          <a:lstStyle/>
          <a:p>
            <a:pPr indent="0" marL="0">
              <a:lnSpc>
                <a:spcPts val="1400"/>
              </a:lnSpc>
              <a:buNone/>
            </a:pPr>
            <a:r>
              <a:rPr lang="en-US" sz="1100" b="1" dirty="0">
                <a:solidFill>
                  <a:srgbClr val="0A2540"/>
                </a:solidFill>
                <a:latin typeface="Calibri" pitchFamily="34" charset="0"/>
                <a:ea typeface="Calibri" pitchFamily="34" charset="-122"/>
                <a:cs typeface="Calibri" pitchFamily="34" charset="-120"/>
              </a:rPr>
              <a:t>Instrument inhibits could be applied indefinitely with no register, no expiry and no risk assessment. A reasonable person solved a real problem, and the organisation provided no mechanism that would ever ask for the measurement back.</a:t>
            </a:r>
            <a:endParaRPr lang="en-US" sz="1100" dirty="0"/>
          </a:p>
        </p:txBody>
      </p:sp>
      <p:sp>
        <p:nvSpPr>
          <p:cNvPr id="20" name="Shape 18"/>
          <p:cNvSpPr/>
          <p:nvPr/>
        </p:nvSpPr>
        <p:spPr>
          <a:xfrm>
            <a:off x="7187184" y="1645920"/>
            <a:ext cx="4434840" cy="2029968"/>
          </a:xfrm>
          <a:prstGeom prst="roundRect">
            <a:avLst>
              <a:gd name="adj" fmla="val 2252"/>
            </a:avLst>
          </a:prstGeom>
          <a:solidFill>
            <a:srgbClr val="0A2540"/>
          </a:solidFill>
          <a:ln/>
        </p:spPr>
      </p:sp>
      <p:sp>
        <p:nvSpPr>
          <p:cNvPr id="21" name="Text 19"/>
          <p:cNvSpPr/>
          <p:nvPr/>
        </p:nvSpPr>
        <p:spPr>
          <a:xfrm>
            <a:off x="7406640" y="1755648"/>
            <a:ext cx="3995928" cy="201168"/>
          </a:xfrm>
          <a:prstGeom prst="rect">
            <a:avLst/>
          </a:prstGeom>
          <a:noFill/>
          <a:ln/>
        </p:spPr>
        <p:txBody>
          <a:bodyPr wrap="square" lIns="0" tIns="0" rIns="0" bIns="0" rtlCol="0" anchor="ctr"/>
          <a:lstStyle/>
          <a:p>
            <a:pPr indent="0" marL="0">
              <a:buNone/>
            </a:pPr>
            <a:r>
              <a:rPr lang="en-US" sz="850" b="1" spc="120" kern="0" dirty="0">
                <a:solidFill>
                  <a:srgbClr val="7FA8CE"/>
                </a:solidFill>
                <a:latin typeface="Calibri" pitchFamily="34" charset="0"/>
                <a:ea typeface="Calibri" pitchFamily="34" charset="-122"/>
                <a:cs typeface="Calibri" pitchFamily="34" charset="-120"/>
              </a:rPr>
              <a:t>THE NUMBERS</a:t>
            </a:r>
            <a:endParaRPr lang="en-US" sz="850" dirty="0"/>
          </a:p>
        </p:txBody>
      </p:sp>
      <p:sp>
        <p:nvSpPr>
          <p:cNvPr id="22" name="Text 20"/>
          <p:cNvSpPr/>
          <p:nvPr/>
        </p:nvSpPr>
        <p:spPr>
          <a:xfrm>
            <a:off x="7406640" y="2011680"/>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Tube material</a:t>
            </a:r>
            <a:endParaRPr lang="en-US" sz="1050" dirty="0"/>
          </a:p>
        </p:txBody>
      </p:sp>
      <p:sp>
        <p:nvSpPr>
          <p:cNvPr id="23" name="Text 21"/>
          <p:cNvSpPr/>
          <p:nvPr/>
        </p:nvSpPr>
        <p:spPr>
          <a:xfrm>
            <a:off x="10085832" y="2011680"/>
            <a:ext cx="1316736"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A335 P9</a:t>
            </a:r>
            <a:endParaRPr lang="en-US" sz="1100" dirty="0"/>
          </a:p>
        </p:txBody>
      </p:sp>
      <p:sp>
        <p:nvSpPr>
          <p:cNvPr id="24" name="Text 22"/>
          <p:cNvSpPr/>
          <p:nvPr/>
        </p:nvSpPr>
        <p:spPr>
          <a:xfrm>
            <a:off x="7406640" y="2340864"/>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Design TMT</a:t>
            </a:r>
            <a:endParaRPr lang="en-US" sz="1050" dirty="0"/>
          </a:p>
        </p:txBody>
      </p:sp>
      <p:sp>
        <p:nvSpPr>
          <p:cNvPr id="25" name="Text 23"/>
          <p:cNvSpPr/>
          <p:nvPr/>
        </p:nvSpPr>
        <p:spPr>
          <a:xfrm>
            <a:off x="10085832" y="2340864"/>
            <a:ext cx="1316736"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620 °C</a:t>
            </a:r>
            <a:endParaRPr lang="en-US" sz="1100" dirty="0"/>
          </a:p>
        </p:txBody>
      </p:sp>
      <p:sp>
        <p:nvSpPr>
          <p:cNvPr id="26" name="Text 24"/>
          <p:cNvSpPr/>
          <p:nvPr/>
        </p:nvSpPr>
        <p:spPr>
          <a:xfrm>
            <a:off x="7406640" y="2670048"/>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Estimated peak TMT</a:t>
            </a:r>
            <a:endParaRPr lang="en-US" sz="1050" dirty="0"/>
          </a:p>
        </p:txBody>
      </p:sp>
      <p:sp>
        <p:nvSpPr>
          <p:cNvPr id="27" name="Text 25"/>
          <p:cNvSpPr/>
          <p:nvPr/>
        </p:nvSpPr>
        <p:spPr>
          <a:xfrm>
            <a:off x="10085832" y="2670048"/>
            <a:ext cx="1316736" cy="310896"/>
          </a:xfrm>
          <a:prstGeom prst="rect">
            <a:avLst/>
          </a:prstGeom>
          <a:noFill/>
          <a:ln/>
        </p:spPr>
        <p:txBody>
          <a:bodyPr wrap="square" lIns="0" tIns="0" rIns="0" bIns="0" rtlCol="0" anchor="ctr"/>
          <a:lstStyle/>
          <a:p>
            <a:pPr algn="r" indent="0" marL="0">
              <a:buNone/>
            </a:pPr>
            <a:r>
              <a:rPr lang="en-US" sz="1100" b="1" dirty="0">
                <a:solidFill>
                  <a:srgbClr val="FF8A94"/>
                </a:solidFill>
                <a:latin typeface="Calibri" pitchFamily="34" charset="0"/>
                <a:ea typeface="Calibri" pitchFamily="34" charset="-122"/>
                <a:cs typeface="Calibri" pitchFamily="34" charset="-120"/>
              </a:rPr>
              <a:t>760 °C</a:t>
            </a:r>
            <a:endParaRPr lang="en-US" sz="1100" dirty="0"/>
          </a:p>
        </p:txBody>
      </p:sp>
      <p:sp>
        <p:nvSpPr>
          <p:cNvPr id="28" name="Text 26"/>
          <p:cNvSpPr/>
          <p:nvPr/>
        </p:nvSpPr>
        <p:spPr>
          <a:xfrm>
            <a:off x="7406640" y="2999232"/>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Internal coke layer</a:t>
            </a:r>
            <a:endParaRPr lang="en-US" sz="1050" dirty="0"/>
          </a:p>
        </p:txBody>
      </p:sp>
      <p:sp>
        <p:nvSpPr>
          <p:cNvPr id="29" name="Text 27"/>
          <p:cNvSpPr/>
          <p:nvPr/>
        </p:nvSpPr>
        <p:spPr>
          <a:xfrm>
            <a:off x="10085832" y="2999232"/>
            <a:ext cx="1316736"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6 mm</a:t>
            </a:r>
            <a:endParaRPr lang="en-US" sz="1100" dirty="0"/>
          </a:p>
        </p:txBody>
      </p:sp>
      <p:sp>
        <p:nvSpPr>
          <p:cNvPr id="30" name="Text 28"/>
          <p:cNvSpPr/>
          <p:nvPr/>
        </p:nvSpPr>
        <p:spPr>
          <a:xfrm>
            <a:off x="7406640" y="3328416"/>
            <a:ext cx="2916936" cy="310896"/>
          </a:xfrm>
          <a:prstGeom prst="rect">
            <a:avLst/>
          </a:prstGeom>
          <a:noFill/>
          <a:ln/>
        </p:spPr>
        <p:txBody>
          <a:bodyPr wrap="square" lIns="0" tIns="0" rIns="0" bIns="0" rtlCol="0" anchor="ctr"/>
          <a:lstStyle/>
          <a:p>
            <a:pPr indent="0" marL="0">
              <a:buNone/>
            </a:pPr>
            <a:r>
              <a:rPr lang="en-US" sz="1050" dirty="0">
                <a:solidFill>
                  <a:srgbClr val="B9CBDD"/>
                </a:solidFill>
                <a:latin typeface="Calibri" pitchFamily="34" charset="0"/>
                <a:ea typeface="Calibri" pitchFamily="34" charset="-122"/>
                <a:cs typeface="Calibri" pitchFamily="34" charset="-120"/>
              </a:rPr>
              <a:t>Diameter increase</a:t>
            </a:r>
            <a:endParaRPr lang="en-US" sz="1050" dirty="0"/>
          </a:p>
        </p:txBody>
      </p:sp>
      <p:sp>
        <p:nvSpPr>
          <p:cNvPr id="31" name="Text 29"/>
          <p:cNvSpPr/>
          <p:nvPr/>
        </p:nvSpPr>
        <p:spPr>
          <a:xfrm>
            <a:off x="10085832" y="3328416"/>
            <a:ext cx="1316736" cy="310896"/>
          </a:xfrm>
          <a:prstGeom prst="rect">
            <a:avLst/>
          </a:prstGeom>
          <a:noFill/>
          <a:ln/>
        </p:spPr>
        <p:txBody>
          <a:bodyPr wrap="square" lIns="0" tIns="0" rIns="0" bIns="0" rtlCol="0" anchor="ctr"/>
          <a:lstStyle/>
          <a:p>
            <a:pPr algn="r" indent="0" marL="0">
              <a:buNone/>
            </a:pPr>
            <a:r>
              <a:rPr lang="en-US" sz="1100" b="1" dirty="0">
                <a:solidFill>
                  <a:srgbClr val="FF8A94"/>
                </a:solidFill>
                <a:latin typeface="Calibri" pitchFamily="34" charset="0"/>
                <a:ea typeface="Calibri" pitchFamily="34" charset="-122"/>
                <a:cs typeface="Calibri" pitchFamily="34" charset="-120"/>
              </a:rPr>
              <a:t>6.2%</a:t>
            </a:r>
            <a:endParaRPr lang="en-US" sz="1100" dirty="0"/>
          </a:p>
        </p:txBody>
      </p:sp>
      <p:sp>
        <p:nvSpPr>
          <p:cNvPr id="32" name="Shape 30"/>
          <p:cNvSpPr/>
          <p:nvPr/>
        </p:nvSpPr>
        <p:spPr>
          <a:xfrm>
            <a:off x="7187184" y="3813048"/>
            <a:ext cx="4434840" cy="2066544"/>
          </a:xfrm>
          <a:prstGeom prst="roundRect">
            <a:avLst>
              <a:gd name="adj" fmla="val 2212"/>
            </a:avLst>
          </a:prstGeom>
          <a:solidFill>
            <a:srgbClr val="F1F4F8"/>
          </a:solidFill>
          <a:ln w="9525">
            <a:solidFill>
              <a:srgbClr val="CFD8E3"/>
            </a:solidFill>
            <a:prstDash val="solid"/>
          </a:ln>
        </p:spPr>
      </p:sp>
      <p:sp>
        <p:nvSpPr>
          <p:cNvPr id="33" name="Text 31"/>
          <p:cNvSpPr/>
          <p:nvPr/>
        </p:nvSpPr>
        <p:spPr>
          <a:xfrm>
            <a:off x="7406640" y="3922776"/>
            <a:ext cx="3995928" cy="201168"/>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BARRIERS</a:t>
            </a:r>
            <a:endParaRPr lang="en-US" sz="850" dirty="0"/>
          </a:p>
        </p:txBody>
      </p:sp>
      <p:sp>
        <p:nvSpPr>
          <p:cNvPr id="34" name="Shape 32"/>
          <p:cNvSpPr/>
          <p:nvPr/>
        </p:nvSpPr>
        <p:spPr>
          <a:xfrm>
            <a:off x="7406640" y="4242816"/>
            <a:ext cx="118872" cy="118872"/>
          </a:xfrm>
          <a:prstGeom prst="ellipse">
            <a:avLst/>
          </a:prstGeom>
          <a:solidFill>
            <a:srgbClr val="C8102E"/>
          </a:solidFill>
          <a:ln/>
        </p:spPr>
      </p:sp>
      <p:sp>
        <p:nvSpPr>
          <p:cNvPr id="35" name="Text 33"/>
          <p:cNvSpPr/>
          <p:nvPr/>
        </p:nvSpPr>
        <p:spPr>
          <a:xfrm>
            <a:off x="7626096" y="417880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Tube metal temperature monitoring</a:t>
            </a:r>
            <a:endParaRPr lang="en-US" sz="1000" dirty="0"/>
          </a:p>
        </p:txBody>
      </p:sp>
      <p:sp>
        <p:nvSpPr>
          <p:cNvPr id="36" name="Shape 34"/>
          <p:cNvSpPr/>
          <p:nvPr/>
        </p:nvSpPr>
        <p:spPr>
          <a:xfrm>
            <a:off x="7406640" y="4517136"/>
            <a:ext cx="118872" cy="118872"/>
          </a:xfrm>
          <a:prstGeom prst="ellipse">
            <a:avLst/>
          </a:prstGeom>
          <a:solidFill>
            <a:srgbClr val="C8102E"/>
          </a:solidFill>
          <a:ln/>
        </p:spPr>
      </p:sp>
      <p:sp>
        <p:nvSpPr>
          <p:cNvPr id="37" name="Text 35"/>
          <p:cNvSpPr/>
          <p:nvPr/>
        </p:nvSpPr>
        <p:spPr>
          <a:xfrm>
            <a:off x="7626096" y="445312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Integrity Operating Window</a:t>
            </a:r>
            <a:endParaRPr lang="en-US" sz="1000" dirty="0"/>
          </a:p>
        </p:txBody>
      </p:sp>
      <p:sp>
        <p:nvSpPr>
          <p:cNvPr id="38" name="Shape 36"/>
          <p:cNvSpPr/>
          <p:nvPr/>
        </p:nvSpPr>
        <p:spPr>
          <a:xfrm>
            <a:off x="7406640" y="4791456"/>
            <a:ext cx="118872" cy="118872"/>
          </a:xfrm>
          <a:prstGeom prst="ellipse">
            <a:avLst/>
          </a:prstGeom>
          <a:solidFill>
            <a:srgbClr val="C8102E"/>
          </a:solidFill>
          <a:ln/>
        </p:spPr>
      </p:sp>
      <p:sp>
        <p:nvSpPr>
          <p:cNvPr id="39" name="Text 37"/>
          <p:cNvSpPr/>
          <p:nvPr/>
        </p:nvSpPr>
        <p:spPr>
          <a:xfrm>
            <a:off x="7626096" y="472744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Condition-based decoking</a:t>
            </a:r>
            <a:endParaRPr lang="en-US" sz="1000" dirty="0"/>
          </a:p>
        </p:txBody>
      </p:sp>
      <p:sp>
        <p:nvSpPr>
          <p:cNvPr id="40" name="Shape 38"/>
          <p:cNvSpPr/>
          <p:nvPr/>
        </p:nvSpPr>
        <p:spPr>
          <a:xfrm>
            <a:off x="7406640" y="5065776"/>
            <a:ext cx="118872" cy="118872"/>
          </a:xfrm>
          <a:prstGeom prst="ellipse">
            <a:avLst/>
          </a:prstGeom>
          <a:solidFill>
            <a:srgbClr val="C87F16"/>
          </a:solidFill>
          <a:ln/>
        </p:spPr>
      </p:sp>
      <p:sp>
        <p:nvSpPr>
          <p:cNvPr id="41" name="Text 39"/>
          <p:cNvSpPr/>
          <p:nvPr/>
        </p:nvSpPr>
        <p:spPr>
          <a:xfrm>
            <a:off x="7626096" y="500176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Pass flow balancing</a:t>
            </a:r>
            <a:endParaRPr lang="en-US" sz="1000" dirty="0"/>
          </a:p>
        </p:txBody>
      </p:sp>
      <p:sp>
        <p:nvSpPr>
          <p:cNvPr id="42" name="Shape 40"/>
          <p:cNvSpPr/>
          <p:nvPr/>
        </p:nvSpPr>
        <p:spPr>
          <a:xfrm>
            <a:off x="7406640" y="5340096"/>
            <a:ext cx="118872" cy="118872"/>
          </a:xfrm>
          <a:prstGeom prst="ellipse">
            <a:avLst/>
          </a:prstGeom>
          <a:solidFill>
            <a:srgbClr val="C87F16"/>
          </a:solidFill>
          <a:ln/>
        </p:spPr>
      </p:sp>
      <p:sp>
        <p:nvSpPr>
          <p:cNvPr id="43" name="Text 41"/>
          <p:cNvSpPr/>
          <p:nvPr/>
        </p:nvSpPr>
        <p:spPr>
          <a:xfrm>
            <a:off x="7626096" y="5276088"/>
            <a:ext cx="3776472" cy="274320"/>
          </a:xfrm>
          <a:prstGeom prst="rect">
            <a:avLst/>
          </a:prstGeom>
          <a:noFill/>
          <a:ln/>
        </p:spPr>
        <p:txBody>
          <a:bodyPr wrap="square" lIns="0" tIns="0" rIns="0" bIns="0" rtlCol="0" anchor="ctr"/>
          <a:lstStyle/>
          <a:p>
            <a:pPr indent="0" marL="0">
              <a:buNone/>
            </a:pPr>
            <a:r>
              <a:rPr lang="en-US" sz="1000" dirty="0">
                <a:solidFill>
                  <a:srgbClr val="56677A"/>
                </a:solidFill>
                <a:latin typeface="Calibri" pitchFamily="34" charset="0"/>
                <a:ea typeface="Calibri" pitchFamily="34" charset="-122"/>
                <a:cs typeface="Calibri" pitchFamily="34" charset="-120"/>
              </a:rPr>
              <a:t>IR thermography survey</a:t>
            </a:r>
            <a:endParaRPr lang="en-US" sz="1000" dirty="0"/>
          </a:p>
        </p:txBody>
      </p:sp>
      <p:sp>
        <p:nvSpPr>
          <p:cNvPr id="44" name="Shape 42"/>
          <p:cNvSpPr/>
          <p:nvPr/>
        </p:nvSpPr>
        <p:spPr>
          <a:xfrm>
            <a:off x="7406640" y="5614416"/>
            <a:ext cx="118872" cy="118872"/>
          </a:xfrm>
          <a:prstGeom prst="ellipse">
            <a:avLst/>
          </a:prstGeom>
          <a:solidFill>
            <a:srgbClr val="2E7D5B"/>
          </a:solidFill>
          <a:ln/>
        </p:spPr>
      </p:sp>
      <p:sp>
        <p:nvSpPr>
          <p:cNvPr id="45" name="Text 43"/>
          <p:cNvSpPr/>
          <p:nvPr/>
        </p:nvSpPr>
        <p:spPr>
          <a:xfrm>
            <a:off x="7626096" y="5550408"/>
            <a:ext cx="3776472"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Trip and emergency depressuring</a:t>
            </a:r>
            <a:endParaRPr lang="en-US" sz="1000" dirty="0"/>
          </a:p>
        </p:txBody>
      </p:sp>
      <p:sp>
        <p:nvSpPr>
          <p:cNvPr id="46" name="Shape 44"/>
          <p:cNvSpPr/>
          <p:nvPr/>
        </p:nvSpPr>
        <p:spPr>
          <a:xfrm>
            <a:off x="566928" y="6053328"/>
            <a:ext cx="11055096" cy="475488"/>
          </a:xfrm>
          <a:prstGeom prst="roundRect">
            <a:avLst>
              <a:gd name="adj" fmla="val 11538"/>
            </a:avLst>
          </a:prstGeom>
          <a:solidFill>
            <a:srgbClr val="F1F4F8"/>
          </a:solidFill>
          <a:ln w="9525">
            <a:solidFill>
              <a:srgbClr val="CFD8E3"/>
            </a:solidFill>
            <a:prstDash val="solid"/>
          </a:ln>
        </p:spPr>
      </p:sp>
      <p:sp>
        <p:nvSpPr>
          <p:cNvPr id="47" name="Text 45"/>
          <p:cNvSpPr/>
          <p:nvPr/>
        </p:nvSpPr>
        <p:spPr>
          <a:xfrm>
            <a:off x="713232"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Mechanism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Creep / stress rupture, API RP 571</a:t>
            </a:r>
            <a:endParaRPr lang="en-US" sz="950" dirty="0"/>
          </a:p>
        </p:txBody>
      </p:sp>
      <p:sp>
        <p:nvSpPr>
          <p:cNvPr id="48" name="Text 46"/>
          <p:cNvSpPr/>
          <p:nvPr/>
        </p:nvSpPr>
        <p:spPr>
          <a:xfrm>
            <a:off x="4398264"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Damage indicator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&gt; 3% diameter increase; 6.2% measured</a:t>
            </a:r>
            <a:endParaRPr lang="en-US" sz="950" dirty="0"/>
          </a:p>
        </p:txBody>
      </p:sp>
      <p:sp>
        <p:nvSpPr>
          <p:cNvPr id="49" name="Text 47"/>
          <p:cNvSpPr/>
          <p:nvPr/>
        </p:nvSpPr>
        <p:spPr>
          <a:xfrm>
            <a:off x="8083296" y="6053328"/>
            <a:ext cx="3392424"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Fix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Redundant TMT, inhibit register, API RP 584 IOW</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WHAT THE THREE HAVE IN COMMON</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Every one had a competent engineering answer and an uncomfortable organisational one underneath it.</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Not one of these was caused by somebody being careless on the day.</a:t>
            </a:r>
            <a:endParaRPr lang="en-US" sz="1200" dirty="0"/>
          </a:p>
        </p:txBody>
      </p:sp>
      <p:sp>
        <p:nvSpPr>
          <p:cNvPr id="5" name="Shape 3"/>
          <p:cNvSpPr/>
          <p:nvPr/>
        </p:nvSpPr>
        <p:spPr>
          <a:xfrm>
            <a:off x="566928" y="1645920"/>
            <a:ext cx="3520440" cy="2432304"/>
          </a:xfrm>
          <a:prstGeom prst="roundRect">
            <a:avLst>
              <a:gd name="adj" fmla="val 1880"/>
            </a:avLst>
          </a:prstGeom>
          <a:solidFill>
            <a:srgbClr val="F1F4F8"/>
          </a:solidFill>
          <a:ln w="9525">
            <a:solidFill>
              <a:srgbClr val="CFD8E3"/>
            </a:solidFill>
            <a:prstDash val="solid"/>
          </a:ln>
        </p:spPr>
      </p:sp>
      <p:sp>
        <p:nvSpPr>
          <p:cNvPr id="6" name="Text 4"/>
          <p:cNvSpPr/>
          <p:nvPr/>
        </p:nvSpPr>
        <p:spPr>
          <a:xfrm>
            <a:off x="768096" y="1755648"/>
            <a:ext cx="3118104" cy="274320"/>
          </a:xfrm>
          <a:prstGeom prst="rect">
            <a:avLst/>
          </a:prstGeom>
          <a:noFill/>
          <a:ln/>
        </p:spPr>
        <p:txBody>
          <a:bodyPr wrap="square" lIns="0" tIns="0" rIns="0" bIns="0" rtlCol="0" anchor="ctr"/>
          <a:lstStyle/>
          <a:p>
            <a:pPr indent="0" marL="0">
              <a:buNone/>
            </a:pPr>
            <a:r>
              <a:rPr lang="en-US" sz="1200" b="1" dirty="0">
                <a:solidFill>
                  <a:srgbClr val="00539B"/>
                </a:solidFill>
                <a:latin typeface="Calibri" pitchFamily="34" charset="0"/>
                <a:ea typeface="Calibri" pitchFamily="34" charset="-122"/>
                <a:cs typeface="Calibri" pitchFamily="34" charset="-120"/>
              </a:rPr>
              <a:t>RCA-01  Overhead</a:t>
            </a:r>
            <a:endParaRPr lang="en-US" sz="1200" dirty="0"/>
          </a:p>
        </p:txBody>
      </p:sp>
      <p:sp>
        <p:nvSpPr>
          <p:cNvPr id="7" name="Text 5"/>
          <p:cNvSpPr/>
          <p:nvPr/>
        </p:nvSpPr>
        <p:spPr>
          <a:xfrm>
            <a:off x="768096" y="2084832"/>
            <a:ext cx="3118104" cy="182880"/>
          </a:xfrm>
          <a:prstGeom prst="rect">
            <a:avLst/>
          </a:prstGeom>
          <a:noFill/>
          <a:ln/>
        </p:spPr>
        <p:txBody>
          <a:bodyPr wrap="square" lIns="0" tIns="0" rIns="0" bIns="0" rtlCol="0" anchor="ctr"/>
          <a:lstStyle/>
          <a:p>
            <a:pPr indent="0" marL="0">
              <a:buNone/>
            </a:pPr>
            <a:r>
              <a:rPr lang="en-US" sz="850" b="1" spc="100" kern="0" dirty="0">
                <a:solidFill>
                  <a:srgbClr val="8FA0B4"/>
                </a:solidFill>
                <a:latin typeface="Calibri" pitchFamily="34" charset="0"/>
                <a:ea typeface="Calibri" pitchFamily="34" charset="-122"/>
                <a:cs typeface="Calibri" pitchFamily="34" charset="-120"/>
              </a:rPr>
              <a:t>PHYSICAL ROOT</a:t>
            </a:r>
            <a:endParaRPr lang="en-US" sz="850" dirty="0"/>
          </a:p>
        </p:txBody>
      </p:sp>
      <p:sp>
        <p:nvSpPr>
          <p:cNvPr id="8" name="Text 6"/>
          <p:cNvSpPr/>
          <p:nvPr/>
        </p:nvSpPr>
        <p:spPr>
          <a:xfrm>
            <a:off x="768096" y="2267712"/>
            <a:ext cx="3118104" cy="420624"/>
          </a:xfrm>
          <a:prstGeom prst="rect">
            <a:avLst/>
          </a:prstGeom>
          <a:noFill/>
          <a:ln/>
        </p:spPr>
        <p:txBody>
          <a:bodyPr wrap="square" lIns="0" tIns="0" rIns="0" bIns="0" rtlCol="0" anchor="t"/>
          <a:lstStyle/>
          <a:p>
            <a:pPr indent="0" marL="0">
              <a:lnSpc>
                <a:spcPts val="1400"/>
              </a:lnSpc>
              <a:buNone/>
            </a:pPr>
            <a:r>
              <a:rPr lang="en-US" sz="1150" dirty="0">
                <a:solidFill>
                  <a:srgbClr val="56677A"/>
                </a:solidFill>
                <a:latin typeface="Calibri" pitchFamily="34" charset="0"/>
                <a:ea typeface="Calibri" pitchFamily="34" charset="-122"/>
                <a:cs typeface="Calibri" pitchFamily="34" charset="-120"/>
              </a:rPr>
              <a:t>NH₄Cl under-deposit corrosion</a:t>
            </a:r>
            <a:endParaRPr lang="en-US" sz="1150" dirty="0"/>
          </a:p>
        </p:txBody>
      </p:sp>
      <p:sp>
        <p:nvSpPr>
          <p:cNvPr id="9" name="Text 7"/>
          <p:cNvSpPr/>
          <p:nvPr/>
        </p:nvSpPr>
        <p:spPr>
          <a:xfrm>
            <a:off x="768096" y="2743200"/>
            <a:ext cx="3118104" cy="182880"/>
          </a:xfrm>
          <a:prstGeom prst="rect">
            <a:avLst/>
          </a:prstGeom>
          <a:noFill/>
          <a:ln/>
        </p:spPr>
        <p:txBody>
          <a:bodyPr wrap="square" lIns="0" tIns="0" rIns="0" bIns="0" rtlCol="0" anchor="ctr"/>
          <a:lstStyle/>
          <a:p>
            <a:pPr indent="0" marL="0">
              <a:buNone/>
            </a:pPr>
            <a:r>
              <a:rPr lang="en-US" sz="850" b="1" spc="100" kern="0" dirty="0">
                <a:solidFill>
                  <a:srgbClr val="00539B"/>
                </a:solidFill>
                <a:latin typeface="Calibri" pitchFamily="34" charset="0"/>
                <a:ea typeface="Calibri" pitchFamily="34" charset="-122"/>
                <a:cs typeface="Calibri" pitchFamily="34" charset="-120"/>
              </a:rPr>
              <a:t>LATENT ROOT</a:t>
            </a:r>
            <a:endParaRPr lang="en-US" sz="850" dirty="0"/>
          </a:p>
        </p:txBody>
      </p:sp>
      <p:sp>
        <p:nvSpPr>
          <p:cNvPr id="10" name="Text 8"/>
          <p:cNvSpPr/>
          <p:nvPr/>
        </p:nvSpPr>
        <p:spPr>
          <a:xfrm>
            <a:off x="768096" y="2926080"/>
            <a:ext cx="3118104" cy="457200"/>
          </a:xfrm>
          <a:prstGeom prst="rect">
            <a:avLst/>
          </a:prstGeom>
          <a:noFill/>
          <a:ln/>
        </p:spPr>
        <p:txBody>
          <a:bodyPr wrap="square" lIns="0" tIns="0" rIns="0" bIns="0" rtlCol="0" anchor="t"/>
          <a:lstStyle/>
          <a:p>
            <a:pPr indent="0" marL="0">
              <a:lnSpc>
                <a:spcPts val="1500"/>
              </a:lnSpc>
              <a:buNone/>
            </a:pPr>
            <a:r>
              <a:rPr lang="en-US" sz="1200" b="1" dirty="0">
                <a:solidFill>
                  <a:srgbClr val="0A2540"/>
                </a:solidFill>
                <a:latin typeface="Calibri" pitchFamily="34" charset="0"/>
                <a:ea typeface="Calibri" pitchFamily="34" charset="-122"/>
                <a:cs typeface="Calibri" pitchFamily="34" charset="-120"/>
              </a:rPr>
              <a:t>Crude slate change without MOC</a:t>
            </a:r>
            <a:endParaRPr lang="en-US" sz="1200" dirty="0"/>
          </a:p>
        </p:txBody>
      </p:sp>
      <p:sp>
        <p:nvSpPr>
          <p:cNvPr id="11" name="Text 9"/>
          <p:cNvSpPr/>
          <p:nvPr/>
        </p:nvSpPr>
        <p:spPr>
          <a:xfrm>
            <a:off x="768096" y="3456432"/>
            <a:ext cx="3118104" cy="457200"/>
          </a:xfrm>
          <a:prstGeom prst="rect">
            <a:avLst/>
          </a:prstGeom>
          <a:noFill/>
          <a:ln/>
        </p:spPr>
        <p:txBody>
          <a:bodyPr wrap="square" lIns="0" tIns="0" rIns="0" bIns="0" rtlCol="0" anchor="t"/>
          <a:lstStyle/>
          <a:p>
            <a:pPr indent="0" marL="0">
              <a:lnSpc>
                <a:spcPts val="1400"/>
              </a:lnSpc>
              <a:buNone/>
            </a:pPr>
            <a:r>
              <a:rPr lang="en-US" sz="1100" i="1" dirty="0">
                <a:solidFill>
                  <a:srgbClr val="8494A6"/>
                </a:solidFill>
                <a:latin typeface="Calibri" pitchFamily="34" charset="0"/>
                <a:ea typeface="Calibri" pitchFamily="34" charset="-122"/>
                <a:cs typeface="Calibri" pitchFamily="34" charset="-120"/>
              </a:rPr>
              <a:t>“Inspecting the wrong location”</a:t>
            </a:r>
            <a:endParaRPr lang="en-US" sz="1100" dirty="0"/>
          </a:p>
        </p:txBody>
      </p:sp>
      <p:sp>
        <p:nvSpPr>
          <p:cNvPr id="12" name="Shape 10"/>
          <p:cNvSpPr/>
          <p:nvPr/>
        </p:nvSpPr>
        <p:spPr>
          <a:xfrm>
            <a:off x="4334256" y="1645920"/>
            <a:ext cx="3520440" cy="2432304"/>
          </a:xfrm>
          <a:prstGeom prst="roundRect">
            <a:avLst>
              <a:gd name="adj" fmla="val 1880"/>
            </a:avLst>
          </a:prstGeom>
          <a:solidFill>
            <a:srgbClr val="F1F4F8"/>
          </a:solidFill>
          <a:ln w="9525">
            <a:solidFill>
              <a:srgbClr val="CFD8E3"/>
            </a:solidFill>
            <a:prstDash val="solid"/>
          </a:ln>
        </p:spPr>
      </p:sp>
      <p:sp>
        <p:nvSpPr>
          <p:cNvPr id="13" name="Text 11"/>
          <p:cNvSpPr/>
          <p:nvPr/>
        </p:nvSpPr>
        <p:spPr>
          <a:xfrm>
            <a:off x="4535424" y="1755648"/>
            <a:ext cx="3118104" cy="274320"/>
          </a:xfrm>
          <a:prstGeom prst="rect">
            <a:avLst/>
          </a:prstGeom>
          <a:noFill/>
          <a:ln/>
        </p:spPr>
        <p:txBody>
          <a:bodyPr wrap="square" lIns="0" tIns="0" rIns="0" bIns="0" rtlCol="0" anchor="ctr"/>
          <a:lstStyle/>
          <a:p>
            <a:pPr indent="0" marL="0">
              <a:buNone/>
            </a:pPr>
            <a:r>
              <a:rPr lang="en-US" sz="1200" b="1" dirty="0">
                <a:solidFill>
                  <a:srgbClr val="C87F16"/>
                </a:solidFill>
                <a:latin typeface="Calibri" pitchFamily="34" charset="0"/>
                <a:ea typeface="Calibri" pitchFamily="34" charset="-122"/>
                <a:cs typeface="Calibri" pitchFamily="34" charset="-120"/>
              </a:rPr>
              <a:t>RCA-02  Pump seal</a:t>
            </a:r>
            <a:endParaRPr lang="en-US" sz="1200" dirty="0"/>
          </a:p>
        </p:txBody>
      </p:sp>
      <p:sp>
        <p:nvSpPr>
          <p:cNvPr id="14" name="Text 12"/>
          <p:cNvSpPr/>
          <p:nvPr/>
        </p:nvSpPr>
        <p:spPr>
          <a:xfrm>
            <a:off x="4535424" y="2084832"/>
            <a:ext cx="3118104" cy="182880"/>
          </a:xfrm>
          <a:prstGeom prst="rect">
            <a:avLst/>
          </a:prstGeom>
          <a:noFill/>
          <a:ln/>
        </p:spPr>
        <p:txBody>
          <a:bodyPr wrap="square" lIns="0" tIns="0" rIns="0" bIns="0" rtlCol="0" anchor="ctr"/>
          <a:lstStyle/>
          <a:p>
            <a:pPr indent="0" marL="0">
              <a:buNone/>
            </a:pPr>
            <a:r>
              <a:rPr lang="en-US" sz="850" b="1" spc="100" kern="0" dirty="0">
                <a:solidFill>
                  <a:srgbClr val="8FA0B4"/>
                </a:solidFill>
                <a:latin typeface="Calibri" pitchFamily="34" charset="0"/>
                <a:ea typeface="Calibri" pitchFamily="34" charset="-122"/>
                <a:cs typeface="Calibri" pitchFamily="34" charset="-120"/>
              </a:rPr>
              <a:t>PHYSICAL ROOT</a:t>
            </a:r>
            <a:endParaRPr lang="en-US" sz="850" dirty="0"/>
          </a:p>
        </p:txBody>
      </p:sp>
      <p:sp>
        <p:nvSpPr>
          <p:cNvPr id="15" name="Text 13"/>
          <p:cNvSpPr/>
          <p:nvPr/>
        </p:nvSpPr>
        <p:spPr>
          <a:xfrm>
            <a:off x="4535424" y="2267712"/>
            <a:ext cx="3118104" cy="420624"/>
          </a:xfrm>
          <a:prstGeom prst="rect">
            <a:avLst/>
          </a:prstGeom>
          <a:noFill/>
          <a:ln/>
        </p:spPr>
        <p:txBody>
          <a:bodyPr wrap="square" lIns="0" tIns="0" rIns="0" bIns="0" rtlCol="0" anchor="t"/>
          <a:lstStyle/>
          <a:p>
            <a:pPr indent="0" marL="0">
              <a:lnSpc>
                <a:spcPts val="1400"/>
              </a:lnSpc>
              <a:buNone/>
            </a:pPr>
            <a:r>
              <a:rPr lang="en-US" sz="1150" dirty="0">
                <a:solidFill>
                  <a:srgbClr val="56677A"/>
                </a:solidFill>
                <a:latin typeface="Calibri" pitchFamily="34" charset="0"/>
                <a:ea typeface="Calibri" pitchFamily="34" charset="-122"/>
                <a:cs typeface="Calibri" pitchFamily="34" charset="-120"/>
              </a:rPr>
              <a:t>Dry-running seal faces</a:t>
            </a:r>
            <a:endParaRPr lang="en-US" sz="1150" dirty="0"/>
          </a:p>
        </p:txBody>
      </p:sp>
      <p:sp>
        <p:nvSpPr>
          <p:cNvPr id="16" name="Text 14"/>
          <p:cNvSpPr/>
          <p:nvPr/>
        </p:nvSpPr>
        <p:spPr>
          <a:xfrm>
            <a:off x="4535424" y="2743200"/>
            <a:ext cx="3118104" cy="182880"/>
          </a:xfrm>
          <a:prstGeom prst="rect">
            <a:avLst/>
          </a:prstGeom>
          <a:noFill/>
          <a:ln/>
        </p:spPr>
        <p:txBody>
          <a:bodyPr wrap="square" lIns="0" tIns="0" rIns="0" bIns="0" rtlCol="0" anchor="ctr"/>
          <a:lstStyle/>
          <a:p>
            <a:pPr indent="0" marL="0">
              <a:buNone/>
            </a:pPr>
            <a:r>
              <a:rPr lang="en-US" sz="850" b="1" spc="100" kern="0" dirty="0">
                <a:solidFill>
                  <a:srgbClr val="C87F16"/>
                </a:solidFill>
                <a:latin typeface="Calibri" pitchFamily="34" charset="0"/>
                <a:ea typeface="Calibri" pitchFamily="34" charset="-122"/>
                <a:cs typeface="Calibri" pitchFamily="34" charset="-120"/>
              </a:rPr>
              <a:t>LATENT ROOT</a:t>
            </a:r>
            <a:endParaRPr lang="en-US" sz="850" dirty="0"/>
          </a:p>
        </p:txBody>
      </p:sp>
      <p:sp>
        <p:nvSpPr>
          <p:cNvPr id="17" name="Text 15"/>
          <p:cNvSpPr/>
          <p:nvPr/>
        </p:nvSpPr>
        <p:spPr>
          <a:xfrm>
            <a:off x="4535424" y="2926080"/>
            <a:ext cx="3118104" cy="457200"/>
          </a:xfrm>
          <a:prstGeom prst="rect">
            <a:avLst/>
          </a:prstGeom>
          <a:noFill/>
          <a:ln/>
        </p:spPr>
        <p:txBody>
          <a:bodyPr wrap="square" lIns="0" tIns="0" rIns="0" bIns="0" rtlCol="0" anchor="t"/>
          <a:lstStyle/>
          <a:p>
            <a:pPr indent="0" marL="0">
              <a:lnSpc>
                <a:spcPts val="1500"/>
              </a:lnSpc>
              <a:buNone/>
            </a:pPr>
            <a:r>
              <a:rPr lang="en-US" sz="1200" b="1" dirty="0">
                <a:solidFill>
                  <a:srgbClr val="0A2540"/>
                </a:solidFill>
                <a:latin typeface="Calibri" pitchFamily="34" charset="0"/>
                <a:ea typeface="Calibri" pitchFamily="34" charset="-122"/>
                <a:cs typeface="Calibri" pitchFamily="34" charset="-120"/>
              </a:rPr>
              <a:t>No bad-actor threshold</a:t>
            </a:r>
            <a:endParaRPr lang="en-US" sz="1200" dirty="0"/>
          </a:p>
        </p:txBody>
      </p:sp>
      <p:sp>
        <p:nvSpPr>
          <p:cNvPr id="18" name="Text 16"/>
          <p:cNvSpPr/>
          <p:nvPr/>
        </p:nvSpPr>
        <p:spPr>
          <a:xfrm>
            <a:off x="4535424" y="3456432"/>
            <a:ext cx="3118104" cy="457200"/>
          </a:xfrm>
          <a:prstGeom prst="rect">
            <a:avLst/>
          </a:prstGeom>
          <a:noFill/>
          <a:ln/>
        </p:spPr>
        <p:txBody>
          <a:bodyPr wrap="square" lIns="0" tIns="0" rIns="0" bIns="0" rtlCol="0" anchor="t"/>
          <a:lstStyle/>
          <a:p>
            <a:pPr indent="0" marL="0">
              <a:lnSpc>
                <a:spcPts val="1400"/>
              </a:lnSpc>
              <a:buNone/>
            </a:pPr>
            <a:r>
              <a:rPr lang="en-US" sz="1100" i="1" dirty="0">
                <a:solidFill>
                  <a:srgbClr val="8494A6"/>
                </a:solidFill>
                <a:latin typeface="Calibri" pitchFamily="34" charset="0"/>
                <a:ea typeface="Calibri" pitchFamily="34" charset="-122"/>
                <a:cs typeface="Calibri" pitchFamily="34" charset="-120"/>
              </a:rPr>
              <a:t>“Fixing without asking why”</a:t>
            </a:r>
            <a:endParaRPr lang="en-US" sz="1100" dirty="0"/>
          </a:p>
        </p:txBody>
      </p:sp>
      <p:sp>
        <p:nvSpPr>
          <p:cNvPr id="19" name="Shape 17"/>
          <p:cNvSpPr/>
          <p:nvPr/>
        </p:nvSpPr>
        <p:spPr>
          <a:xfrm>
            <a:off x="8101584" y="1645920"/>
            <a:ext cx="3520440" cy="2432304"/>
          </a:xfrm>
          <a:prstGeom prst="roundRect">
            <a:avLst>
              <a:gd name="adj" fmla="val 1880"/>
            </a:avLst>
          </a:prstGeom>
          <a:solidFill>
            <a:srgbClr val="F1F4F8"/>
          </a:solidFill>
          <a:ln w="9525">
            <a:solidFill>
              <a:srgbClr val="CFD8E3"/>
            </a:solidFill>
            <a:prstDash val="solid"/>
          </a:ln>
        </p:spPr>
      </p:sp>
      <p:sp>
        <p:nvSpPr>
          <p:cNvPr id="20" name="Text 18"/>
          <p:cNvSpPr/>
          <p:nvPr/>
        </p:nvSpPr>
        <p:spPr>
          <a:xfrm>
            <a:off x="8302752" y="1755648"/>
            <a:ext cx="3118104" cy="274320"/>
          </a:xfrm>
          <a:prstGeom prst="rect">
            <a:avLst/>
          </a:prstGeom>
          <a:noFill/>
          <a:ln/>
        </p:spPr>
        <p:txBody>
          <a:bodyPr wrap="square" lIns="0" tIns="0" rIns="0" bIns="0" rtlCol="0" anchor="ctr"/>
          <a:lstStyle/>
          <a:p>
            <a:pPr indent="0" marL="0">
              <a:buNone/>
            </a:pPr>
            <a:r>
              <a:rPr lang="en-US" sz="1200" b="1" dirty="0">
                <a:solidFill>
                  <a:srgbClr val="C8102E"/>
                </a:solidFill>
                <a:latin typeface="Calibri" pitchFamily="34" charset="0"/>
                <a:ea typeface="Calibri" pitchFamily="34" charset="-122"/>
                <a:cs typeface="Calibri" pitchFamily="34" charset="-120"/>
              </a:rPr>
              <a:t>RCA-03  Heater tube</a:t>
            </a:r>
            <a:endParaRPr lang="en-US" sz="1200" dirty="0"/>
          </a:p>
        </p:txBody>
      </p:sp>
      <p:sp>
        <p:nvSpPr>
          <p:cNvPr id="21" name="Text 19"/>
          <p:cNvSpPr/>
          <p:nvPr/>
        </p:nvSpPr>
        <p:spPr>
          <a:xfrm>
            <a:off x="8302752" y="2084832"/>
            <a:ext cx="3118104" cy="182880"/>
          </a:xfrm>
          <a:prstGeom prst="rect">
            <a:avLst/>
          </a:prstGeom>
          <a:noFill/>
          <a:ln/>
        </p:spPr>
        <p:txBody>
          <a:bodyPr wrap="square" lIns="0" tIns="0" rIns="0" bIns="0" rtlCol="0" anchor="ctr"/>
          <a:lstStyle/>
          <a:p>
            <a:pPr indent="0" marL="0">
              <a:buNone/>
            </a:pPr>
            <a:r>
              <a:rPr lang="en-US" sz="850" b="1" spc="100" kern="0" dirty="0">
                <a:solidFill>
                  <a:srgbClr val="8FA0B4"/>
                </a:solidFill>
                <a:latin typeface="Calibri" pitchFamily="34" charset="0"/>
                <a:ea typeface="Calibri" pitchFamily="34" charset="-122"/>
                <a:cs typeface="Calibri" pitchFamily="34" charset="-120"/>
              </a:rPr>
              <a:t>PHYSICAL ROOT</a:t>
            </a:r>
            <a:endParaRPr lang="en-US" sz="850" dirty="0"/>
          </a:p>
        </p:txBody>
      </p:sp>
      <p:sp>
        <p:nvSpPr>
          <p:cNvPr id="22" name="Text 20"/>
          <p:cNvSpPr/>
          <p:nvPr/>
        </p:nvSpPr>
        <p:spPr>
          <a:xfrm>
            <a:off x="8302752" y="2267712"/>
            <a:ext cx="3118104" cy="420624"/>
          </a:xfrm>
          <a:prstGeom prst="rect">
            <a:avLst/>
          </a:prstGeom>
          <a:noFill/>
          <a:ln/>
        </p:spPr>
        <p:txBody>
          <a:bodyPr wrap="square" lIns="0" tIns="0" rIns="0" bIns="0" rtlCol="0" anchor="t"/>
          <a:lstStyle/>
          <a:p>
            <a:pPr indent="0" marL="0">
              <a:lnSpc>
                <a:spcPts val="1400"/>
              </a:lnSpc>
              <a:buNone/>
            </a:pPr>
            <a:r>
              <a:rPr lang="en-US" sz="1150" dirty="0">
                <a:solidFill>
                  <a:srgbClr val="56677A"/>
                </a:solidFill>
                <a:latin typeface="Calibri" pitchFamily="34" charset="0"/>
                <a:ea typeface="Calibri" pitchFamily="34" charset="-122"/>
                <a:cs typeface="Calibri" pitchFamily="34" charset="-120"/>
              </a:rPr>
              <a:t>Creep from localised overheating</a:t>
            </a:r>
            <a:endParaRPr lang="en-US" sz="1150" dirty="0"/>
          </a:p>
        </p:txBody>
      </p:sp>
      <p:sp>
        <p:nvSpPr>
          <p:cNvPr id="23" name="Text 21"/>
          <p:cNvSpPr/>
          <p:nvPr/>
        </p:nvSpPr>
        <p:spPr>
          <a:xfrm>
            <a:off x="8302752" y="2743200"/>
            <a:ext cx="3118104" cy="182880"/>
          </a:xfrm>
          <a:prstGeom prst="rect">
            <a:avLst/>
          </a:prstGeom>
          <a:noFill/>
          <a:ln/>
        </p:spPr>
        <p:txBody>
          <a:bodyPr wrap="square" lIns="0" tIns="0" rIns="0" bIns="0" rtlCol="0" anchor="ctr"/>
          <a:lstStyle/>
          <a:p>
            <a:pPr indent="0" marL="0">
              <a:buNone/>
            </a:pPr>
            <a:r>
              <a:rPr lang="en-US" sz="850" b="1" spc="100" kern="0" dirty="0">
                <a:solidFill>
                  <a:srgbClr val="C8102E"/>
                </a:solidFill>
                <a:latin typeface="Calibri" pitchFamily="34" charset="0"/>
                <a:ea typeface="Calibri" pitchFamily="34" charset="-122"/>
                <a:cs typeface="Calibri" pitchFamily="34" charset="-120"/>
              </a:rPr>
              <a:t>LATENT ROOT</a:t>
            </a:r>
            <a:endParaRPr lang="en-US" sz="850" dirty="0"/>
          </a:p>
        </p:txBody>
      </p:sp>
      <p:sp>
        <p:nvSpPr>
          <p:cNvPr id="24" name="Text 22"/>
          <p:cNvSpPr/>
          <p:nvPr/>
        </p:nvSpPr>
        <p:spPr>
          <a:xfrm>
            <a:off x="8302752" y="2926080"/>
            <a:ext cx="3118104" cy="457200"/>
          </a:xfrm>
          <a:prstGeom prst="rect">
            <a:avLst/>
          </a:prstGeom>
          <a:noFill/>
          <a:ln/>
        </p:spPr>
        <p:txBody>
          <a:bodyPr wrap="square" lIns="0" tIns="0" rIns="0" bIns="0" rtlCol="0" anchor="t"/>
          <a:lstStyle/>
          <a:p>
            <a:pPr indent="0" marL="0">
              <a:lnSpc>
                <a:spcPts val="1500"/>
              </a:lnSpc>
              <a:buNone/>
            </a:pPr>
            <a:r>
              <a:rPr lang="en-US" sz="1200" b="1" dirty="0">
                <a:solidFill>
                  <a:srgbClr val="0A2540"/>
                </a:solidFill>
                <a:latin typeface="Calibri" pitchFamily="34" charset="0"/>
                <a:ea typeface="Calibri" pitchFamily="34" charset="-122"/>
                <a:cs typeface="Calibri" pitchFamily="34" charset="-120"/>
              </a:rPr>
              <a:t>Inhibit with no expiry</a:t>
            </a:r>
            <a:endParaRPr lang="en-US" sz="1200" dirty="0"/>
          </a:p>
        </p:txBody>
      </p:sp>
      <p:sp>
        <p:nvSpPr>
          <p:cNvPr id="25" name="Text 23"/>
          <p:cNvSpPr/>
          <p:nvPr/>
        </p:nvSpPr>
        <p:spPr>
          <a:xfrm>
            <a:off x="8302752" y="3456432"/>
            <a:ext cx="3118104" cy="457200"/>
          </a:xfrm>
          <a:prstGeom prst="rect">
            <a:avLst/>
          </a:prstGeom>
          <a:noFill/>
          <a:ln/>
        </p:spPr>
        <p:txBody>
          <a:bodyPr wrap="square" lIns="0" tIns="0" rIns="0" bIns="0" rtlCol="0" anchor="t"/>
          <a:lstStyle/>
          <a:p>
            <a:pPr indent="0" marL="0">
              <a:lnSpc>
                <a:spcPts val="1400"/>
              </a:lnSpc>
              <a:buNone/>
            </a:pPr>
            <a:r>
              <a:rPr lang="en-US" sz="1100" i="1" dirty="0">
                <a:solidFill>
                  <a:srgbClr val="8494A6"/>
                </a:solidFill>
                <a:latin typeface="Calibri" pitchFamily="34" charset="0"/>
                <a:ea typeface="Calibri" pitchFamily="34" charset="-122"/>
                <a:cs typeface="Calibri" pitchFamily="34" charset="-120"/>
              </a:rPr>
              <a:t>“A measurement switched off”</a:t>
            </a:r>
            <a:endParaRPr lang="en-US" sz="1100" dirty="0"/>
          </a:p>
        </p:txBody>
      </p:sp>
      <p:sp>
        <p:nvSpPr>
          <p:cNvPr id="26" name="Shape 24"/>
          <p:cNvSpPr/>
          <p:nvPr/>
        </p:nvSpPr>
        <p:spPr>
          <a:xfrm>
            <a:off x="566928" y="4242816"/>
            <a:ext cx="11055096" cy="1261872"/>
          </a:xfrm>
          <a:prstGeom prst="roundRect">
            <a:avLst>
              <a:gd name="adj" fmla="val 3623"/>
            </a:avLst>
          </a:prstGeom>
          <a:solidFill>
            <a:srgbClr val="0A2540"/>
          </a:solidFill>
          <a:ln/>
        </p:spPr>
      </p:sp>
      <p:sp>
        <p:nvSpPr>
          <p:cNvPr id="27" name="Text 25"/>
          <p:cNvSpPr/>
          <p:nvPr/>
        </p:nvSpPr>
        <p:spPr>
          <a:xfrm>
            <a:off x="877824" y="4242816"/>
            <a:ext cx="10433304" cy="1261872"/>
          </a:xfrm>
          <a:prstGeom prst="rect">
            <a:avLst/>
          </a:prstGeom>
          <a:noFill/>
          <a:ln/>
        </p:spPr>
        <p:txBody>
          <a:bodyPr wrap="square" lIns="0" tIns="0" rIns="0" bIns="0" rtlCol="0" anchor="ctr"/>
          <a:lstStyle/>
          <a:p>
            <a:pPr indent="0" marL="0">
              <a:lnSpc>
                <a:spcPts val="2200"/>
              </a:lnSpc>
              <a:buNone/>
            </a:pPr>
            <a:r>
              <a:rPr lang="en-US" sz="1500" b="1" dirty="0">
                <a:solidFill>
                  <a:srgbClr val="FFFFFF"/>
                </a:solidFill>
                <a:latin typeface="Calibri" pitchFamily="34" charset="0"/>
                <a:ea typeface="Calibri" pitchFamily="34" charset="-122"/>
                <a:cs typeface="Calibri" pitchFamily="34" charset="-120"/>
              </a:rPr>
              <a:t>The finding.  </a:t>
            </a:r>
            <a:pPr indent="0" marL="0">
              <a:lnSpc>
                <a:spcPts val="2200"/>
              </a:lnSpc>
              <a:buNone/>
            </a:pPr>
            <a:r>
              <a:rPr lang="en-US" sz="1400" dirty="0">
                <a:solidFill>
                  <a:srgbClr val="C6D6E6"/>
                </a:solidFill>
                <a:latin typeface="Calibri" pitchFamily="34" charset="0"/>
                <a:ea typeface="Calibri" pitchFamily="34" charset="-122"/>
                <a:cs typeface="Calibri" pitchFamily="34" charset="-120"/>
              </a:rPr>
              <a:t>Each was caused by a system that permitted a reasonable local decision to remove a barrier permanently, and had no route by which anyone would notice. Fixing three pieces of equipment does not fix that. Everything that follows exists to close it.</a:t>
            </a:r>
            <a:endParaRPr lang="en-US" sz="1500" dirty="0"/>
          </a:p>
        </p:txBody>
      </p:sp>
      <p:sp>
        <p:nvSpPr>
          <p:cNvPr id="28" name="Shape 26"/>
          <p:cNvSpPr/>
          <p:nvPr/>
        </p:nvSpPr>
        <p:spPr>
          <a:xfrm>
            <a:off x="566928" y="6053328"/>
            <a:ext cx="11055096" cy="475488"/>
          </a:xfrm>
          <a:prstGeom prst="roundRect">
            <a:avLst>
              <a:gd name="adj" fmla="val 11538"/>
            </a:avLst>
          </a:prstGeom>
          <a:solidFill>
            <a:srgbClr val="F1F4F8"/>
          </a:solidFill>
          <a:ln w="9525">
            <a:solidFill>
              <a:srgbClr val="CFD8E3"/>
            </a:solidFill>
            <a:prstDash val="solid"/>
          </a:ln>
        </p:spPr>
      </p:sp>
      <p:sp>
        <p:nvSpPr>
          <p:cNvPr id="29" name="Text 27"/>
          <p:cNvSpPr/>
          <p:nvPr/>
        </p:nvSpPr>
        <p:spPr>
          <a:xfrm>
            <a:off x="713232" y="6053328"/>
            <a:ext cx="5234940"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Hierarchy of controls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Every corrective action ranked — eliminate and substitute before administrative</a:t>
            </a:r>
            <a:endParaRPr lang="en-US" sz="950" dirty="0"/>
          </a:p>
        </p:txBody>
      </p:sp>
      <p:sp>
        <p:nvSpPr>
          <p:cNvPr id="30" name="Text 28"/>
          <p:cNvSpPr/>
          <p:nvPr/>
        </p:nvSpPr>
        <p:spPr>
          <a:xfrm>
            <a:off x="6240780" y="6053328"/>
            <a:ext cx="5234940"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PPE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Appears in none of the three action tables. No respirator prevents a condenser from corroding.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66928" y="1371600"/>
            <a:ext cx="2926080" cy="2377440"/>
          </a:xfrm>
          <a:prstGeom prst="rect">
            <a:avLst/>
          </a:prstGeom>
          <a:noFill/>
          <a:ln/>
        </p:spPr>
        <p:txBody>
          <a:bodyPr wrap="square" lIns="0" tIns="0" rIns="0" bIns="0" rtlCol="0" anchor="ctr"/>
          <a:lstStyle/>
          <a:p>
            <a:pPr indent="0" marL="0">
              <a:buNone/>
            </a:pPr>
            <a:r>
              <a:rPr lang="en-US" sz="15000" b="1" dirty="0">
                <a:solidFill>
                  <a:srgbClr val="12395F"/>
                </a:solidFill>
                <a:latin typeface="Cambria" pitchFamily="34" charset="0"/>
                <a:ea typeface="Cambria" pitchFamily="34" charset="-122"/>
                <a:cs typeface="Cambria" pitchFamily="34" charset="-120"/>
              </a:rPr>
              <a:t>02</a:t>
            </a:r>
            <a:endParaRPr lang="en-US" sz="15000" dirty="0"/>
          </a:p>
        </p:txBody>
      </p:sp>
      <p:sp>
        <p:nvSpPr>
          <p:cNvPr id="3" name="Text 1"/>
          <p:cNvSpPr/>
          <p:nvPr/>
        </p:nvSpPr>
        <p:spPr>
          <a:xfrm>
            <a:off x="3584448" y="2148840"/>
            <a:ext cx="8037576" cy="274320"/>
          </a:xfrm>
          <a:prstGeom prst="rect">
            <a:avLst/>
          </a:prstGeom>
          <a:noFill/>
          <a:ln/>
        </p:spPr>
        <p:txBody>
          <a:bodyPr wrap="square" lIns="0" tIns="0" rIns="0" bIns="0" rtlCol="0" anchor="ctr"/>
          <a:lstStyle/>
          <a:p>
            <a:pPr indent="0" marL="0">
              <a:buNone/>
            </a:pPr>
            <a:r>
              <a:rPr lang="en-US" sz="1200" b="1" spc="200" kern="0" dirty="0">
                <a:solidFill>
                  <a:srgbClr val="7FA8CE"/>
                </a:solidFill>
                <a:latin typeface="Calibri" pitchFamily="34" charset="0"/>
                <a:ea typeface="Calibri" pitchFamily="34" charset="-122"/>
                <a:cs typeface="Calibri" pitchFamily="34" charset="-120"/>
              </a:rPr>
              <a:t>THE FORWARD LOOK</a:t>
            </a:r>
            <a:endParaRPr lang="en-US" sz="1200" dirty="0"/>
          </a:p>
        </p:txBody>
      </p:sp>
      <p:sp>
        <p:nvSpPr>
          <p:cNvPr id="4" name="Text 2"/>
          <p:cNvSpPr/>
          <p:nvPr/>
        </p:nvSpPr>
        <p:spPr>
          <a:xfrm>
            <a:off x="3584448" y="2414016"/>
            <a:ext cx="8037576" cy="1042416"/>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What could still fail</a:t>
            </a:r>
            <a:endParaRPr lang="en-US" sz="3600" dirty="0"/>
          </a:p>
        </p:txBody>
      </p:sp>
      <p:sp>
        <p:nvSpPr>
          <p:cNvPr id="5" name="Text 3"/>
          <p:cNvSpPr/>
          <p:nvPr/>
        </p:nvSpPr>
        <p:spPr>
          <a:xfrm>
            <a:off x="3584448" y="3566160"/>
            <a:ext cx="7580376" cy="868680"/>
          </a:xfrm>
          <a:prstGeom prst="rect">
            <a:avLst/>
          </a:prstGeom>
          <a:noFill/>
          <a:ln/>
        </p:spPr>
        <p:txBody>
          <a:bodyPr wrap="square" lIns="0" tIns="0" rIns="0" bIns="0" rtlCol="0" anchor="t"/>
          <a:lstStyle/>
          <a:p>
            <a:pPr indent="0" marL="0">
              <a:lnSpc>
                <a:spcPts val="2100"/>
              </a:lnSpc>
              <a:buNone/>
            </a:pPr>
            <a:r>
              <a:rPr lang="en-US" sz="1400" dirty="0">
                <a:solidFill>
                  <a:srgbClr val="B9CBDD"/>
                </a:solidFill>
                <a:latin typeface="Calibri" pitchFamily="34" charset="0"/>
                <a:ea typeface="Calibri" pitchFamily="34" charset="-122"/>
                <a:cs typeface="Calibri" pitchFamily="34" charset="-120"/>
              </a:rPr>
              <a:t>Three of the five entries are the equipment that just failed. The RCA findings have to land somewhere, on somebody, on a date.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DELIVERABLE 2  ·  REGISTER RR-CDU-2026-02</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Three of these five are the equipment you just watched fail.</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Scored twice — once with no credit for controls, once after them. The gap between the two is what the control spend buys.</a:t>
            </a:r>
            <a:endParaRPr lang="en-US" sz="1200" dirty="0"/>
          </a:p>
        </p:txBody>
      </p:sp>
      <p:sp>
        <p:nvSpPr>
          <p:cNvPr id="5" name="Shape 3"/>
          <p:cNvSpPr/>
          <p:nvPr/>
        </p:nvSpPr>
        <p:spPr>
          <a:xfrm>
            <a:off x="566928" y="1645920"/>
            <a:ext cx="11055096" cy="749808"/>
          </a:xfrm>
          <a:prstGeom prst="roundRect">
            <a:avLst>
              <a:gd name="adj" fmla="val 6098"/>
            </a:avLst>
          </a:prstGeom>
          <a:solidFill>
            <a:srgbClr val="F1F4F8"/>
          </a:solidFill>
          <a:ln w="9525">
            <a:solidFill>
              <a:srgbClr val="CFD8E3"/>
            </a:solidFill>
            <a:prstDash val="solid"/>
          </a:ln>
        </p:spPr>
      </p:sp>
      <p:sp>
        <p:nvSpPr>
          <p:cNvPr id="6" name="Text 4"/>
          <p:cNvSpPr/>
          <p:nvPr/>
        </p:nvSpPr>
        <p:spPr>
          <a:xfrm>
            <a:off x="749808" y="1719072"/>
            <a:ext cx="822960" cy="274320"/>
          </a:xfrm>
          <a:prstGeom prst="rect">
            <a:avLst/>
          </a:prstGeom>
          <a:noFill/>
          <a:ln/>
        </p:spPr>
        <p:txBody>
          <a:bodyPr wrap="square" lIns="0" tIns="0" rIns="0" bIns="0" rtlCol="0" anchor="ctr"/>
          <a:lstStyle/>
          <a:p>
            <a:pPr indent="0" marL="0">
              <a:buNone/>
            </a:pPr>
            <a:r>
              <a:rPr lang="en-US" sz="1150" b="1" dirty="0">
                <a:solidFill>
                  <a:srgbClr val="00539B"/>
                </a:solidFill>
                <a:latin typeface="Calibri" pitchFamily="34" charset="0"/>
                <a:ea typeface="Calibri" pitchFamily="34" charset="-122"/>
                <a:cs typeface="Calibri" pitchFamily="34" charset="-120"/>
              </a:rPr>
              <a:t>RR-01</a:t>
            </a:r>
            <a:endParaRPr lang="en-US" sz="1150" dirty="0"/>
          </a:p>
        </p:txBody>
      </p:sp>
      <p:sp>
        <p:nvSpPr>
          <p:cNvPr id="7" name="Text 5"/>
          <p:cNvSpPr/>
          <p:nvPr/>
        </p:nvSpPr>
        <p:spPr>
          <a:xfrm>
            <a:off x="749808" y="2011680"/>
            <a:ext cx="868680" cy="237744"/>
          </a:xfrm>
          <a:prstGeom prst="rect">
            <a:avLst/>
          </a:prstGeom>
          <a:noFill/>
          <a:ln/>
        </p:spPr>
        <p:txBody>
          <a:bodyPr wrap="square" lIns="0" tIns="0" rIns="0" bIns="0" rtlCol="0" anchor="ctr"/>
          <a:lstStyle/>
          <a:p>
            <a:pPr indent="0" marL="0">
              <a:buNone/>
            </a:pPr>
            <a:r>
              <a:rPr lang="en-US" sz="850" i="1" dirty="0">
                <a:solidFill>
                  <a:srgbClr val="C8102E"/>
                </a:solidFill>
                <a:latin typeface="Calibri" pitchFamily="34" charset="0"/>
                <a:ea typeface="Calibri" pitchFamily="34" charset="-122"/>
                <a:cs typeface="Calibri" pitchFamily="34" charset="-120"/>
              </a:rPr>
              <a:t>failed</a:t>
            </a:r>
            <a:endParaRPr lang="en-US" sz="850" dirty="0"/>
          </a:p>
        </p:txBody>
      </p:sp>
      <p:sp>
        <p:nvSpPr>
          <p:cNvPr id="8" name="Text 6"/>
          <p:cNvSpPr/>
          <p:nvPr/>
        </p:nvSpPr>
        <p:spPr>
          <a:xfrm>
            <a:off x="1682496" y="1719072"/>
            <a:ext cx="4434840" cy="27432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E-1103A overhead condenser</a:t>
            </a:r>
            <a:endParaRPr lang="en-US" sz="1150" dirty="0"/>
          </a:p>
        </p:txBody>
      </p:sp>
      <p:sp>
        <p:nvSpPr>
          <p:cNvPr id="9" name="Text 7"/>
          <p:cNvSpPr/>
          <p:nvPr/>
        </p:nvSpPr>
        <p:spPr>
          <a:xfrm>
            <a:off x="1682496" y="1993392"/>
            <a:ext cx="4434840" cy="329184"/>
          </a:xfrm>
          <a:prstGeom prst="rect">
            <a:avLst/>
          </a:prstGeom>
          <a:noFill/>
          <a:ln/>
        </p:spPr>
        <p:txBody>
          <a:bodyPr wrap="square" lIns="0" tIns="0" rIns="0" bIns="0" rtlCol="0" anchor="t"/>
          <a:lstStyle/>
          <a:p>
            <a:pPr indent="0" marL="0">
              <a:lnSpc>
                <a:spcPts val="1200"/>
              </a:lnSpc>
              <a:buNone/>
            </a:pPr>
            <a:r>
              <a:rPr lang="en-US" sz="950" dirty="0">
                <a:solidFill>
                  <a:srgbClr val="56677A"/>
                </a:solidFill>
                <a:latin typeface="Calibri" pitchFamily="34" charset="0"/>
                <a:ea typeface="Calibri" pitchFamily="34" charset="-122"/>
                <a:cs typeface="Calibri" pitchFamily="34" charset="-120"/>
              </a:rPr>
              <a:t>Under-deposit corrosion perforates tubes — sour hydrocarbon and H₂S at grade</a:t>
            </a:r>
            <a:endParaRPr lang="en-US" sz="950" dirty="0"/>
          </a:p>
        </p:txBody>
      </p:sp>
      <p:sp>
        <p:nvSpPr>
          <p:cNvPr id="10" name="Shape 8"/>
          <p:cNvSpPr/>
          <p:nvPr/>
        </p:nvSpPr>
        <p:spPr>
          <a:xfrm>
            <a:off x="6272784" y="1801368"/>
            <a:ext cx="969264" cy="438912"/>
          </a:xfrm>
          <a:prstGeom prst="roundRect">
            <a:avLst>
              <a:gd name="adj" fmla="val 10417"/>
            </a:avLst>
          </a:prstGeom>
          <a:solidFill>
            <a:srgbClr val="C8102E"/>
          </a:solidFill>
          <a:ln/>
        </p:spPr>
      </p:sp>
      <p:sp>
        <p:nvSpPr>
          <p:cNvPr id="11" name="Text 9"/>
          <p:cNvSpPr/>
          <p:nvPr/>
        </p:nvSpPr>
        <p:spPr>
          <a:xfrm>
            <a:off x="6272784" y="1810512"/>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12" name="Text 10"/>
          <p:cNvSpPr/>
          <p:nvPr/>
        </p:nvSpPr>
        <p:spPr>
          <a:xfrm>
            <a:off x="6272784" y="2048256"/>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CRITICAL</a:t>
            </a:r>
            <a:endParaRPr lang="en-US" sz="650" dirty="0"/>
          </a:p>
        </p:txBody>
      </p:sp>
      <p:sp>
        <p:nvSpPr>
          <p:cNvPr id="13" name="Shape 11"/>
          <p:cNvSpPr/>
          <p:nvPr/>
        </p:nvSpPr>
        <p:spPr>
          <a:xfrm>
            <a:off x="7370064" y="1947672"/>
            <a:ext cx="256032" cy="146304"/>
          </a:xfrm>
          <a:prstGeom prst="rightArrow">
            <a:avLst/>
          </a:prstGeom>
          <a:solidFill>
            <a:srgbClr val="9AA8B8"/>
          </a:solidFill>
          <a:ln/>
        </p:spPr>
      </p:sp>
      <p:sp>
        <p:nvSpPr>
          <p:cNvPr id="14" name="Shape 12"/>
          <p:cNvSpPr/>
          <p:nvPr/>
        </p:nvSpPr>
        <p:spPr>
          <a:xfrm>
            <a:off x="7754112" y="1801368"/>
            <a:ext cx="969264" cy="438912"/>
          </a:xfrm>
          <a:prstGeom prst="roundRect">
            <a:avLst>
              <a:gd name="adj" fmla="val 10417"/>
            </a:avLst>
          </a:prstGeom>
          <a:solidFill>
            <a:srgbClr val="00539B"/>
          </a:solidFill>
          <a:ln/>
        </p:spPr>
      </p:sp>
      <p:sp>
        <p:nvSpPr>
          <p:cNvPr id="15" name="Text 13"/>
          <p:cNvSpPr/>
          <p:nvPr/>
        </p:nvSpPr>
        <p:spPr>
          <a:xfrm>
            <a:off x="7754112" y="1810512"/>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16" name="Text 14"/>
          <p:cNvSpPr/>
          <p:nvPr/>
        </p:nvSpPr>
        <p:spPr>
          <a:xfrm>
            <a:off x="7754112" y="2048256"/>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MEDIUM</a:t>
            </a:r>
            <a:endParaRPr lang="en-US" sz="650" dirty="0"/>
          </a:p>
        </p:txBody>
      </p:sp>
      <p:sp>
        <p:nvSpPr>
          <p:cNvPr id="17" name="Text 15"/>
          <p:cNvSpPr/>
          <p:nvPr/>
        </p:nvSpPr>
        <p:spPr>
          <a:xfrm>
            <a:off x="8942832" y="1719072"/>
            <a:ext cx="2514600" cy="274320"/>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Inspection Engineer</a:t>
            </a:r>
            <a:endParaRPr lang="en-US" sz="1100" dirty="0"/>
          </a:p>
        </p:txBody>
      </p:sp>
      <p:sp>
        <p:nvSpPr>
          <p:cNvPr id="18" name="Text 16"/>
          <p:cNvSpPr/>
          <p:nvPr/>
        </p:nvSpPr>
        <p:spPr>
          <a:xfrm>
            <a:off x="8942832" y="1993392"/>
            <a:ext cx="2514600" cy="237744"/>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review: Quarterly</a:t>
            </a:r>
            <a:endParaRPr lang="en-US" sz="950" dirty="0"/>
          </a:p>
        </p:txBody>
      </p:sp>
      <p:sp>
        <p:nvSpPr>
          <p:cNvPr id="19" name="Shape 17"/>
          <p:cNvSpPr/>
          <p:nvPr/>
        </p:nvSpPr>
        <p:spPr>
          <a:xfrm>
            <a:off x="566928" y="2487168"/>
            <a:ext cx="11055096" cy="749808"/>
          </a:xfrm>
          <a:prstGeom prst="roundRect">
            <a:avLst>
              <a:gd name="adj" fmla="val 6098"/>
            </a:avLst>
          </a:prstGeom>
          <a:solidFill>
            <a:srgbClr val="F1F4F8"/>
          </a:solidFill>
          <a:ln w="9525">
            <a:solidFill>
              <a:srgbClr val="CFD8E3"/>
            </a:solidFill>
            <a:prstDash val="solid"/>
          </a:ln>
        </p:spPr>
      </p:sp>
      <p:sp>
        <p:nvSpPr>
          <p:cNvPr id="20" name="Text 18"/>
          <p:cNvSpPr/>
          <p:nvPr/>
        </p:nvSpPr>
        <p:spPr>
          <a:xfrm>
            <a:off x="749808" y="2560320"/>
            <a:ext cx="822960" cy="274320"/>
          </a:xfrm>
          <a:prstGeom prst="rect">
            <a:avLst/>
          </a:prstGeom>
          <a:noFill/>
          <a:ln/>
        </p:spPr>
        <p:txBody>
          <a:bodyPr wrap="square" lIns="0" tIns="0" rIns="0" bIns="0" rtlCol="0" anchor="ctr"/>
          <a:lstStyle/>
          <a:p>
            <a:pPr indent="0" marL="0">
              <a:buNone/>
            </a:pPr>
            <a:r>
              <a:rPr lang="en-US" sz="1150" b="1" dirty="0">
                <a:solidFill>
                  <a:srgbClr val="00539B"/>
                </a:solidFill>
                <a:latin typeface="Calibri" pitchFamily="34" charset="0"/>
                <a:ea typeface="Calibri" pitchFamily="34" charset="-122"/>
                <a:cs typeface="Calibri" pitchFamily="34" charset="-120"/>
              </a:rPr>
              <a:t>RR-02</a:t>
            </a:r>
            <a:endParaRPr lang="en-US" sz="1150" dirty="0"/>
          </a:p>
        </p:txBody>
      </p:sp>
      <p:sp>
        <p:nvSpPr>
          <p:cNvPr id="21" name="Text 19"/>
          <p:cNvSpPr/>
          <p:nvPr/>
        </p:nvSpPr>
        <p:spPr>
          <a:xfrm>
            <a:off x="749808" y="2852928"/>
            <a:ext cx="868680" cy="237744"/>
          </a:xfrm>
          <a:prstGeom prst="rect">
            <a:avLst/>
          </a:prstGeom>
          <a:noFill/>
          <a:ln/>
        </p:spPr>
        <p:txBody>
          <a:bodyPr wrap="square" lIns="0" tIns="0" rIns="0" bIns="0" rtlCol="0" anchor="ctr"/>
          <a:lstStyle/>
          <a:p>
            <a:pPr indent="0" marL="0">
              <a:buNone/>
            </a:pPr>
            <a:r>
              <a:rPr lang="en-US" sz="850" i="1" dirty="0">
                <a:solidFill>
                  <a:srgbClr val="C8102E"/>
                </a:solidFill>
                <a:latin typeface="Calibri" pitchFamily="34" charset="0"/>
                <a:ea typeface="Calibri" pitchFamily="34" charset="-122"/>
                <a:cs typeface="Calibri" pitchFamily="34" charset="-120"/>
              </a:rPr>
              <a:t>failed</a:t>
            </a:r>
            <a:endParaRPr lang="en-US" sz="850" dirty="0"/>
          </a:p>
        </p:txBody>
      </p:sp>
      <p:sp>
        <p:nvSpPr>
          <p:cNvPr id="22" name="Text 20"/>
          <p:cNvSpPr/>
          <p:nvPr/>
        </p:nvSpPr>
        <p:spPr>
          <a:xfrm>
            <a:off x="1682496" y="2560320"/>
            <a:ext cx="4434840" cy="27432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P-1104A HGO pump</a:t>
            </a:r>
            <a:endParaRPr lang="en-US" sz="1150" dirty="0"/>
          </a:p>
        </p:txBody>
      </p:sp>
      <p:sp>
        <p:nvSpPr>
          <p:cNvPr id="23" name="Text 21"/>
          <p:cNvSpPr/>
          <p:nvPr/>
        </p:nvSpPr>
        <p:spPr>
          <a:xfrm>
            <a:off x="1682496" y="2834640"/>
            <a:ext cx="4434840" cy="329184"/>
          </a:xfrm>
          <a:prstGeom prst="rect">
            <a:avLst/>
          </a:prstGeom>
          <a:noFill/>
          <a:ln/>
        </p:spPr>
        <p:txBody>
          <a:bodyPr wrap="square" lIns="0" tIns="0" rIns="0" bIns="0" rtlCol="0" anchor="t"/>
          <a:lstStyle/>
          <a:p>
            <a:pPr indent="0" marL="0">
              <a:lnSpc>
                <a:spcPts val="1200"/>
              </a:lnSpc>
              <a:buNone/>
            </a:pPr>
            <a:r>
              <a:rPr lang="en-US" sz="950" dirty="0">
                <a:solidFill>
                  <a:srgbClr val="56677A"/>
                </a:solidFill>
                <a:latin typeface="Calibri" pitchFamily="34" charset="0"/>
                <a:ea typeface="Calibri" pitchFamily="34" charset="-122"/>
                <a:cs typeface="Calibri" pitchFamily="34" charset="-120"/>
              </a:rPr>
              <a:t>Seal failure releases 290 °C hydrocarbon above its flash point — pool fire</a:t>
            </a:r>
            <a:endParaRPr lang="en-US" sz="950" dirty="0"/>
          </a:p>
        </p:txBody>
      </p:sp>
      <p:sp>
        <p:nvSpPr>
          <p:cNvPr id="24" name="Shape 22"/>
          <p:cNvSpPr/>
          <p:nvPr/>
        </p:nvSpPr>
        <p:spPr>
          <a:xfrm>
            <a:off x="6272784" y="2642616"/>
            <a:ext cx="969264" cy="438912"/>
          </a:xfrm>
          <a:prstGeom prst="roundRect">
            <a:avLst>
              <a:gd name="adj" fmla="val 10417"/>
            </a:avLst>
          </a:prstGeom>
          <a:solidFill>
            <a:srgbClr val="C8102E"/>
          </a:solidFill>
          <a:ln/>
        </p:spPr>
      </p:sp>
      <p:sp>
        <p:nvSpPr>
          <p:cNvPr id="25" name="Text 23"/>
          <p:cNvSpPr/>
          <p:nvPr/>
        </p:nvSpPr>
        <p:spPr>
          <a:xfrm>
            <a:off x="6272784" y="2651760"/>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26" name="Text 24"/>
          <p:cNvSpPr/>
          <p:nvPr/>
        </p:nvSpPr>
        <p:spPr>
          <a:xfrm>
            <a:off x="6272784" y="2889504"/>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CRITICAL</a:t>
            </a:r>
            <a:endParaRPr lang="en-US" sz="650" dirty="0"/>
          </a:p>
        </p:txBody>
      </p:sp>
      <p:sp>
        <p:nvSpPr>
          <p:cNvPr id="27" name="Shape 25"/>
          <p:cNvSpPr/>
          <p:nvPr/>
        </p:nvSpPr>
        <p:spPr>
          <a:xfrm>
            <a:off x="7370064" y="2788920"/>
            <a:ext cx="256032" cy="146304"/>
          </a:xfrm>
          <a:prstGeom prst="rightArrow">
            <a:avLst/>
          </a:prstGeom>
          <a:solidFill>
            <a:srgbClr val="9AA8B8"/>
          </a:solidFill>
          <a:ln/>
        </p:spPr>
      </p:sp>
      <p:sp>
        <p:nvSpPr>
          <p:cNvPr id="28" name="Shape 26"/>
          <p:cNvSpPr/>
          <p:nvPr/>
        </p:nvSpPr>
        <p:spPr>
          <a:xfrm>
            <a:off x="7754112" y="2642616"/>
            <a:ext cx="969264" cy="438912"/>
          </a:xfrm>
          <a:prstGeom prst="roundRect">
            <a:avLst>
              <a:gd name="adj" fmla="val 10417"/>
            </a:avLst>
          </a:prstGeom>
          <a:solidFill>
            <a:srgbClr val="00539B"/>
          </a:solidFill>
          <a:ln/>
        </p:spPr>
      </p:sp>
      <p:sp>
        <p:nvSpPr>
          <p:cNvPr id="29" name="Text 27"/>
          <p:cNvSpPr/>
          <p:nvPr/>
        </p:nvSpPr>
        <p:spPr>
          <a:xfrm>
            <a:off x="7754112" y="2651760"/>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0" name="Text 28"/>
          <p:cNvSpPr/>
          <p:nvPr/>
        </p:nvSpPr>
        <p:spPr>
          <a:xfrm>
            <a:off x="7754112" y="2889504"/>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MEDIUM</a:t>
            </a:r>
            <a:endParaRPr lang="en-US" sz="650" dirty="0"/>
          </a:p>
        </p:txBody>
      </p:sp>
      <p:sp>
        <p:nvSpPr>
          <p:cNvPr id="31" name="Text 29"/>
          <p:cNvSpPr/>
          <p:nvPr/>
        </p:nvSpPr>
        <p:spPr>
          <a:xfrm>
            <a:off x="8942832" y="2560320"/>
            <a:ext cx="2514600" cy="274320"/>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Rotating Equipment Engineer</a:t>
            </a:r>
            <a:endParaRPr lang="en-US" sz="1100" dirty="0"/>
          </a:p>
        </p:txBody>
      </p:sp>
      <p:sp>
        <p:nvSpPr>
          <p:cNvPr id="32" name="Text 30"/>
          <p:cNvSpPr/>
          <p:nvPr/>
        </p:nvSpPr>
        <p:spPr>
          <a:xfrm>
            <a:off x="8942832" y="2834640"/>
            <a:ext cx="2514600" cy="237744"/>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review: Monthly</a:t>
            </a:r>
            <a:endParaRPr lang="en-US" sz="950" dirty="0"/>
          </a:p>
        </p:txBody>
      </p:sp>
      <p:sp>
        <p:nvSpPr>
          <p:cNvPr id="33" name="Shape 31"/>
          <p:cNvSpPr/>
          <p:nvPr/>
        </p:nvSpPr>
        <p:spPr>
          <a:xfrm>
            <a:off x="566928" y="3328416"/>
            <a:ext cx="11055096" cy="749808"/>
          </a:xfrm>
          <a:prstGeom prst="roundRect">
            <a:avLst>
              <a:gd name="adj" fmla="val 6098"/>
            </a:avLst>
          </a:prstGeom>
          <a:solidFill>
            <a:srgbClr val="F1F4F8"/>
          </a:solidFill>
          <a:ln w="9525">
            <a:solidFill>
              <a:srgbClr val="CFD8E3"/>
            </a:solidFill>
            <a:prstDash val="solid"/>
          </a:ln>
        </p:spPr>
      </p:sp>
      <p:sp>
        <p:nvSpPr>
          <p:cNvPr id="34" name="Text 32"/>
          <p:cNvSpPr/>
          <p:nvPr/>
        </p:nvSpPr>
        <p:spPr>
          <a:xfrm>
            <a:off x="749808" y="3401568"/>
            <a:ext cx="822960" cy="274320"/>
          </a:xfrm>
          <a:prstGeom prst="rect">
            <a:avLst/>
          </a:prstGeom>
          <a:noFill/>
          <a:ln/>
        </p:spPr>
        <p:txBody>
          <a:bodyPr wrap="square" lIns="0" tIns="0" rIns="0" bIns="0" rtlCol="0" anchor="ctr"/>
          <a:lstStyle/>
          <a:p>
            <a:pPr indent="0" marL="0">
              <a:buNone/>
            </a:pPr>
            <a:r>
              <a:rPr lang="en-US" sz="1150" b="1" dirty="0">
                <a:solidFill>
                  <a:srgbClr val="00539B"/>
                </a:solidFill>
                <a:latin typeface="Calibri" pitchFamily="34" charset="0"/>
                <a:ea typeface="Calibri" pitchFamily="34" charset="-122"/>
                <a:cs typeface="Calibri" pitchFamily="34" charset="-120"/>
              </a:rPr>
              <a:t>RR-03</a:t>
            </a:r>
            <a:endParaRPr lang="en-US" sz="1150" dirty="0"/>
          </a:p>
        </p:txBody>
      </p:sp>
      <p:sp>
        <p:nvSpPr>
          <p:cNvPr id="35" name="Text 33"/>
          <p:cNvSpPr/>
          <p:nvPr/>
        </p:nvSpPr>
        <p:spPr>
          <a:xfrm>
            <a:off x="749808" y="3694176"/>
            <a:ext cx="868680" cy="237744"/>
          </a:xfrm>
          <a:prstGeom prst="rect">
            <a:avLst/>
          </a:prstGeom>
          <a:noFill/>
          <a:ln/>
        </p:spPr>
        <p:txBody>
          <a:bodyPr wrap="square" lIns="0" tIns="0" rIns="0" bIns="0" rtlCol="0" anchor="ctr"/>
          <a:lstStyle/>
          <a:p>
            <a:pPr indent="0" marL="0">
              <a:buNone/>
            </a:pPr>
            <a:r>
              <a:rPr lang="en-US" sz="850" i="1" dirty="0">
                <a:solidFill>
                  <a:srgbClr val="C8102E"/>
                </a:solidFill>
                <a:latin typeface="Calibri" pitchFamily="34" charset="0"/>
                <a:ea typeface="Calibri" pitchFamily="34" charset="-122"/>
                <a:cs typeface="Calibri" pitchFamily="34" charset="-120"/>
              </a:rPr>
              <a:t>failed</a:t>
            </a:r>
            <a:endParaRPr lang="en-US" sz="850" dirty="0"/>
          </a:p>
        </p:txBody>
      </p:sp>
      <p:sp>
        <p:nvSpPr>
          <p:cNvPr id="36" name="Text 34"/>
          <p:cNvSpPr/>
          <p:nvPr/>
        </p:nvSpPr>
        <p:spPr>
          <a:xfrm>
            <a:off x="1682496" y="3401568"/>
            <a:ext cx="4434840" cy="27432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H-1101 radiant tubes</a:t>
            </a:r>
            <a:endParaRPr lang="en-US" sz="1150" dirty="0"/>
          </a:p>
        </p:txBody>
      </p:sp>
      <p:sp>
        <p:nvSpPr>
          <p:cNvPr id="37" name="Text 35"/>
          <p:cNvSpPr/>
          <p:nvPr/>
        </p:nvSpPr>
        <p:spPr>
          <a:xfrm>
            <a:off x="1682496" y="3675888"/>
            <a:ext cx="4434840" cy="329184"/>
          </a:xfrm>
          <a:prstGeom prst="rect">
            <a:avLst/>
          </a:prstGeom>
          <a:noFill/>
          <a:ln/>
        </p:spPr>
        <p:txBody>
          <a:bodyPr wrap="square" lIns="0" tIns="0" rIns="0" bIns="0" rtlCol="0" anchor="t"/>
          <a:lstStyle/>
          <a:p>
            <a:pPr indent="0" marL="0">
              <a:lnSpc>
                <a:spcPts val="1200"/>
              </a:lnSpc>
              <a:buNone/>
            </a:pPr>
            <a:r>
              <a:rPr lang="en-US" sz="950" dirty="0">
                <a:solidFill>
                  <a:srgbClr val="56677A"/>
                </a:solidFill>
                <a:latin typeface="Calibri" pitchFamily="34" charset="0"/>
                <a:ea typeface="Calibri" pitchFamily="34" charset="-122"/>
                <a:cs typeface="Calibri" pitchFamily="34" charset="-120"/>
              </a:rPr>
              <a:t>Creep rupture discharges crude into the firebox with escalation potential</a:t>
            </a:r>
            <a:endParaRPr lang="en-US" sz="950" dirty="0"/>
          </a:p>
        </p:txBody>
      </p:sp>
      <p:sp>
        <p:nvSpPr>
          <p:cNvPr id="38" name="Shape 36"/>
          <p:cNvSpPr/>
          <p:nvPr/>
        </p:nvSpPr>
        <p:spPr>
          <a:xfrm>
            <a:off x="6272784" y="3483864"/>
            <a:ext cx="969264" cy="438912"/>
          </a:xfrm>
          <a:prstGeom prst="roundRect">
            <a:avLst>
              <a:gd name="adj" fmla="val 10417"/>
            </a:avLst>
          </a:prstGeom>
          <a:solidFill>
            <a:srgbClr val="C8102E"/>
          </a:solidFill>
          <a:ln/>
        </p:spPr>
      </p:sp>
      <p:sp>
        <p:nvSpPr>
          <p:cNvPr id="39" name="Text 37"/>
          <p:cNvSpPr/>
          <p:nvPr/>
        </p:nvSpPr>
        <p:spPr>
          <a:xfrm>
            <a:off x="6272784" y="3493008"/>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40" name="Text 38"/>
          <p:cNvSpPr/>
          <p:nvPr/>
        </p:nvSpPr>
        <p:spPr>
          <a:xfrm>
            <a:off x="6272784" y="3730752"/>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CRITICAL</a:t>
            </a:r>
            <a:endParaRPr lang="en-US" sz="650" dirty="0"/>
          </a:p>
        </p:txBody>
      </p:sp>
      <p:sp>
        <p:nvSpPr>
          <p:cNvPr id="41" name="Shape 39"/>
          <p:cNvSpPr/>
          <p:nvPr/>
        </p:nvSpPr>
        <p:spPr>
          <a:xfrm>
            <a:off x="7370064" y="3630168"/>
            <a:ext cx="256032" cy="146304"/>
          </a:xfrm>
          <a:prstGeom prst="rightArrow">
            <a:avLst/>
          </a:prstGeom>
          <a:solidFill>
            <a:srgbClr val="9AA8B8"/>
          </a:solidFill>
          <a:ln/>
        </p:spPr>
      </p:sp>
      <p:sp>
        <p:nvSpPr>
          <p:cNvPr id="42" name="Shape 40"/>
          <p:cNvSpPr/>
          <p:nvPr/>
        </p:nvSpPr>
        <p:spPr>
          <a:xfrm>
            <a:off x="7754112" y="3483864"/>
            <a:ext cx="969264" cy="438912"/>
          </a:xfrm>
          <a:prstGeom prst="roundRect">
            <a:avLst>
              <a:gd name="adj" fmla="val 10417"/>
            </a:avLst>
          </a:prstGeom>
          <a:solidFill>
            <a:srgbClr val="C87F16"/>
          </a:solidFill>
          <a:ln/>
        </p:spPr>
      </p:sp>
      <p:sp>
        <p:nvSpPr>
          <p:cNvPr id="43" name="Text 41"/>
          <p:cNvSpPr/>
          <p:nvPr/>
        </p:nvSpPr>
        <p:spPr>
          <a:xfrm>
            <a:off x="7754112" y="3493008"/>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4" name="Text 42"/>
          <p:cNvSpPr/>
          <p:nvPr/>
        </p:nvSpPr>
        <p:spPr>
          <a:xfrm>
            <a:off x="7754112" y="3730752"/>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HIGH</a:t>
            </a:r>
            <a:endParaRPr lang="en-US" sz="650" dirty="0"/>
          </a:p>
        </p:txBody>
      </p:sp>
      <p:sp>
        <p:nvSpPr>
          <p:cNvPr id="45" name="Text 43"/>
          <p:cNvSpPr/>
          <p:nvPr/>
        </p:nvSpPr>
        <p:spPr>
          <a:xfrm>
            <a:off x="8942832" y="3401568"/>
            <a:ext cx="2514600" cy="274320"/>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Fired Heater Specialist</a:t>
            </a:r>
            <a:endParaRPr lang="en-US" sz="1100" dirty="0"/>
          </a:p>
        </p:txBody>
      </p:sp>
      <p:sp>
        <p:nvSpPr>
          <p:cNvPr id="46" name="Text 44"/>
          <p:cNvSpPr/>
          <p:nvPr/>
        </p:nvSpPr>
        <p:spPr>
          <a:xfrm>
            <a:off x="8942832" y="3675888"/>
            <a:ext cx="2514600" cy="237744"/>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review: Monthly</a:t>
            </a:r>
            <a:endParaRPr lang="en-US" sz="950" dirty="0"/>
          </a:p>
        </p:txBody>
      </p:sp>
      <p:sp>
        <p:nvSpPr>
          <p:cNvPr id="47" name="Shape 45"/>
          <p:cNvSpPr/>
          <p:nvPr/>
        </p:nvSpPr>
        <p:spPr>
          <a:xfrm>
            <a:off x="566928" y="4169664"/>
            <a:ext cx="11055096" cy="749808"/>
          </a:xfrm>
          <a:prstGeom prst="roundRect">
            <a:avLst>
              <a:gd name="adj" fmla="val 6098"/>
            </a:avLst>
          </a:prstGeom>
          <a:solidFill>
            <a:srgbClr val="F1F4F8"/>
          </a:solidFill>
          <a:ln w="9525">
            <a:solidFill>
              <a:srgbClr val="CFD8E3"/>
            </a:solidFill>
            <a:prstDash val="solid"/>
          </a:ln>
        </p:spPr>
      </p:sp>
      <p:sp>
        <p:nvSpPr>
          <p:cNvPr id="48" name="Text 46"/>
          <p:cNvSpPr/>
          <p:nvPr/>
        </p:nvSpPr>
        <p:spPr>
          <a:xfrm>
            <a:off x="749808" y="4242816"/>
            <a:ext cx="822960" cy="274320"/>
          </a:xfrm>
          <a:prstGeom prst="rect">
            <a:avLst/>
          </a:prstGeom>
          <a:noFill/>
          <a:ln/>
        </p:spPr>
        <p:txBody>
          <a:bodyPr wrap="square" lIns="0" tIns="0" rIns="0" bIns="0" rtlCol="0" anchor="ctr"/>
          <a:lstStyle/>
          <a:p>
            <a:pPr indent="0" marL="0">
              <a:buNone/>
            </a:pPr>
            <a:r>
              <a:rPr lang="en-US" sz="1150" b="1" dirty="0">
                <a:solidFill>
                  <a:srgbClr val="00539B"/>
                </a:solidFill>
                <a:latin typeface="Calibri" pitchFamily="34" charset="0"/>
                <a:ea typeface="Calibri" pitchFamily="34" charset="-122"/>
                <a:cs typeface="Calibri" pitchFamily="34" charset="-120"/>
              </a:rPr>
              <a:t>RR-04</a:t>
            </a:r>
            <a:endParaRPr lang="en-US" sz="1150" dirty="0"/>
          </a:p>
        </p:txBody>
      </p:sp>
      <p:sp>
        <p:nvSpPr>
          <p:cNvPr id="49" name="Text 47"/>
          <p:cNvSpPr/>
          <p:nvPr/>
        </p:nvSpPr>
        <p:spPr>
          <a:xfrm>
            <a:off x="749808" y="4535424"/>
            <a:ext cx="868680" cy="237744"/>
          </a:xfrm>
          <a:prstGeom prst="rect">
            <a:avLst/>
          </a:prstGeom>
          <a:noFill/>
          <a:ln/>
        </p:spPr>
        <p:txBody>
          <a:bodyPr wrap="square" lIns="0" tIns="0" rIns="0" bIns="0" rtlCol="0" anchor="ctr"/>
          <a:lstStyle/>
          <a:p>
            <a:pPr indent="0" marL="0">
              <a:buNone/>
            </a:pPr>
            <a:r>
              <a:rPr lang="en-US" sz="850" i="1" dirty="0">
                <a:solidFill>
                  <a:srgbClr val="2E7D5B"/>
                </a:solidFill>
                <a:latin typeface="Calibri" pitchFamily="34" charset="0"/>
                <a:ea typeface="Calibri" pitchFamily="34" charset="-122"/>
                <a:cs typeface="Calibri" pitchFamily="34" charset="-120"/>
              </a:rPr>
              <a:t>by design</a:t>
            </a:r>
            <a:endParaRPr lang="en-US" sz="850" dirty="0"/>
          </a:p>
        </p:txBody>
      </p:sp>
      <p:sp>
        <p:nvSpPr>
          <p:cNvPr id="50" name="Text 48"/>
          <p:cNvSpPr/>
          <p:nvPr/>
        </p:nvSpPr>
        <p:spPr>
          <a:xfrm>
            <a:off x="1682496" y="4242816"/>
            <a:ext cx="4434840" cy="27432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T-1101 flash zone shell</a:t>
            </a:r>
            <a:endParaRPr lang="en-US" sz="1150" dirty="0"/>
          </a:p>
        </p:txBody>
      </p:sp>
      <p:sp>
        <p:nvSpPr>
          <p:cNvPr id="51" name="Text 49"/>
          <p:cNvSpPr/>
          <p:nvPr/>
        </p:nvSpPr>
        <p:spPr>
          <a:xfrm>
            <a:off x="1682496" y="4517136"/>
            <a:ext cx="4434840" cy="329184"/>
          </a:xfrm>
          <a:prstGeom prst="rect">
            <a:avLst/>
          </a:prstGeom>
          <a:noFill/>
          <a:ln/>
        </p:spPr>
        <p:txBody>
          <a:bodyPr wrap="square" lIns="0" tIns="0" rIns="0" bIns="0" rtlCol="0" anchor="t"/>
          <a:lstStyle/>
          <a:p>
            <a:pPr indent="0" marL="0">
              <a:lnSpc>
                <a:spcPts val="1200"/>
              </a:lnSpc>
              <a:buNone/>
            </a:pPr>
            <a:r>
              <a:rPr lang="en-US" sz="950" dirty="0">
                <a:solidFill>
                  <a:srgbClr val="56677A"/>
                </a:solidFill>
                <a:latin typeface="Calibri" pitchFamily="34" charset="0"/>
                <a:ea typeface="Calibri" pitchFamily="34" charset="-122"/>
                <a:cs typeface="Calibri" pitchFamily="34" charset="-120"/>
              </a:rPr>
              <a:t>Sulfidation wall loss — catastrophic loss of tower inventory</a:t>
            </a:r>
            <a:endParaRPr lang="en-US" sz="950" dirty="0"/>
          </a:p>
        </p:txBody>
      </p:sp>
      <p:sp>
        <p:nvSpPr>
          <p:cNvPr id="52" name="Shape 50"/>
          <p:cNvSpPr/>
          <p:nvPr/>
        </p:nvSpPr>
        <p:spPr>
          <a:xfrm>
            <a:off x="6272784" y="4325112"/>
            <a:ext cx="969264" cy="438912"/>
          </a:xfrm>
          <a:prstGeom prst="roundRect">
            <a:avLst>
              <a:gd name="adj" fmla="val 10417"/>
            </a:avLst>
          </a:prstGeom>
          <a:solidFill>
            <a:srgbClr val="C8102E"/>
          </a:solidFill>
          <a:ln/>
        </p:spPr>
      </p:sp>
      <p:sp>
        <p:nvSpPr>
          <p:cNvPr id="53" name="Text 51"/>
          <p:cNvSpPr/>
          <p:nvPr/>
        </p:nvSpPr>
        <p:spPr>
          <a:xfrm>
            <a:off x="6272784" y="4334256"/>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54" name="Text 52"/>
          <p:cNvSpPr/>
          <p:nvPr/>
        </p:nvSpPr>
        <p:spPr>
          <a:xfrm>
            <a:off x="6272784" y="4572000"/>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CRITICAL</a:t>
            </a:r>
            <a:endParaRPr lang="en-US" sz="650" dirty="0"/>
          </a:p>
        </p:txBody>
      </p:sp>
      <p:sp>
        <p:nvSpPr>
          <p:cNvPr id="55" name="Shape 53"/>
          <p:cNvSpPr/>
          <p:nvPr/>
        </p:nvSpPr>
        <p:spPr>
          <a:xfrm>
            <a:off x="7370064" y="4471416"/>
            <a:ext cx="256032" cy="146304"/>
          </a:xfrm>
          <a:prstGeom prst="rightArrow">
            <a:avLst/>
          </a:prstGeom>
          <a:solidFill>
            <a:srgbClr val="9AA8B8"/>
          </a:solidFill>
          <a:ln/>
        </p:spPr>
      </p:sp>
      <p:sp>
        <p:nvSpPr>
          <p:cNvPr id="56" name="Shape 54"/>
          <p:cNvSpPr/>
          <p:nvPr/>
        </p:nvSpPr>
        <p:spPr>
          <a:xfrm>
            <a:off x="7754112" y="4325112"/>
            <a:ext cx="969264" cy="438912"/>
          </a:xfrm>
          <a:prstGeom prst="roundRect">
            <a:avLst>
              <a:gd name="adj" fmla="val 10417"/>
            </a:avLst>
          </a:prstGeom>
          <a:solidFill>
            <a:srgbClr val="00539B"/>
          </a:solidFill>
          <a:ln/>
        </p:spPr>
      </p:sp>
      <p:sp>
        <p:nvSpPr>
          <p:cNvPr id="57" name="Text 55"/>
          <p:cNvSpPr/>
          <p:nvPr/>
        </p:nvSpPr>
        <p:spPr>
          <a:xfrm>
            <a:off x="7754112" y="4334256"/>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8" name="Text 56"/>
          <p:cNvSpPr/>
          <p:nvPr/>
        </p:nvSpPr>
        <p:spPr>
          <a:xfrm>
            <a:off x="7754112" y="4572000"/>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MEDIUM</a:t>
            </a:r>
            <a:endParaRPr lang="en-US" sz="650" dirty="0"/>
          </a:p>
        </p:txBody>
      </p:sp>
      <p:sp>
        <p:nvSpPr>
          <p:cNvPr id="59" name="Text 57"/>
          <p:cNvSpPr/>
          <p:nvPr/>
        </p:nvSpPr>
        <p:spPr>
          <a:xfrm>
            <a:off x="8942832" y="4242816"/>
            <a:ext cx="2514600" cy="274320"/>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Inspection Manager</a:t>
            </a:r>
            <a:endParaRPr lang="en-US" sz="1100" dirty="0"/>
          </a:p>
        </p:txBody>
      </p:sp>
      <p:sp>
        <p:nvSpPr>
          <p:cNvPr id="60" name="Text 58"/>
          <p:cNvSpPr/>
          <p:nvPr/>
        </p:nvSpPr>
        <p:spPr>
          <a:xfrm>
            <a:off x="8942832" y="4517136"/>
            <a:ext cx="2514600" cy="237744"/>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review: Annual</a:t>
            </a:r>
            <a:endParaRPr lang="en-US" sz="950" dirty="0"/>
          </a:p>
        </p:txBody>
      </p:sp>
      <p:sp>
        <p:nvSpPr>
          <p:cNvPr id="61" name="Shape 59"/>
          <p:cNvSpPr/>
          <p:nvPr/>
        </p:nvSpPr>
        <p:spPr>
          <a:xfrm>
            <a:off x="566928" y="5010912"/>
            <a:ext cx="11055096" cy="749808"/>
          </a:xfrm>
          <a:prstGeom prst="roundRect">
            <a:avLst>
              <a:gd name="adj" fmla="val 6098"/>
            </a:avLst>
          </a:prstGeom>
          <a:solidFill>
            <a:srgbClr val="FBF2F2"/>
          </a:solidFill>
          <a:ln w="9525">
            <a:solidFill>
              <a:srgbClr val="C8102E"/>
            </a:solidFill>
            <a:prstDash val="solid"/>
          </a:ln>
        </p:spPr>
      </p:sp>
      <p:sp>
        <p:nvSpPr>
          <p:cNvPr id="62" name="Text 60"/>
          <p:cNvSpPr/>
          <p:nvPr/>
        </p:nvSpPr>
        <p:spPr>
          <a:xfrm>
            <a:off x="749808" y="5084064"/>
            <a:ext cx="822960" cy="274320"/>
          </a:xfrm>
          <a:prstGeom prst="rect">
            <a:avLst/>
          </a:prstGeom>
          <a:noFill/>
          <a:ln/>
        </p:spPr>
        <p:txBody>
          <a:bodyPr wrap="square" lIns="0" tIns="0" rIns="0" bIns="0" rtlCol="0" anchor="ctr"/>
          <a:lstStyle/>
          <a:p>
            <a:pPr indent="0" marL="0">
              <a:buNone/>
            </a:pPr>
            <a:r>
              <a:rPr lang="en-US" sz="1150" b="1" dirty="0">
                <a:solidFill>
                  <a:srgbClr val="00539B"/>
                </a:solidFill>
                <a:latin typeface="Calibri" pitchFamily="34" charset="0"/>
                <a:ea typeface="Calibri" pitchFamily="34" charset="-122"/>
                <a:cs typeface="Calibri" pitchFamily="34" charset="-120"/>
              </a:rPr>
              <a:t>RR-05</a:t>
            </a:r>
            <a:endParaRPr lang="en-US" sz="1150" dirty="0"/>
          </a:p>
        </p:txBody>
      </p:sp>
      <p:sp>
        <p:nvSpPr>
          <p:cNvPr id="63" name="Text 61"/>
          <p:cNvSpPr/>
          <p:nvPr/>
        </p:nvSpPr>
        <p:spPr>
          <a:xfrm>
            <a:off x="749808" y="5376672"/>
            <a:ext cx="868680" cy="237744"/>
          </a:xfrm>
          <a:prstGeom prst="rect">
            <a:avLst/>
          </a:prstGeom>
          <a:noFill/>
          <a:ln/>
        </p:spPr>
        <p:txBody>
          <a:bodyPr wrap="square" lIns="0" tIns="0" rIns="0" bIns="0" rtlCol="0" anchor="ctr"/>
          <a:lstStyle/>
          <a:p>
            <a:pPr indent="0" marL="0">
              <a:buNone/>
            </a:pPr>
            <a:r>
              <a:rPr lang="en-US" sz="850" i="1" dirty="0">
                <a:solidFill>
                  <a:srgbClr val="C8102E"/>
                </a:solidFill>
                <a:latin typeface="Calibri" pitchFamily="34" charset="0"/>
                <a:ea typeface="Calibri" pitchFamily="34" charset="-122"/>
                <a:cs typeface="Calibri" pitchFamily="34" charset="-120"/>
              </a:rPr>
              <a:t>no cover</a:t>
            </a:r>
            <a:endParaRPr lang="en-US" sz="850" dirty="0"/>
          </a:p>
        </p:txBody>
      </p:sp>
      <p:sp>
        <p:nvSpPr>
          <p:cNvPr id="64" name="Text 62"/>
          <p:cNvSpPr/>
          <p:nvPr/>
        </p:nvSpPr>
        <p:spPr>
          <a:xfrm>
            <a:off x="1682496" y="5084064"/>
            <a:ext cx="4434840" cy="27432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E-1108 cooling water side</a:t>
            </a:r>
            <a:endParaRPr lang="en-US" sz="1150" dirty="0"/>
          </a:p>
        </p:txBody>
      </p:sp>
      <p:sp>
        <p:nvSpPr>
          <p:cNvPr id="65" name="Text 63"/>
          <p:cNvSpPr/>
          <p:nvPr/>
        </p:nvSpPr>
        <p:spPr>
          <a:xfrm>
            <a:off x="1682496" y="5358384"/>
            <a:ext cx="4434840" cy="329184"/>
          </a:xfrm>
          <a:prstGeom prst="rect">
            <a:avLst/>
          </a:prstGeom>
          <a:noFill/>
          <a:ln/>
        </p:spPr>
        <p:txBody>
          <a:bodyPr wrap="square" lIns="0" tIns="0" rIns="0" bIns="0" rtlCol="0" anchor="t"/>
          <a:lstStyle/>
          <a:p>
            <a:pPr indent="0" marL="0">
              <a:lnSpc>
                <a:spcPts val="1200"/>
              </a:lnSpc>
              <a:buNone/>
            </a:pPr>
            <a:r>
              <a:rPr lang="en-US" sz="950" dirty="0">
                <a:solidFill>
                  <a:srgbClr val="56677A"/>
                </a:solidFill>
                <a:latin typeface="Calibri" pitchFamily="34" charset="0"/>
                <a:ea typeface="Calibri" pitchFamily="34" charset="-122"/>
                <a:cs typeface="Calibri" pitchFamily="34" charset="-120"/>
              </a:rPr>
              <a:t>Tube leak admits hydrocarbon to the cooling tower — flammable release</a:t>
            </a:r>
            <a:endParaRPr lang="en-US" sz="950" dirty="0"/>
          </a:p>
        </p:txBody>
      </p:sp>
      <p:sp>
        <p:nvSpPr>
          <p:cNvPr id="66" name="Shape 64"/>
          <p:cNvSpPr/>
          <p:nvPr/>
        </p:nvSpPr>
        <p:spPr>
          <a:xfrm>
            <a:off x="6272784" y="5166360"/>
            <a:ext cx="969264" cy="438912"/>
          </a:xfrm>
          <a:prstGeom prst="roundRect">
            <a:avLst>
              <a:gd name="adj" fmla="val 10417"/>
            </a:avLst>
          </a:prstGeom>
          <a:solidFill>
            <a:srgbClr val="C87F16"/>
          </a:solidFill>
          <a:ln/>
        </p:spPr>
      </p:sp>
      <p:sp>
        <p:nvSpPr>
          <p:cNvPr id="67" name="Text 65"/>
          <p:cNvSpPr/>
          <p:nvPr/>
        </p:nvSpPr>
        <p:spPr>
          <a:xfrm>
            <a:off x="6272784" y="5175504"/>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68" name="Text 66"/>
          <p:cNvSpPr/>
          <p:nvPr/>
        </p:nvSpPr>
        <p:spPr>
          <a:xfrm>
            <a:off x="6272784" y="5413248"/>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HIGH</a:t>
            </a:r>
            <a:endParaRPr lang="en-US" sz="650" dirty="0"/>
          </a:p>
        </p:txBody>
      </p:sp>
      <p:sp>
        <p:nvSpPr>
          <p:cNvPr id="69" name="Shape 67"/>
          <p:cNvSpPr/>
          <p:nvPr/>
        </p:nvSpPr>
        <p:spPr>
          <a:xfrm>
            <a:off x="7370064" y="5312664"/>
            <a:ext cx="256032" cy="146304"/>
          </a:xfrm>
          <a:prstGeom prst="rightArrow">
            <a:avLst/>
          </a:prstGeom>
          <a:solidFill>
            <a:srgbClr val="D8B4B4"/>
          </a:solidFill>
          <a:ln/>
        </p:spPr>
      </p:sp>
      <p:sp>
        <p:nvSpPr>
          <p:cNvPr id="70" name="Shape 68"/>
          <p:cNvSpPr/>
          <p:nvPr/>
        </p:nvSpPr>
        <p:spPr>
          <a:xfrm>
            <a:off x="7754112" y="5166360"/>
            <a:ext cx="969264" cy="438912"/>
          </a:xfrm>
          <a:prstGeom prst="roundRect">
            <a:avLst>
              <a:gd name="adj" fmla="val 10417"/>
            </a:avLst>
          </a:prstGeom>
          <a:solidFill>
            <a:srgbClr val="C87F16"/>
          </a:solidFill>
          <a:ln/>
        </p:spPr>
      </p:sp>
      <p:sp>
        <p:nvSpPr>
          <p:cNvPr id="71" name="Text 69"/>
          <p:cNvSpPr/>
          <p:nvPr/>
        </p:nvSpPr>
        <p:spPr>
          <a:xfrm>
            <a:off x="7754112" y="5175504"/>
            <a:ext cx="969264"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72" name="Text 70"/>
          <p:cNvSpPr/>
          <p:nvPr/>
        </p:nvSpPr>
        <p:spPr>
          <a:xfrm>
            <a:off x="7754112" y="5413248"/>
            <a:ext cx="969264" cy="164592"/>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Calibri" pitchFamily="34" charset="0"/>
                <a:ea typeface="Calibri" pitchFamily="34" charset="-122"/>
                <a:cs typeface="Calibri" pitchFamily="34" charset="-120"/>
              </a:rPr>
              <a:t>HIGH</a:t>
            </a:r>
            <a:endParaRPr lang="en-US" sz="650" dirty="0"/>
          </a:p>
        </p:txBody>
      </p:sp>
      <p:sp>
        <p:nvSpPr>
          <p:cNvPr id="73" name="Text 71"/>
          <p:cNvSpPr/>
          <p:nvPr/>
        </p:nvSpPr>
        <p:spPr>
          <a:xfrm>
            <a:off x="8942832" y="5084064"/>
            <a:ext cx="2514600" cy="274320"/>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Utilities Engineer</a:t>
            </a:r>
            <a:endParaRPr lang="en-US" sz="1100" dirty="0"/>
          </a:p>
        </p:txBody>
      </p:sp>
      <p:sp>
        <p:nvSpPr>
          <p:cNvPr id="74" name="Text 72"/>
          <p:cNvSpPr/>
          <p:nvPr/>
        </p:nvSpPr>
        <p:spPr>
          <a:xfrm>
            <a:off x="8942832" y="5358384"/>
            <a:ext cx="2514600" cy="237744"/>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review: Monthly</a:t>
            </a:r>
            <a:endParaRPr lang="en-US" sz="950" dirty="0"/>
          </a:p>
        </p:txBody>
      </p:sp>
      <p:sp>
        <p:nvSpPr>
          <p:cNvPr id="75" name="Text 73"/>
          <p:cNvSpPr/>
          <p:nvPr/>
        </p:nvSpPr>
        <p:spPr>
          <a:xfrm>
            <a:off x="566928" y="5943600"/>
            <a:ext cx="11055096" cy="457200"/>
          </a:xfrm>
          <a:prstGeom prst="rect">
            <a:avLst/>
          </a:prstGeom>
          <a:noFill/>
          <a:ln/>
        </p:spPr>
        <p:txBody>
          <a:bodyPr wrap="square" lIns="0" tIns="0" rIns="0" bIns="0" rtlCol="0" anchor="t"/>
          <a:lstStyle/>
          <a:p>
            <a:pPr indent="0" marL="0">
              <a:lnSpc>
                <a:spcPts val="1400"/>
              </a:lnSpc>
              <a:buNone/>
            </a:pPr>
            <a:r>
              <a:rPr lang="en-US" sz="1100" b="1" dirty="0">
                <a:solidFill>
                  <a:srgbClr val="C8102E"/>
                </a:solidFill>
                <a:latin typeface="Calibri" pitchFamily="34" charset="0"/>
                <a:ea typeface="Calibri" pitchFamily="34" charset="-122"/>
                <a:cs typeface="Calibri" pitchFamily="34" charset="-120"/>
              </a:rPr>
              <a:t>RR-05 does not move. </a:t>
            </a:r>
            <a:pPr indent="0" marL="0">
              <a:lnSpc>
                <a:spcPts val="1400"/>
              </a:lnSpc>
              <a:buNone/>
            </a:pPr>
            <a:r>
              <a:rPr lang="en-US" sz="1100" dirty="0">
                <a:solidFill>
                  <a:srgbClr val="56677A"/>
                </a:solidFill>
                <a:latin typeface="Calibri" pitchFamily="34" charset="0"/>
                <a:ea typeface="Calibri" pitchFamily="34" charset="-122"/>
                <a:cs typeface="Calibri" pitchFamily="34" charset="-120"/>
              </a:rPr>
              <a:t>Every barrier on that line is broken, overdue or not installed, so none of them earns a reduction. A register that quietly scored it down would be lying — and the identical numbers are the strongest argument for funding it.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RISK RANKING  ·  5 × 5 MATRIX</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Four Critical entries become one High and three Medium. One does not move at all.</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Solid marker = inherent risk, with no credit for controls. Ringed marker = residual, after the barriers are in place and verified.</a:t>
            </a:r>
            <a:endParaRPr lang="en-US" sz="1200" dirty="0"/>
          </a:p>
        </p:txBody>
      </p:sp>
      <p:sp>
        <p:nvSpPr>
          <p:cNvPr id="5" name="Shape 3"/>
          <p:cNvSpPr/>
          <p:nvPr/>
        </p:nvSpPr>
        <p:spPr>
          <a:xfrm>
            <a:off x="1517904" y="4626864"/>
            <a:ext cx="950976" cy="694944"/>
          </a:xfrm>
          <a:prstGeom prst="rect">
            <a:avLst/>
          </a:prstGeom>
          <a:solidFill>
            <a:srgbClr val="2E7D5B">
              <a:alpha val="18000"/>
            </a:srgbClr>
          </a:solidFill>
          <a:ln w="19050">
            <a:solidFill>
              <a:srgbClr val="FFFFFF"/>
            </a:solidFill>
            <a:prstDash val="solid"/>
          </a:ln>
        </p:spPr>
      </p:sp>
      <p:sp>
        <p:nvSpPr>
          <p:cNvPr id="6" name="Text 4"/>
          <p:cNvSpPr/>
          <p:nvPr/>
        </p:nvSpPr>
        <p:spPr>
          <a:xfrm>
            <a:off x="1581912" y="4654296"/>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1</a:t>
            </a:r>
            <a:endParaRPr lang="en-US" sz="850" dirty="0"/>
          </a:p>
        </p:txBody>
      </p:sp>
      <p:sp>
        <p:nvSpPr>
          <p:cNvPr id="7" name="Shape 5"/>
          <p:cNvSpPr/>
          <p:nvPr/>
        </p:nvSpPr>
        <p:spPr>
          <a:xfrm>
            <a:off x="2468880" y="4626864"/>
            <a:ext cx="950976" cy="694944"/>
          </a:xfrm>
          <a:prstGeom prst="rect">
            <a:avLst/>
          </a:prstGeom>
          <a:solidFill>
            <a:srgbClr val="2E7D5B">
              <a:alpha val="18000"/>
            </a:srgbClr>
          </a:solidFill>
          <a:ln w="19050">
            <a:solidFill>
              <a:srgbClr val="FFFFFF"/>
            </a:solidFill>
            <a:prstDash val="solid"/>
          </a:ln>
        </p:spPr>
      </p:sp>
      <p:sp>
        <p:nvSpPr>
          <p:cNvPr id="8" name="Text 6"/>
          <p:cNvSpPr/>
          <p:nvPr/>
        </p:nvSpPr>
        <p:spPr>
          <a:xfrm>
            <a:off x="2532888" y="4654296"/>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2</a:t>
            </a:r>
            <a:endParaRPr lang="en-US" sz="850" dirty="0"/>
          </a:p>
        </p:txBody>
      </p:sp>
      <p:sp>
        <p:nvSpPr>
          <p:cNvPr id="9" name="Shape 7"/>
          <p:cNvSpPr/>
          <p:nvPr/>
        </p:nvSpPr>
        <p:spPr>
          <a:xfrm>
            <a:off x="3419856" y="4626864"/>
            <a:ext cx="950976" cy="694944"/>
          </a:xfrm>
          <a:prstGeom prst="rect">
            <a:avLst/>
          </a:prstGeom>
          <a:solidFill>
            <a:srgbClr val="2E7D5B">
              <a:alpha val="18000"/>
            </a:srgbClr>
          </a:solidFill>
          <a:ln w="19050">
            <a:solidFill>
              <a:srgbClr val="FFFFFF"/>
            </a:solidFill>
            <a:prstDash val="solid"/>
          </a:ln>
        </p:spPr>
      </p:sp>
      <p:sp>
        <p:nvSpPr>
          <p:cNvPr id="10" name="Text 8"/>
          <p:cNvSpPr/>
          <p:nvPr/>
        </p:nvSpPr>
        <p:spPr>
          <a:xfrm>
            <a:off x="3483864" y="4654296"/>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3</a:t>
            </a:r>
            <a:endParaRPr lang="en-US" sz="850" dirty="0"/>
          </a:p>
        </p:txBody>
      </p:sp>
      <p:sp>
        <p:nvSpPr>
          <p:cNvPr id="11" name="Shape 9"/>
          <p:cNvSpPr/>
          <p:nvPr/>
        </p:nvSpPr>
        <p:spPr>
          <a:xfrm>
            <a:off x="4370832" y="4626864"/>
            <a:ext cx="950976" cy="694944"/>
          </a:xfrm>
          <a:prstGeom prst="rect">
            <a:avLst/>
          </a:prstGeom>
          <a:solidFill>
            <a:srgbClr val="2E7D5B">
              <a:alpha val="18000"/>
            </a:srgbClr>
          </a:solidFill>
          <a:ln w="19050">
            <a:solidFill>
              <a:srgbClr val="FFFFFF"/>
            </a:solidFill>
            <a:prstDash val="solid"/>
          </a:ln>
        </p:spPr>
      </p:sp>
      <p:sp>
        <p:nvSpPr>
          <p:cNvPr id="12" name="Text 10"/>
          <p:cNvSpPr/>
          <p:nvPr/>
        </p:nvSpPr>
        <p:spPr>
          <a:xfrm>
            <a:off x="4434840" y="4654296"/>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4</a:t>
            </a:r>
            <a:endParaRPr lang="en-US" sz="850" dirty="0"/>
          </a:p>
        </p:txBody>
      </p:sp>
      <p:sp>
        <p:nvSpPr>
          <p:cNvPr id="13" name="Shape 11"/>
          <p:cNvSpPr/>
          <p:nvPr/>
        </p:nvSpPr>
        <p:spPr>
          <a:xfrm>
            <a:off x="5321808" y="4626864"/>
            <a:ext cx="950976" cy="694944"/>
          </a:xfrm>
          <a:prstGeom prst="rect">
            <a:avLst/>
          </a:prstGeom>
          <a:solidFill>
            <a:srgbClr val="00539B">
              <a:alpha val="18000"/>
            </a:srgbClr>
          </a:solidFill>
          <a:ln w="19050">
            <a:solidFill>
              <a:srgbClr val="FFFFFF"/>
            </a:solidFill>
            <a:prstDash val="solid"/>
          </a:ln>
        </p:spPr>
      </p:sp>
      <p:sp>
        <p:nvSpPr>
          <p:cNvPr id="14" name="Text 12"/>
          <p:cNvSpPr/>
          <p:nvPr/>
        </p:nvSpPr>
        <p:spPr>
          <a:xfrm>
            <a:off x="5385816" y="4654296"/>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5</a:t>
            </a:r>
            <a:endParaRPr lang="en-US" sz="850" dirty="0"/>
          </a:p>
        </p:txBody>
      </p:sp>
      <p:sp>
        <p:nvSpPr>
          <p:cNvPr id="15" name="Shape 13"/>
          <p:cNvSpPr/>
          <p:nvPr/>
        </p:nvSpPr>
        <p:spPr>
          <a:xfrm>
            <a:off x="1517904" y="3931920"/>
            <a:ext cx="950976" cy="694944"/>
          </a:xfrm>
          <a:prstGeom prst="rect">
            <a:avLst/>
          </a:prstGeom>
          <a:solidFill>
            <a:srgbClr val="2E7D5B">
              <a:alpha val="18000"/>
            </a:srgbClr>
          </a:solidFill>
          <a:ln w="19050">
            <a:solidFill>
              <a:srgbClr val="FFFFFF"/>
            </a:solidFill>
            <a:prstDash val="solid"/>
          </a:ln>
        </p:spPr>
      </p:sp>
      <p:sp>
        <p:nvSpPr>
          <p:cNvPr id="16" name="Text 14"/>
          <p:cNvSpPr/>
          <p:nvPr/>
        </p:nvSpPr>
        <p:spPr>
          <a:xfrm>
            <a:off x="1581912" y="3959352"/>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2</a:t>
            </a:r>
            <a:endParaRPr lang="en-US" sz="850" dirty="0"/>
          </a:p>
        </p:txBody>
      </p:sp>
      <p:sp>
        <p:nvSpPr>
          <p:cNvPr id="17" name="Shape 15"/>
          <p:cNvSpPr/>
          <p:nvPr/>
        </p:nvSpPr>
        <p:spPr>
          <a:xfrm>
            <a:off x="2468880" y="3931920"/>
            <a:ext cx="950976" cy="694944"/>
          </a:xfrm>
          <a:prstGeom prst="rect">
            <a:avLst/>
          </a:prstGeom>
          <a:solidFill>
            <a:srgbClr val="2E7D5B">
              <a:alpha val="18000"/>
            </a:srgbClr>
          </a:solidFill>
          <a:ln w="19050">
            <a:solidFill>
              <a:srgbClr val="FFFFFF"/>
            </a:solidFill>
            <a:prstDash val="solid"/>
          </a:ln>
        </p:spPr>
      </p:sp>
      <p:sp>
        <p:nvSpPr>
          <p:cNvPr id="18" name="Text 16"/>
          <p:cNvSpPr/>
          <p:nvPr/>
        </p:nvSpPr>
        <p:spPr>
          <a:xfrm>
            <a:off x="2532888" y="3959352"/>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4</a:t>
            </a:r>
            <a:endParaRPr lang="en-US" sz="850" dirty="0"/>
          </a:p>
        </p:txBody>
      </p:sp>
      <p:sp>
        <p:nvSpPr>
          <p:cNvPr id="19" name="Shape 17"/>
          <p:cNvSpPr/>
          <p:nvPr/>
        </p:nvSpPr>
        <p:spPr>
          <a:xfrm>
            <a:off x="3419856" y="3931920"/>
            <a:ext cx="950976" cy="694944"/>
          </a:xfrm>
          <a:prstGeom prst="rect">
            <a:avLst/>
          </a:prstGeom>
          <a:solidFill>
            <a:srgbClr val="00539B">
              <a:alpha val="18000"/>
            </a:srgbClr>
          </a:solidFill>
          <a:ln w="19050">
            <a:solidFill>
              <a:srgbClr val="FFFFFF"/>
            </a:solidFill>
            <a:prstDash val="solid"/>
          </a:ln>
        </p:spPr>
      </p:sp>
      <p:sp>
        <p:nvSpPr>
          <p:cNvPr id="20" name="Text 18"/>
          <p:cNvSpPr/>
          <p:nvPr/>
        </p:nvSpPr>
        <p:spPr>
          <a:xfrm>
            <a:off x="3483864" y="3959352"/>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6</a:t>
            </a:r>
            <a:endParaRPr lang="en-US" sz="850" dirty="0"/>
          </a:p>
        </p:txBody>
      </p:sp>
      <p:sp>
        <p:nvSpPr>
          <p:cNvPr id="21" name="Shape 19"/>
          <p:cNvSpPr/>
          <p:nvPr/>
        </p:nvSpPr>
        <p:spPr>
          <a:xfrm>
            <a:off x="4370832" y="3931920"/>
            <a:ext cx="950976" cy="694944"/>
          </a:xfrm>
          <a:prstGeom prst="rect">
            <a:avLst/>
          </a:prstGeom>
          <a:solidFill>
            <a:srgbClr val="00539B">
              <a:alpha val="18000"/>
            </a:srgbClr>
          </a:solidFill>
          <a:ln w="19050">
            <a:solidFill>
              <a:srgbClr val="FFFFFF"/>
            </a:solidFill>
            <a:prstDash val="solid"/>
          </a:ln>
        </p:spPr>
      </p:sp>
      <p:sp>
        <p:nvSpPr>
          <p:cNvPr id="22" name="Text 20"/>
          <p:cNvSpPr/>
          <p:nvPr/>
        </p:nvSpPr>
        <p:spPr>
          <a:xfrm>
            <a:off x="4434840" y="3959352"/>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8</a:t>
            </a:r>
            <a:endParaRPr lang="en-US" sz="850" dirty="0"/>
          </a:p>
        </p:txBody>
      </p:sp>
      <p:sp>
        <p:nvSpPr>
          <p:cNvPr id="23" name="Shape 21"/>
          <p:cNvSpPr/>
          <p:nvPr/>
        </p:nvSpPr>
        <p:spPr>
          <a:xfrm>
            <a:off x="5321808" y="3931920"/>
            <a:ext cx="950976" cy="694944"/>
          </a:xfrm>
          <a:prstGeom prst="rect">
            <a:avLst/>
          </a:prstGeom>
          <a:solidFill>
            <a:srgbClr val="C87F16">
              <a:alpha val="18000"/>
            </a:srgbClr>
          </a:solidFill>
          <a:ln w="19050">
            <a:solidFill>
              <a:srgbClr val="FFFFFF"/>
            </a:solidFill>
            <a:prstDash val="solid"/>
          </a:ln>
        </p:spPr>
      </p:sp>
      <p:sp>
        <p:nvSpPr>
          <p:cNvPr id="24" name="Text 22"/>
          <p:cNvSpPr/>
          <p:nvPr/>
        </p:nvSpPr>
        <p:spPr>
          <a:xfrm>
            <a:off x="5385816" y="3959352"/>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10</a:t>
            </a:r>
            <a:endParaRPr lang="en-US" sz="850" dirty="0"/>
          </a:p>
        </p:txBody>
      </p:sp>
      <p:sp>
        <p:nvSpPr>
          <p:cNvPr id="25" name="Shape 23"/>
          <p:cNvSpPr/>
          <p:nvPr/>
        </p:nvSpPr>
        <p:spPr>
          <a:xfrm>
            <a:off x="1517904" y="3236976"/>
            <a:ext cx="950976" cy="694944"/>
          </a:xfrm>
          <a:prstGeom prst="rect">
            <a:avLst/>
          </a:prstGeom>
          <a:solidFill>
            <a:srgbClr val="2E7D5B">
              <a:alpha val="18000"/>
            </a:srgbClr>
          </a:solidFill>
          <a:ln w="19050">
            <a:solidFill>
              <a:srgbClr val="FFFFFF"/>
            </a:solidFill>
            <a:prstDash val="solid"/>
          </a:ln>
        </p:spPr>
      </p:sp>
      <p:sp>
        <p:nvSpPr>
          <p:cNvPr id="26" name="Text 24"/>
          <p:cNvSpPr/>
          <p:nvPr/>
        </p:nvSpPr>
        <p:spPr>
          <a:xfrm>
            <a:off x="1581912" y="3264408"/>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3</a:t>
            </a:r>
            <a:endParaRPr lang="en-US" sz="850" dirty="0"/>
          </a:p>
        </p:txBody>
      </p:sp>
      <p:sp>
        <p:nvSpPr>
          <p:cNvPr id="27" name="Shape 25"/>
          <p:cNvSpPr/>
          <p:nvPr/>
        </p:nvSpPr>
        <p:spPr>
          <a:xfrm>
            <a:off x="2468880" y="3236976"/>
            <a:ext cx="950976" cy="694944"/>
          </a:xfrm>
          <a:prstGeom prst="rect">
            <a:avLst/>
          </a:prstGeom>
          <a:solidFill>
            <a:srgbClr val="00539B">
              <a:alpha val="18000"/>
            </a:srgbClr>
          </a:solidFill>
          <a:ln w="19050">
            <a:solidFill>
              <a:srgbClr val="FFFFFF"/>
            </a:solidFill>
            <a:prstDash val="solid"/>
          </a:ln>
        </p:spPr>
      </p:sp>
      <p:sp>
        <p:nvSpPr>
          <p:cNvPr id="28" name="Text 26"/>
          <p:cNvSpPr/>
          <p:nvPr/>
        </p:nvSpPr>
        <p:spPr>
          <a:xfrm>
            <a:off x="2532888" y="3264408"/>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6</a:t>
            </a:r>
            <a:endParaRPr lang="en-US" sz="850" dirty="0"/>
          </a:p>
        </p:txBody>
      </p:sp>
      <p:sp>
        <p:nvSpPr>
          <p:cNvPr id="29" name="Shape 27"/>
          <p:cNvSpPr/>
          <p:nvPr/>
        </p:nvSpPr>
        <p:spPr>
          <a:xfrm>
            <a:off x="3419856" y="3236976"/>
            <a:ext cx="950976" cy="694944"/>
          </a:xfrm>
          <a:prstGeom prst="rect">
            <a:avLst/>
          </a:prstGeom>
          <a:solidFill>
            <a:srgbClr val="00539B">
              <a:alpha val="18000"/>
            </a:srgbClr>
          </a:solidFill>
          <a:ln w="19050">
            <a:solidFill>
              <a:srgbClr val="FFFFFF"/>
            </a:solidFill>
            <a:prstDash val="solid"/>
          </a:ln>
        </p:spPr>
      </p:sp>
      <p:sp>
        <p:nvSpPr>
          <p:cNvPr id="30" name="Text 28"/>
          <p:cNvSpPr/>
          <p:nvPr/>
        </p:nvSpPr>
        <p:spPr>
          <a:xfrm>
            <a:off x="3483864" y="3264408"/>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9</a:t>
            </a:r>
            <a:endParaRPr lang="en-US" sz="850" dirty="0"/>
          </a:p>
        </p:txBody>
      </p:sp>
      <p:sp>
        <p:nvSpPr>
          <p:cNvPr id="31" name="Shape 29"/>
          <p:cNvSpPr/>
          <p:nvPr/>
        </p:nvSpPr>
        <p:spPr>
          <a:xfrm>
            <a:off x="4370832" y="3236976"/>
            <a:ext cx="950976" cy="694944"/>
          </a:xfrm>
          <a:prstGeom prst="rect">
            <a:avLst/>
          </a:prstGeom>
          <a:solidFill>
            <a:srgbClr val="C87F16">
              <a:alpha val="18000"/>
            </a:srgbClr>
          </a:solidFill>
          <a:ln w="19050">
            <a:solidFill>
              <a:srgbClr val="FFFFFF"/>
            </a:solidFill>
            <a:prstDash val="solid"/>
          </a:ln>
        </p:spPr>
      </p:sp>
      <p:sp>
        <p:nvSpPr>
          <p:cNvPr id="32" name="Text 30"/>
          <p:cNvSpPr/>
          <p:nvPr/>
        </p:nvSpPr>
        <p:spPr>
          <a:xfrm>
            <a:off x="4434840" y="3264408"/>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12</a:t>
            </a:r>
            <a:endParaRPr lang="en-US" sz="850" dirty="0"/>
          </a:p>
        </p:txBody>
      </p:sp>
      <p:sp>
        <p:nvSpPr>
          <p:cNvPr id="33" name="Shape 31"/>
          <p:cNvSpPr/>
          <p:nvPr/>
        </p:nvSpPr>
        <p:spPr>
          <a:xfrm>
            <a:off x="5321808" y="3236976"/>
            <a:ext cx="950976" cy="694944"/>
          </a:xfrm>
          <a:prstGeom prst="rect">
            <a:avLst/>
          </a:prstGeom>
          <a:solidFill>
            <a:srgbClr val="C8102E">
              <a:alpha val="18000"/>
            </a:srgbClr>
          </a:solidFill>
          <a:ln w="19050">
            <a:solidFill>
              <a:srgbClr val="FFFFFF"/>
            </a:solidFill>
            <a:prstDash val="solid"/>
          </a:ln>
        </p:spPr>
      </p:sp>
      <p:sp>
        <p:nvSpPr>
          <p:cNvPr id="34" name="Text 32"/>
          <p:cNvSpPr/>
          <p:nvPr/>
        </p:nvSpPr>
        <p:spPr>
          <a:xfrm>
            <a:off x="5385816" y="3264408"/>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15</a:t>
            </a:r>
            <a:endParaRPr lang="en-US" sz="850" dirty="0"/>
          </a:p>
        </p:txBody>
      </p:sp>
      <p:sp>
        <p:nvSpPr>
          <p:cNvPr id="35" name="Shape 33"/>
          <p:cNvSpPr/>
          <p:nvPr/>
        </p:nvSpPr>
        <p:spPr>
          <a:xfrm>
            <a:off x="1517904" y="2542032"/>
            <a:ext cx="950976" cy="694944"/>
          </a:xfrm>
          <a:prstGeom prst="rect">
            <a:avLst/>
          </a:prstGeom>
          <a:solidFill>
            <a:srgbClr val="2E7D5B">
              <a:alpha val="18000"/>
            </a:srgbClr>
          </a:solidFill>
          <a:ln w="19050">
            <a:solidFill>
              <a:srgbClr val="FFFFFF"/>
            </a:solidFill>
            <a:prstDash val="solid"/>
          </a:ln>
        </p:spPr>
      </p:sp>
      <p:sp>
        <p:nvSpPr>
          <p:cNvPr id="36" name="Text 34"/>
          <p:cNvSpPr/>
          <p:nvPr/>
        </p:nvSpPr>
        <p:spPr>
          <a:xfrm>
            <a:off x="1581912" y="2569464"/>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4</a:t>
            </a:r>
            <a:endParaRPr lang="en-US" sz="850" dirty="0"/>
          </a:p>
        </p:txBody>
      </p:sp>
      <p:sp>
        <p:nvSpPr>
          <p:cNvPr id="37" name="Shape 35"/>
          <p:cNvSpPr/>
          <p:nvPr/>
        </p:nvSpPr>
        <p:spPr>
          <a:xfrm>
            <a:off x="2468880" y="2542032"/>
            <a:ext cx="950976" cy="694944"/>
          </a:xfrm>
          <a:prstGeom prst="rect">
            <a:avLst/>
          </a:prstGeom>
          <a:solidFill>
            <a:srgbClr val="00539B">
              <a:alpha val="18000"/>
            </a:srgbClr>
          </a:solidFill>
          <a:ln w="19050">
            <a:solidFill>
              <a:srgbClr val="FFFFFF"/>
            </a:solidFill>
            <a:prstDash val="solid"/>
          </a:ln>
        </p:spPr>
      </p:sp>
      <p:sp>
        <p:nvSpPr>
          <p:cNvPr id="38" name="Text 36"/>
          <p:cNvSpPr/>
          <p:nvPr/>
        </p:nvSpPr>
        <p:spPr>
          <a:xfrm>
            <a:off x="2532888" y="2569464"/>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8</a:t>
            </a:r>
            <a:endParaRPr lang="en-US" sz="850" dirty="0"/>
          </a:p>
        </p:txBody>
      </p:sp>
      <p:sp>
        <p:nvSpPr>
          <p:cNvPr id="39" name="Shape 37"/>
          <p:cNvSpPr/>
          <p:nvPr/>
        </p:nvSpPr>
        <p:spPr>
          <a:xfrm>
            <a:off x="3419856" y="2542032"/>
            <a:ext cx="950976" cy="694944"/>
          </a:xfrm>
          <a:prstGeom prst="rect">
            <a:avLst/>
          </a:prstGeom>
          <a:solidFill>
            <a:srgbClr val="C87F16">
              <a:alpha val="18000"/>
            </a:srgbClr>
          </a:solidFill>
          <a:ln w="19050">
            <a:solidFill>
              <a:srgbClr val="FFFFFF"/>
            </a:solidFill>
            <a:prstDash val="solid"/>
          </a:ln>
        </p:spPr>
      </p:sp>
      <p:sp>
        <p:nvSpPr>
          <p:cNvPr id="40" name="Text 38"/>
          <p:cNvSpPr/>
          <p:nvPr/>
        </p:nvSpPr>
        <p:spPr>
          <a:xfrm>
            <a:off x="3483864" y="2569464"/>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12</a:t>
            </a:r>
            <a:endParaRPr lang="en-US" sz="850" dirty="0"/>
          </a:p>
        </p:txBody>
      </p:sp>
      <p:sp>
        <p:nvSpPr>
          <p:cNvPr id="41" name="Shape 39"/>
          <p:cNvSpPr/>
          <p:nvPr/>
        </p:nvSpPr>
        <p:spPr>
          <a:xfrm>
            <a:off x="4370832" y="2542032"/>
            <a:ext cx="950976" cy="694944"/>
          </a:xfrm>
          <a:prstGeom prst="rect">
            <a:avLst/>
          </a:prstGeom>
          <a:solidFill>
            <a:srgbClr val="C8102E">
              <a:alpha val="18000"/>
            </a:srgbClr>
          </a:solidFill>
          <a:ln w="19050">
            <a:solidFill>
              <a:srgbClr val="FFFFFF"/>
            </a:solidFill>
            <a:prstDash val="solid"/>
          </a:ln>
        </p:spPr>
      </p:sp>
      <p:sp>
        <p:nvSpPr>
          <p:cNvPr id="42" name="Text 40"/>
          <p:cNvSpPr/>
          <p:nvPr/>
        </p:nvSpPr>
        <p:spPr>
          <a:xfrm>
            <a:off x="4434840" y="2569464"/>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16</a:t>
            </a:r>
            <a:endParaRPr lang="en-US" sz="850" dirty="0"/>
          </a:p>
        </p:txBody>
      </p:sp>
      <p:sp>
        <p:nvSpPr>
          <p:cNvPr id="43" name="Shape 41"/>
          <p:cNvSpPr/>
          <p:nvPr/>
        </p:nvSpPr>
        <p:spPr>
          <a:xfrm>
            <a:off x="5321808" y="2542032"/>
            <a:ext cx="950976" cy="694944"/>
          </a:xfrm>
          <a:prstGeom prst="rect">
            <a:avLst/>
          </a:prstGeom>
          <a:solidFill>
            <a:srgbClr val="C8102E">
              <a:alpha val="18000"/>
            </a:srgbClr>
          </a:solidFill>
          <a:ln w="19050">
            <a:solidFill>
              <a:srgbClr val="FFFFFF"/>
            </a:solidFill>
            <a:prstDash val="solid"/>
          </a:ln>
        </p:spPr>
      </p:sp>
      <p:sp>
        <p:nvSpPr>
          <p:cNvPr id="44" name="Text 42"/>
          <p:cNvSpPr/>
          <p:nvPr/>
        </p:nvSpPr>
        <p:spPr>
          <a:xfrm>
            <a:off x="5385816" y="2569464"/>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20</a:t>
            </a:r>
            <a:endParaRPr lang="en-US" sz="850" dirty="0"/>
          </a:p>
        </p:txBody>
      </p:sp>
      <p:sp>
        <p:nvSpPr>
          <p:cNvPr id="45" name="Shape 43"/>
          <p:cNvSpPr/>
          <p:nvPr/>
        </p:nvSpPr>
        <p:spPr>
          <a:xfrm>
            <a:off x="1517904" y="1847088"/>
            <a:ext cx="950976" cy="694944"/>
          </a:xfrm>
          <a:prstGeom prst="rect">
            <a:avLst/>
          </a:prstGeom>
          <a:solidFill>
            <a:srgbClr val="00539B">
              <a:alpha val="18000"/>
            </a:srgbClr>
          </a:solidFill>
          <a:ln w="19050">
            <a:solidFill>
              <a:srgbClr val="FFFFFF"/>
            </a:solidFill>
            <a:prstDash val="solid"/>
          </a:ln>
        </p:spPr>
      </p:sp>
      <p:sp>
        <p:nvSpPr>
          <p:cNvPr id="46" name="Text 44"/>
          <p:cNvSpPr/>
          <p:nvPr/>
        </p:nvSpPr>
        <p:spPr>
          <a:xfrm>
            <a:off x="1581912" y="1874520"/>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5</a:t>
            </a:r>
            <a:endParaRPr lang="en-US" sz="850" dirty="0"/>
          </a:p>
        </p:txBody>
      </p:sp>
      <p:sp>
        <p:nvSpPr>
          <p:cNvPr id="47" name="Shape 45"/>
          <p:cNvSpPr/>
          <p:nvPr/>
        </p:nvSpPr>
        <p:spPr>
          <a:xfrm>
            <a:off x="2468880" y="1847088"/>
            <a:ext cx="950976" cy="694944"/>
          </a:xfrm>
          <a:prstGeom prst="rect">
            <a:avLst/>
          </a:prstGeom>
          <a:solidFill>
            <a:srgbClr val="C87F16">
              <a:alpha val="18000"/>
            </a:srgbClr>
          </a:solidFill>
          <a:ln w="19050">
            <a:solidFill>
              <a:srgbClr val="FFFFFF"/>
            </a:solidFill>
            <a:prstDash val="solid"/>
          </a:ln>
        </p:spPr>
      </p:sp>
      <p:sp>
        <p:nvSpPr>
          <p:cNvPr id="48" name="Text 46"/>
          <p:cNvSpPr/>
          <p:nvPr/>
        </p:nvSpPr>
        <p:spPr>
          <a:xfrm>
            <a:off x="2532888" y="1874520"/>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10</a:t>
            </a:r>
            <a:endParaRPr lang="en-US" sz="850" dirty="0"/>
          </a:p>
        </p:txBody>
      </p:sp>
      <p:sp>
        <p:nvSpPr>
          <p:cNvPr id="49" name="Shape 47"/>
          <p:cNvSpPr/>
          <p:nvPr/>
        </p:nvSpPr>
        <p:spPr>
          <a:xfrm>
            <a:off x="3419856" y="1847088"/>
            <a:ext cx="950976" cy="694944"/>
          </a:xfrm>
          <a:prstGeom prst="rect">
            <a:avLst/>
          </a:prstGeom>
          <a:solidFill>
            <a:srgbClr val="C8102E">
              <a:alpha val="18000"/>
            </a:srgbClr>
          </a:solidFill>
          <a:ln w="19050">
            <a:solidFill>
              <a:srgbClr val="FFFFFF"/>
            </a:solidFill>
            <a:prstDash val="solid"/>
          </a:ln>
        </p:spPr>
      </p:sp>
      <p:sp>
        <p:nvSpPr>
          <p:cNvPr id="50" name="Text 48"/>
          <p:cNvSpPr/>
          <p:nvPr/>
        </p:nvSpPr>
        <p:spPr>
          <a:xfrm>
            <a:off x="3483864" y="1874520"/>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15</a:t>
            </a:r>
            <a:endParaRPr lang="en-US" sz="850" dirty="0"/>
          </a:p>
        </p:txBody>
      </p:sp>
      <p:sp>
        <p:nvSpPr>
          <p:cNvPr id="51" name="Shape 49"/>
          <p:cNvSpPr/>
          <p:nvPr/>
        </p:nvSpPr>
        <p:spPr>
          <a:xfrm>
            <a:off x="4370832" y="1847088"/>
            <a:ext cx="950976" cy="694944"/>
          </a:xfrm>
          <a:prstGeom prst="rect">
            <a:avLst/>
          </a:prstGeom>
          <a:solidFill>
            <a:srgbClr val="C8102E">
              <a:alpha val="18000"/>
            </a:srgbClr>
          </a:solidFill>
          <a:ln w="19050">
            <a:solidFill>
              <a:srgbClr val="FFFFFF"/>
            </a:solidFill>
            <a:prstDash val="solid"/>
          </a:ln>
        </p:spPr>
      </p:sp>
      <p:sp>
        <p:nvSpPr>
          <p:cNvPr id="52" name="Text 50"/>
          <p:cNvSpPr/>
          <p:nvPr/>
        </p:nvSpPr>
        <p:spPr>
          <a:xfrm>
            <a:off x="4434840" y="1874520"/>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20</a:t>
            </a:r>
            <a:endParaRPr lang="en-US" sz="850" dirty="0"/>
          </a:p>
        </p:txBody>
      </p:sp>
      <p:sp>
        <p:nvSpPr>
          <p:cNvPr id="53" name="Shape 51"/>
          <p:cNvSpPr/>
          <p:nvPr/>
        </p:nvSpPr>
        <p:spPr>
          <a:xfrm>
            <a:off x="5321808" y="1847088"/>
            <a:ext cx="950976" cy="694944"/>
          </a:xfrm>
          <a:prstGeom prst="rect">
            <a:avLst/>
          </a:prstGeom>
          <a:solidFill>
            <a:srgbClr val="C8102E">
              <a:alpha val="18000"/>
            </a:srgbClr>
          </a:solidFill>
          <a:ln w="19050">
            <a:solidFill>
              <a:srgbClr val="FFFFFF"/>
            </a:solidFill>
            <a:prstDash val="solid"/>
          </a:ln>
        </p:spPr>
      </p:sp>
      <p:sp>
        <p:nvSpPr>
          <p:cNvPr id="54" name="Text 52"/>
          <p:cNvSpPr/>
          <p:nvPr/>
        </p:nvSpPr>
        <p:spPr>
          <a:xfrm>
            <a:off x="5385816" y="1874520"/>
            <a:ext cx="365760" cy="182880"/>
          </a:xfrm>
          <a:prstGeom prst="rect">
            <a:avLst/>
          </a:prstGeom>
          <a:noFill/>
          <a:ln/>
        </p:spPr>
        <p:txBody>
          <a:bodyPr wrap="square" lIns="0" tIns="0" rIns="0" bIns="0" rtlCol="0" anchor="ctr"/>
          <a:lstStyle/>
          <a:p>
            <a:pPr algn="l" indent="0" marL="0">
              <a:buNone/>
            </a:pPr>
            <a:r>
              <a:rPr lang="en-US" sz="850" dirty="0">
                <a:solidFill>
                  <a:srgbClr val="8494A6"/>
                </a:solidFill>
                <a:latin typeface="Calibri" pitchFamily="34" charset="0"/>
                <a:ea typeface="Calibri" pitchFamily="34" charset="-122"/>
                <a:cs typeface="Calibri" pitchFamily="34" charset="-120"/>
              </a:rPr>
              <a:t>25</a:t>
            </a:r>
            <a:endParaRPr lang="en-US" sz="850" dirty="0"/>
          </a:p>
        </p:txBody>
      </p:sp>
      <p:sp>
        <p:nvSpPr>
          <p:cNvPr id="55" name="Text 53"/>
          <p:cNvSpPr/>
          <p:nvPr/>
        </p:nvSpPr>
        <p:spPr>
          <a:xfrm>
            <a:off x="969264" y="4626864"/>
            <a:ext cx="438912" cy="694944"/>
          </a:xfrm>
          <a:prstGeom prst="rect">
            <a:avLst/>
          </a:prstGeom>
          <a:noFill/>
          <a:ln/>
        </p:spPr>
        <p:txBody>
          <a:bodyPr wrap="square" lIns="0" tIns="0" rIns="0" bIns="0" rtlCol="0" anchor="ctr"/>
          <a:lstStyle/>
          <a:p>
            <a:pPr algn="r" indent="0" marL="0">
              <a:buNone/>
            </a:pPr>
            <a:r>
              <a:rPr lang="en-US" sz="1100" b="1" dirty="0">
                <a:solidFill>
                  <a:srgbClr val="56677A"/>
                </a:solidFill>
                <a:latin typeface="Calibri" pitchFamily="34" charset="0"/>
                <a:ea typeface="Calibri" pitchFamily="34" charset="-122"/>
                <a:cs typeface="Calibri" pitchFamily="34" charset="-120"/>
              </a:rPr>
              <a:t>P1</a:t>
            </a:r>
            <a:endParaRPr lang="en-US" sz="1100" dirty="0"/>
          </a:p>
        </p:txBody>
      </p:sp>
      <p:sp>
        <p:nvSpPr>
          <p:cNvPr id="56" name="Text 54"/>
          <p:cNvSpPr/>
          <p:nvPr/>
        </p:nvSpPr>
        <p:spPr>
          <a:xfrm>
            <a:off x="969264" y="3931920"/>
            <a:ext cx="438912" cy="694944"/>
          </a:xfrm>
          <a:prstGeom prst="rect">
            <a:avLst/>
          </a:prstGeom>
          <a:noFill/>
          <a:ln/>
        </p:spPr>
        <p:txBody>
          <a:bodyPr wrap="square" lIns="0" tIns="0" rIns="0" bIns="0" rtlCol="0" anchor="ctr"/>
          <a:lstStyle/>
          <a:p>
            <a:pPr algn="r" indent="0" marL="0">
              <a:buNone/>
            </a:pPr>
            <a:r>
              <a:rPr lang="en-US" sz="1100" b="1" dirty="0">
                <a:solidFill>
                  <a:srgbClr val="56677A"/>
                </a:solidFill>
                <a:latin typeface="Calibri" pitchFamily="34" charset="0"/>
                <a:ea typeface="Calibri" pitchFamily="34" charset="-122"/>
                <a:cs typeface="Calibri" pitchFamily="34" charset="-120"/>
              </a:rPr>
              <a:t>P2</a:t>
            </a:r>
            <a:endParaRPr lang="en-US" sz="1100" dirty="0"/>
          </a:p>
        </p:txBody>
      </p:sp>
      <p:sp>
        <p:nvSpPr>
          <p:cNvPr id="57" name="Text 55"/>
          <p:cNvSpPr/>
          <p:nvPr/>
        </p:nvSpPr>
        <p:spPr>
          <a:xfrm>
            <a:off x="969264" y="3236976"/>
            <a:ext cx="438912" cy="694944"/>
          </a:xfrm>
          <a:prstGeom prst="rect">
            <a:avLst/>
          </a:prstGeom>
          <a:noFill/>
          <a:ln/>
        </p:spPr>
        <p:txBody>
          <a:bodyPr wrap="square" lIns="0" tIns="0" rIns="0" bIns="0" rtlCol="0" anchor="ctr"/>
          <a:lstStyle/>
          <a:p>
            <a:pPr algn="r" indent="0" marL="0">
              <a:buNone/>
            </a:pPr>
            <a:r>
              <a:rPr lang="en-US" sz="1100" b="1" dirty="0">
                <a:solidFill>
                  <a:srgbClr val="56677A"/>
                </a:solidFill>
                <a:latin typeface="Calibri" pitchFamily="34" charset="0"/>
                <a:ea typeface="Calibri" pitchFamily="34" charset="-122"/>
                <a:cs typeface="Calibri" pitchFamily="34" charset="-120"/>
              </a:rPr>
              <a:t>P3</a:t>
            </a:r>
            <a:endParaRPr lang="en-US" sz="1100" dirty="0"/>
          </a:p>
        </p:txBody>
      </p:sp>
      <p:sp>
        <p:nvSpPr>
          <p:cNvPr id="58" name="Text 56"/>
          <p:cNvSpPr/>
          <p:nvPr/>
        </p:nvSpPr>
        <p:spPr>
          <a:xfrm>
            <a:off x="969264" y="2542032"/>
            <a:ext cx="438912" cy="694944"/>
          </a:xfrm>
          <a:prstGeom prst="rect">
            <a:avLst/>
          </a:prstGeom>
          <a:noFill/>
          <a:ln/>
        </p:spPr>
        <p:txBody>
          <a:bodyPr wrap="square" lIns="0" tIns="0" rIns="0" bIns="0" rtlCol="0" anchor="ctr"/>
          <a:lstStyle/>
          <a:p>
            <a:pPr algn="r" indent="0" marL="0">
              <a:buNone/>
            </a:pPr>
            <a:r>
              <a:rPr lang="en-US" sz="1100" b="1" dirty="0">
                <a:solidFill>
                  <a:srgbClr val="56677A"/>
                </a:solidFill>
                <a:latin typeface="Calibri" pitchFamily="34" charset="0"/>
                <a:ea typeface="Calibri" pitchFamily="34" charset="-122"/>
                <a:cs typeface="Calibri" pitchFamily="34" charset="-120"/>
              </a:rPr>
              <a:t>P4</a:t>
            </a:r>
            <a:endParaRPr lang="en-US" sz="1100" dirty="0"/>
          </a:p>
        </p:txBody>
      </p:sp>
      <p:sp>
        <p:nvSpPr>
          <p:cNvPr id="59" name="Text 57"/>
          <p:cNvSpPr/>
          <p:nvPr/>
        </p:nvSpPr>
        <p:spPr>
          <a:xfrm>
            <a:off x="969264" y="1847088"/>
            <a:ext cx="438912" cy="694944"/>
          </a:xfrm>
          <a:prstGeom prst="rect">
            <a:avLst/>
          </a:prstGeom>
          <a:noFill/>
          <a:ln/>
        </p:spPr>
        <p:txBody>
          <a:bodyPr wrap="square" lIns="0" tIns="0" rIns="0" bIns="0" rtlCol="0" anchor="ctr"/>
          <a:lstStyle/>
          <a:p>
            <a:pPr algn="r" indent="0" marL="0">
              <a:buNone/>
            </a:pPr>
            <a:r>
              <a:rPr lang="en-US" sz="1100" b="1" dirty="0">
                <a:solidFill>
                  <a:srgbClr val="56677A"/>
                </a:solidFill>
                <a:latin typeface="Calibri" pitchFamily="34" charset="0"/>
                <a:ea typeface="Calibri" pitchFamily="34" charset="-122"/>
                <a:cs typeface="Calibri" pitchFamily="34" charset="-120"/>
              </a:rPr>
              <a:t>P5</a:t>
            </a:r>
            <a:endParaRPr lang="en-US" sz="1100" dirty="0"/>
          </a:p>
        </p:txBody>
      </p:sp>
      <p:sp>
        <p:nvSpPr>
          <p:cNvPr id="60" name="Text 58"/>
          <p:cNvSpPr/>
          <p:nvPr/>
        </p:nvSpPr>
        <p:spPr>
          <a:xfrm>
            <a:off x="1517904" y="5358384"/>
            <a:ext cx="950976" cy="237744"/>
          </a:xfrm>
          <a:prstGeom prst="rect">
            <a:avLst/>
          </a:prstGeom>
          <a:noFill/>
          <a:ln/>
        </p:spPr>
        <p:txBody>
          <a:bodyPr wrap="square" lIns="0" tIns="0" rIns="0" bIns="0" rtlCol="0" anchor="ctr"/>
          <a:lstStyle/>
          <a:p>
            <a:pPr algn="ctr" indent="0" marL="0">
              <a:buNone/>
            </a:pPr>
            <a:r>
              <a:rPr lang="en-US" sz="1100" b="1" dirty="0">
                <a:solidFill>
                  <a:srgbClr val="56677A"/>
                </a:solidFill>
                <a:latin typeface="Calibri" pitchFamily="34" charset="0"/>
                <a:ea typeface="Calibri" pitchFamily="34" charset="-122"/>
                <a:cs typeface="Calibri" pitchFamily="34" charset="-120"/>
              </a:rPr>
              <a:t>C1</a:t>
            </a:r>
            <a:endParaRPr lang="en-US" sz="1100" dirty="0"/>
          </a:p>
        </p:txBody>
      </p:sp>
      <p:sp>
        <p:nvSpPr>
          <p:cNvPr id="61" name="Text 59"/>
          <p:cNvSpPr/>
          <p:nvPr/>
        </p:nvSpPr>
        <p:spPr>
          <a:xfrm>
            <a:off x="2468880" y="5358384"/>
            <a:ext cx="950976" cy="237744"/>
          </a:xfrm>
          <a:prstGeom prst="rect">
            <a:avLst/>
          </a:prstGeom>
          <a:noFill/>
          <a:ln/>
        </p:spPr>
        <p:txBody>
          <a:bodyPr wrap="square" lIns="0" tIns="0" rIns="0" bIns="0" rtlCol="0" anchor="ctr"/>
          <a:lstStyle/>
          <a:p>
            <a:pPr algn="ctr" indent="0" marL="0">
              <a:buNone/>
            </a:pPr>
            <a:r>
              <a:rPr lang="en-US" sz="1100" b="1" dirty="0">
                <a:solidFill>
                  <a:srgbClr val="56677A"/>
                </a:solidFill>
                <a:latin typeface="Calibri" pitchFamily="34" charset="0"/>
                <a:ea typeface="Calibri" pitchFamily="34" charset="-122"/>
                <a:cs typeface="Calibri" pitchFamily="34" charset="-120"/>
              </a:rPr>
              <a:t>C2</a:t>
            </a:r>
            <a:endParaRPr lang="en-US" sz="1100" dirty="0"/>
          </a:p>
        </p:txBody>
      </p:sp>
      <p:sp>
        <p:nvSpPr>
          <p:cNvPr id="62" name="Text 60"/>
          <p:cNvSpPr/>
          <p:nvPr/>
        </p:nvSpPr>
        <p:spPr>
          <a:xfrm>
            <a:off x="3419856" y="5358384"/>
            <a:ext cx="950976" cy="237744"/>
          </a:xfrm>
          <a:prstGeom prst="rect">
            <a:avLst/>
          </a:prstGeom>
          <a:noFill/>
          <a:ln/>
        </p:spPr>
        <p:txBody>
          <a:bodyPr wrap="square" lIns="0" tIns="0" rIns="0" bIns="0" rtlCol="0" anchor="ctr"/>
          <a:lstStyle/>
          <a:p>
            <a:pPr algn="ctr" indent="0" marL="0">
              <a:buNone/>
            </a:pPr>
            <a:r>
              <a:rPr lang="en-US" sz="1100" b="1" dirty="0">
                <a:solidFill>
                  <a:srgbClr val="56677A"/>
                </a:solidFill>
                <a:latin typeface="Calibri" pitchFamily="34" charset="0"/>
                <a:ea typeface="Calibri" pitchFamily="34" charset="-122"/>
                <a:cs typeface="Calibri" pitchFamily="34" charset="-120"/>
              </a:rPr>
              <a:t>C3</a:t>
            </a:r>
            <a:endParaRPr lang="en-US" sz="1100" dirty="0"/>
          </a:p>
        </p:txBody>
      </p:sp>
      <p:sp>
        <p:nvSpPr>
          <p:cNvPr id="63" name="Text 61"/>
          <p:cNvSpPr/>
          <p:nvPr/>
        </p:nvSpPr>
        <p:spPr>
          <a:xfrm>
            <a:off x="4370832" y="5358384"/>
            <a:ext cx="950976" cy="237744"/>
          </a:xfrm>
          <a:prstGeom prst="rect">
            <a:avLst/>
          </a:prstGeom>
          <a:noFill/>
          <a:ln/>
        </p:spPr>
        <p:txBody>
          <a:bodyPr wrap="square" lIns="0" tIns="0" rIns="0" bIns="0" rtlCol="0" anchor="ctr"/>
          <a:lstStyle/>
          <a:p>
            <a:pPr algn="ctr" indent="0" marL="0">
              <a:buNone/>
            </a:pPr>
            <a:r>
              <a:rPr lang="en-US" sz="1100" b="1" dirty="0">
                <a:solidFill>
                  <a:srgbClr val="56677A"/>
                </a:solidFill>
                <a:latin typeface="Calibri" pitchFamily="34" charset="0"/>
                <a:ea typeface="Calibri" pitchFamily="34" charset="-122"/>
                <a:cs typeface="Calibri" pitchFamily="34" charset="-120"/>
              </a:rPr>
              <a:t>C4</a:t>
            </a:r>
            <a:endParaRPr lang="en-US" sz="1100" dirty="0"/>
          </a:p>
        </p:txBody>
      </p:sp>
      <p:sp>
        <p:nvSpPr>
          <p:cNvPr id="64" name="Text 62"/>
          <p:cNvSpPr/>
          <p:nvPr/>
        </p:nvSpPr>
        <p:spPr>
          <a:xfrm>
            <a:off x="5321808" y="5358384"/>
            <a:ext cx="950976" cy="237744"/>
          </a:xfrm>
          <a:prstGeom prst="rect">
            <a:avLst/>
          </a:prstGeom>
          <a:noFill/>
          <a:ln/>
        </p:spPr>
        <p:txBody>
          <a:bodyPr wrap="square" lIns="0" tIns="0" rIns="0" bIns="0" rtlCol="0" anchor="ctr"/>
          <a:lstStyle/>
          <a:p>
            <a:pPr algn="ctr" indent="0" marL="0">
              <a:buNone/>
            </a:pPr>
            <a:r>
              <a:rPr lang="en-US" sz="1100" b="1" dirty="0">
                <a:solidFill>
                  <a:srgbClr val="56677A"/>
                </a:solidFill>
                <a:latin typeface="Calibri" pitchFamily="34" charset="0"/>
                <a:ea typeface="Calibri" pitchFamily="34" charset="-122"/>
                <a:cs typeface="Calibri" pitchFamily="34" charset="-120"/>
              </a:rPr>
              <a:t>C5</a:t>
            </a:r>
            <a:endParaRPr lang="en-US" sz="1100" dirty="0"/>
          </a:p>
        </p:txBody>
      </p:sp>
      <p:sp>
        <p:nvSpPr>
          <p:cNvPr id="65" name="Text 63"/>
          <p:cNvSpPr/>
          <p:nvPr/>
        </p:nvSpPr>
        <p:spPr>
          <a:xfrm rot="16200000">
            <a:off x="146304" y="3035808"/>
            <a:ext cx="1371600" cy="1097280"/>
          </a:xfrm>
          <a:prstGeom prst="rect">
            <a:avLst/>
          </a:prstGeom>
          <a:noFill/>
          <a:ln/>
        </p:spPr>
        <p:txBody>
          <a:bodyPr wrap="square" lIns="0" tIns="0" rIns="0" bIns="0" rtlCol="0" anchor="ctr"/>
          <a:lstStyle/>
          <a:p>
            <a:pPr algn="ctr" indent="0" marL="0">
              <a:buNone/>
            </a:pPr>
            <a:r>
              <a:rPr lang="en-US" sz="850" b="1" spc="100" kern="0" dirty="0">
                <a:solidFill>
                  <a:srgbClr val="9AA8B8"/>
                </a:solidFill>
                <a:latin typeface="Calibri" pitchFamily="34" charset="0"/>
                <a:ea typeface="Calibri" pitchFamily="34" charset="-122"/>
                <a:cs typeface="Calibri" pitchFamily="34" charset="-120"/>
              </a:rPr>
              <a:t>PROBABILITY</a:t>
            </a:r>
            <a:endParaRPr lang="en-US" sz="850" dirty="0"/>
          </a:p>
        </p:txBody>
      </p:sp>
      <p:sp>
        <p:nvSpPr>
          <p:cNvPr id="66" name="Text 64"/>
          <p:cNvSpPr/>
          <p:nvPr/>
        </p:nvSpPr>
        <p:spPr>
          <a:xfrm>
            <a:off x="1517904" y="5614416"/>
            <a:ext cx="4754880" cy="237744"/>
          </a:xfrm>
          <a:prstGeom prst="rect">
            <a:avLst/>
          </a:prstGeom>
          <a:noFill/>
          <a:ln/>
        </p:spPr>
        <p:txBody>
          <a:bodyPr wrap="square" lIns="0" tIns="0" rIns="0" bIns="0" rtlCol="0" anchor="ctr"/>
          <a:lstStyle/>
          <a:p>
            <a:pPr algn="ctr" indent="0" marL="0">
              <a:buNone/>
            </a:pPr>
            <a:r>
              <a:rPr lang="en-US" sz="850" b="1" spc="100" kern="0" dirty="0">
                <a:solidFill>
                  <a:srgbClr val="9AA8B8"/>
                </a:solidFill>
                <a:latin typeface="Calibri" pitchFamily="34" charset="0"/>
                <a:ea typeface="Calibri" pitchFamily="34" charset="-122"/>
                <a:cs typeface="Calibri" pitchFamily="34" charset="-120"/>
              </a:rPr>
              <a:t>CONSEQUENCE</a:t>
            </a:r>
            <a:endParaRPr lang="en-US" sz="850" dirty="0"/>
          </a:p>
        </p:txBody>
      </p:sp>
      <p:sp>
        <p:nvSpPr>
          <p:cNvPr id="67" name="Shape 65"/>
          <p:cNvSpPr/>
          <p:nvPr/>
        </p:nvSpPr>
        <p:spPr>
          <a:xfrm>
            <a:off x="4645152" y="2359152"/>
            <a:ext cx="3658" cy="2103120"/>
          </a:xfrm>
          <a:prstGeom prst="line">
            <a:avLst/>
          </a:prstGeom>
          <a:noFill/>
          <a:ln w="22225">
            <a:solidFill>
              <a:srgbClr val="00539B"/>
            </a:solidFill>
            <a:prstDash val="sysDash"/>
            <a:tailEnd type="triangle"/>
          </a:ln>
        </p:spPr>
      </p:sp>
      <p:sp>
        <p:nvSpPr>
          <p:cNvPr id="68" name="Shape 66"/>
          <p:cNvSpPr/>
          <p:nvPr/>
        </p:nvSpPr>
        <p:spPr>
          <a:xfrm flipV="1">
            <a:off x="3895344" y="2359152"/>
            <a:ext cx="1152144" cy="2103120"/>
          </a:xfrm>
          <a:prstGeom prst="line">
            <a:avLst/>
          </a:prstGeom>
          <a:noFill/>
          <a:ln w="22225">
            <a:solidFill>
              <a:srgbClr val="C87F16"/>
            </a:solidFill>
            <a:prstDash val="sysDash"/>
            <a:headEnd type="triangle"/>
          </a:ln>
        </p:spPr>
      </p:sp>
      <p:sp>
        <p:nvSpPr>
          <p:cNvPr id="69" name="Shape 67"/>
          <p:cNvSpPr/>
          <p:nvPr/>
        </p:nvSpPr>
        <p:spPr>
          <a:xfrm>
            <a:off x="5797296" y="3054096"/>
            <a:ext cx="3658" cy="1408176"/>
          </a:xfrm>
          <a:prstGeom prst="line">
            <a:avLst/>
          </a:prstGeom>
          <a:noFill/>
          <a:ln w="22225">
            <a:solidFill>
              <a:srgbClr val="C8102E"/>
            </a:solidFill>
            <a:prstDash val="sysDash"/>
            <a:tailEnd type="triangle"/>
          </a:ln>
        </p:spPr>
      </p:sp>
      <p:sp>
        <p:nvSpPr>
          <p:cNvPr id="70" name="Shape 68"/>
          <p:cNvSpPr/>
          <p:nvPr/>
        </p:nvSpPr>
        <p:spPr>
          <a:xfrm>
            <a:off x="5797296" y="3749040"/>
            <a:ext cx="3658" cy="1408176"/>
          </a:xfrm>
          <a:prstGeom prst="line">
            <a:avLst/>
          </a:prstGeom>
          <a:noFill/>
          <a:ln w="22225">
            <a:solidFill>
              <a:srgbClr val="2E7D5B"/>
            </a:solidFill>
            <a:prstDash val="sysDash"/>
            <a:tailEnd type="triangle"/>
          </a:ln>
        </p:spPr>
      </p:sp>
      <p:sp>
        <p:nvSpPr>
          <p:cNvPr id="71" name="Shape 69"/>
          <p:cNvSpPr/>
          <p:nvPr/>
        </p:nvSpPr>
        <p:spPr>
          <a:xfrm>
            <a:off x="4498848" y="4133088"/>
            <a:ext cx="292608" cy="292608"/>
          </a:xfrm>
          <a:prstGeom prst="ellipse">
            <a:avLst/>
          </a:prstGeom>
          <a:solidFill>
            <a:srgbClr val="FFFFFF"/>
          </a:solidFill>
          <a:ln w="25400">
            <a:solidFill>
              <a:srgbClr val="00539B"/>
            </a:solidFill>
            <a:prstDash val="solid"/>
          </a:ln>
        </p:spPr>
      </p:sp>
      <p:sp>
        <p:nvSpPr>
          <p:cNvPr id="72" name="Text 70"/>
          <p:cNvSpPr/>
          <p:nvPr/>
        </p:nvSpPr>
        <p:spPr>
          <a:xfrm>
            <a:off x="4498848" y="4133088"/>
            <a:ext cx="292608" cy="292608"/>
          </a:xfrm>
          <a:prstGeom prst="rect">
            <a:avLst/>
          </a:prstGeom>
          <a:noFill/>
          <a:ln/>
        </p:spPr>
        <p:txBody>
          <a:bodyPr wrap="square" lIns="0" tIns="0" rIns="0" bIns="0" rtlCol="0" anchor="ctr"/>
          <a:lstStyle/>
          <a:p>
            <a:pPr algn="ctr" indent="0" marL="0">
              <a:buNone/>
            </a:pPr>
            <a:r>
              <a:rPr lang="en-US" sz="1000" b="1" dirty="0">
                <a:solidFill>
                  <a:srgbClr val="00539B"/>
                </a:solidFill>
                <a:latin typeface="Calibri" pitchFamily="34" charset="0"/>
                <a:ea typeface="Calibri" pitchFamily="34" charset="-122"/>
                <a:cs typeface="Calibri" pitchFamily="34" charset="-120"/>
              </a:rPr>
              <a:t>1</a:t>
            </a:r>
            <a:endParaRPr lang="en-US" sz="1000" dirty="0"/>
          </a:p>
        </p:txBody>
      </p:sp>
      <p:sp>
        <p:nvSpPr>
          <p:cNvPr id="73" name="Shape 71"/>
          <p:cNvSpPr/>
          <p:nvPr/>
        </p:nvSpPr>
        <p:spPr>
          <a:xfrm>
            <a:off x="4498848" y="2048256"/>
            <a:ext cx="292608" cy="292608"/>
          </a:xfrm>
          <a:prstGeom prst="ellipse">
            <a:avLst/>
          </a:prstGeom>
          <a:solidFill>
            <a:srgbClr val="00539B"/>
          </a:solidFill>
          <a:ln w="19050">
            <a:solidFill>
              <a:srgbClr val="FFFFFF"/>
            </a:solidFill>
            <a:prstDash val="solid"/>
          </a:ln>
        </p:spPr>
      </p:sp>
      <p:sp>
        <p:nvSpPr>
          <p:cNvPr id="74" name="Text 72"/>
          <p:cNvSpPr/>
          <p:nvPr/>
        </p:nvSpPr>
        <p:spPr>
          <a:xfrm>
            <a:off x="4498848" y="20482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5" name="Shape 73"/>
          <p:cNvSpPr/>
          <p:nvPr/>
        </p:nvSpPr>
        <p:spPr>
          <a:xfrm>
            <a:off x="3749040" y="4133088"/>
            <a:ext cx="292608" cy="292608"/>
          </a:xfrm>
          <a:prstGeom prst="ellipse">
            <a:avLst/>
          </a:prstGeom>
          <a:solidFill>
            <a:srgbClr val="FFFFFF"/>
          </a:solidFill>
          <a:ln w="25400">
            <a:solidFill>
              <a:srgbClr val="C87F16"/>
            </a:solidFill>
            <a:prstDash val="solid"/>
          </a:ln>
        </p:spPr>
      </p:sp>
      <p:sp>
        <p:nvSpPr>
          <p:cNvPr id="76" name="Text 74"/>
          <p:cNvSpPr/>
          <p:nvPr/>
        </p:nvSpPr>
        <p:spPr>
          <a:xfrm>
            <a:off x="3749040" y="4133088"/>
            <a:ext cx="292608" cy="292608"/>
          </a:xfrm>
          <a:prstGeom prst="rect">
            <a:avLst/>
          </a:prstGeom>
          <a:noFill/>
          <a:ln/>
        </p:spPr>
        <p:txBody>
          <a:bodyPr wrap="square" lIns="0" tIns="0" rIns="0" bIns="0" rtlCol="0" anchor="ctr"/>
          <a:lstStyle/>
          <a:p>
            <a:pPr algn="ctr" indent="0" marL="0">
              <a:buNone/>
            </a:pPr>
            <a:r>
              <a:rPr lang="en-US" sz="1000" b="1" dirty="0">
                <a:solidFill>
                  <a:srgbClr val="C87F16"/>
                </a:solidFill>
                <a:latin typeface="Calibri" pitchFamily="34" charset="0"/>
                <a:ea typeface="Calibri" pitchFamily="34" charset="-122"/>
                <a:cs typeface="Calibri" pitchFamily="34" charset="-120"/>
              </a:rPr>
              <a:t>2</a:t>
            </a:r>
            <a:endParaRPr lang="en-US" sz="1000" dirty="0"/>
          </a:p>
        </p:txBody>
      </p:sp>
      <p:sp>
        <p:nvSpPr>
          <p:cNvPr id="77" name="Shape 75"/>
          <p:cNvSpPr/>
          <p:nvPr/>
        </p:nvSpPr>
        <p:spPr>
          <a:xfrm>
            <a:off x="4901184" y="2048256"/>
            <a:ext cx="292608" cy="292608"/>
          </a:xfrm>
          <a:prstGeom prst="ellipse">
            <a:avLst/>
          </a:prstGeom>
          <a:solidFill>
            <a:srgbClr val="C87F16"/>
          </a:solidFill>
          <a:ln w="19050">
            <a:solidFill>
              <a:srgbClr val="FFFFFF"/>
            </a:solidFill>
            <a:prstDash val="solid"/>
          </a:ln>
        </p:spPr>
      </p:sp>
      <p:sp>
        <p:nvSpPr>
          <p:cNvPr id="78" name="Text 76"/>
          <p:cNvSpPr/>
          <p:nvPr/>
        </p:nvSpPr>
        <p:spPr>
          <a:xfrm>
            <a:off x="4901184" y="20482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9" name="Shape 77"/>
          <p:cNvSpPr/>
          <p:nvPr/>
        </p:nvSpPr>
        <p:spPr>
          <a:xfrm>
            <a:off x="5650992" y="4133088"/>
            <a:ext cx="292608" cy="292608"/>
          </a:xfrm>
          <a:prstGeom prst="ellipse">
            <a:avLst/>
          </a:prstGeom>
          <a:solidFill>
            <a:srgbClr val="FFFFFF"/>
          </a:solidFill>
          <a:ln w="25400">
            <a:solidFill>
              <a:srgbClr val="C8102E"/>
            </a:solidFill>
            <a:prstDash val="solid"/>
          </a:ln>
        </p:spPr>
      </p:sp>
      <p:sp>
        <p:nvSpPr>
          <p:cNvPr id="80" name="Text 78"/>
          <p:cNvSpPr/>
          <p:nvPr/>
        </p:nvSpPr>
        <p:spPr>
          <a:xfrm>
            <a:off x="5650992" y="4133088"/>
            <a:ext cx="292608" cy="292608"/>
          </a:xfrm>
          <a:prstGeom prst="rect">
            <a:avLst/>
          </a:prstGeom>
          <a:noFill/>
          <a:ln/>
        </p:spPr>
        <p:txBody>
          <a:bodyPr wrap="square" lIns="0" tIns="0" rIns="0" bIns="0" rtlCol="0" anchor="ctr"/>
          <a:lstStyle/>
          <a:p>
            <a:pPr algn="ctr" indent="0" marL="0">
              <a:buNone/>
            </a:pPr>
            <a:r>
              <a:rPr lang="en-US" sz="1000" b="1" dirty="0">
                <a:solidFill>
                  <a:srgbClr val="C8102E"/>
                </a:solidFill>
                <a:latin typeface="Calibri" pitchFamily="34" charset="0"/>
                <a:ea typeface="Calibri" pitchFamily="34" charset="-122"/>
                <a:cs typeface="Calibri" pitchFamily="34" charset="-120"/>
              </a:rPr>
              <a:t>3</a:t>
            </a:r>
            <a:endParaRPr lang="en-US" sz="1000" dirty="0"/>
          </a:p>
        </p:txBody>
      </p:sp>
      <p:sp>
        <p:nvSpPr>
          <p:cNvPr id="81" name="Shape 79"/>
          <p:cNvSpPr/>
          <p:nvPr/>
        </p:nvSpPr>
        <p:spPr>
          <a:xfrm>
            <a:off x="5650992" y="2743200"/>
            <a:ext cx="292608" cy="292608"/>
          </a:xfrm>
          <a:prstGeom prst="ellipse">
            <a:avLst/>
          </a:prstGeom>
          <a:solidFill>
            <a:srgbClr val="C8102E"/>
          </a:solidFill>
          <a:ln w="19050">
            <a:solidFill>
              <a:srgbClr val="FFFFFF"/>
            </a:solidFill>
            <a:prstDash val="solid"/>
          </a:ln>
        </p:spPr>
      </p:sp>
      <p:sp>
        <p:nvSpPr>
          <p:cNvPr id="82" name="Text 80"/>
          <p:cNvSpPr/>
          <p:nvPr/>
        </p:nvSpPr>
        <p:spPr>
          <a:xfrm>
            <a:off x="5650992" y="274320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83" name="Shape 81"/>
          <p:cNvSpPr/>
          <p:nvPr/>
        </p:nvSpPr>
        <p:spPr>
          <a:xfrm>
            <a:off x="5650992" y="4828032"/>
            <a:ext cx="292608" cy="292608"/>
          </a:xfrm>
          <a:prstGeom prst="ellipse">
            <a:avLst/>
          </a:prstGeom>
          <a:solidFill>
            <a:srgbClr val="FFFFFF"/>
          </a:solidFill>
          <a:ln w="25400">
            <a:solidFill>
              <a:srgbClr val="2E7D5B"/>
            </a:solidFill>
            <a:prstDash val="solid"/>
          </a:ln>
        </p:spPr>
      </p:sp>
      <p:sp>
        <p:nvSpPr>
          <p:cNvPr id="84" name="Text 82"/>
          <p:cNvSpPr/>
          <p:nvPr/>
        </p:nvSpPr>
        <p:spPr>
          <a:xfrm>
            <a:off x="5650992" y="4828032"/>
            <a:ext cx="292608" cy="292608"/>
          </a:xfrm>
          <a:prstGeom prst="rect">
            <a:avLst/>
          </a:prstGeom>
          <a:noFill/>
          <a:ln/>
        </p:spPr>
        <p:txBody>
          <a:bodyPr wrap="square" lIns="0" tIns="0" rIns="0" bIns="0" rtlCol="0" anchor="ctr"/>
          <a:lstStyle/>
          <a:p>
            <a:pPr algn="ctr" indent="0" marL="0">
              <a:buNone/>
            </a:pPr>
            <a:r>
              <a:rPr lang="en-US" sz="1000" b="1" dirty="0">
                <a:solidFill>
                  <a:srgbClr val="2E7D5B"/>
                </a:solidFill>
                <a:latin typeface="Calibri" pitchFamily="34" charset="0"/>
                <a:ea typeface="Calibri" pitchFamily="34" charset="-122"/>
                <a:cs typeface="Calibri" pitchFamily="34" charset="-120"/>
              </a:rPr>
              <a:t>4</a:t>
            </a:r>
            <a:endParaRPr lang="en-US" sz="1000" dirty="0"/>
          </a:p>
        </p:txBody>
      </p:sp>
      <p:sp>
        <p:nvSpPr>
          <p:cNvPr id="85" name="Shape 83"/>
          <p:cNvSpPr/>
          <p:nvPr/>
        </p:nvSpPr>
        <p:spPr>
          <a:xfrm>
            <a:off x="5650992" y="3438144"/>
            <a:ext cx="292608" cy="292608"/>
          </a:xfrm>
          <a:prstGeom prst="ellipse">
            <a:avLst/>
          </a:prstGeom>
          <a:solidFill>
            <a:srgbClr val="2E7D5B"/>
          </a:solidFill>
          <a:ln w="19050">
            <a:solidFill>
              <a:srgbClr val="FFFFFF"/>
            </a:solidFill>
            <a:prstDash val="solid"/>
          </a:ln>
        </p:spPr>
      </p:sp>
      <p:sp>
        <p:nvSpPr>
          <p:cNvPr id="86" name="Text 84"/>
          <p:cNvSpPr/>
          <p:nvPr/>
        </p:nvSpPr>
        <p:spPr>
          <a:xfrm>
            <a:off x="5650992" y="343814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87" name="Shape 85"/>
          <p:cNvSpPr/>
          <p:nvPr/>
        </p:nvSpPr>
        <p:spPr>
          <a:xfrm>
            <a:off x="3749040" y="2743200"/>
            <a:ext cx="292608" cy="292608"/>
          </a:xfrm>
          <a:prstGeom prst="ellipse">
            <a:avLst/>
          </a:prstGeom>
          <a:solidFill>
            <a:srgbClr val="6B4E9B"/>
          </a:solidFill>
          <a:ln w="19050">
            <a:solidFill>
              <a:srgbClr val="FFFFFF"/>
            </a:solidFill>
            <a:prstDash val="solid"/>
          </a:ln>
        </p:spPr>
      </p:sp>
      <p:sp>
        <p:nvSpPr>
          <p:cNvPr id="88" name="Text 86"/>
          <p:cNvSpPr/>
          <p:nvPr/>
        </p:nvSpPr>
        <p:spPr>
          <a:xfrm>
            <a:off x="3749040" y="274320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89" name="Shape 87"/>
          <p:cNvSpPr/>
          <p:nvPr/>
        </p:nvSpPr>
        <p:spPr>
          <a:xfrm>
            <a:off x="7059168" y="1837944"/>
            <a:ext cx="310896" cy="310896"/>
          </a:xfrm>
          <a:prstGeom prst="ellipse">
            <a:avLst/>
          </a:prstGeom>
          <a:solidFill>
            <a:srgbClr val="00539B"/>
          </a:solidFill>
          <a:ln/>
        </p:spPr>
      </p:sp>
      <p:sp>
        <p:nvSpPr>
          <p:cNvPr id="90" name="Text 88"/>
          <p:cNvSpPr/>
          <p:nvPr/>
        </p:nvSpPr>
        <p:spPr>
          <a:xfrm>
            <a:off x="7059168" y="18379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1" name="Text 89"/>
          <p:cNvSpPr/>
          <p:nvPr/>
        </p:nvSpPr>
        <p:spPr>
          <a:xfrm>
            <a:off x="7479792" y="1773936"/>
            <a:ext cx="4142232" cy="237744"/>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E-1103A overhead condenser</a:t>
            </a:r>
            <a:endParaRPr lang="en-US" sz="1100" dirty="0"/>
          </a:p>
        </p:txBody>
      </p:sp>
      <p:sp>
        <p:nvSpPr>
          <p:cNvPr id="92" name="Text 90"/>
          <p:cNvSpPr/>
          <p:nvPr/>
        </p:nvSpPr>
        <p:spPr>
          <a:xfrm>
            <a:off x="7479792" y="2011680"/>
            <a:ext cx="4142232" cy="237744"/>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20 Critical</a:t>
            </a:r>
            <a:pPr indent="0" marL="0">
              <a:buNone/>
            </a:pPr>
            <a:r>
              <a:rPr lang="en-US" sz="1050" dirty="0">
                <a:solidFill>
                  <a:srgbClr val="AEBBCA"/>
                </a:solidFill>
                <a:latin typeface="Calibri" pitchFamily="34" charset="0"/>
                <a:ea typeface="Calibri" pitchFamily="34" charset="-122"/>
                <a:cs typeface="Calibri" pitchFamily="34" charset="-120"/>
              </a:rPr>
              <a:t>   →   </a:t>
            </a:r>
            <a:pPr indent="0" marL="0">
              <a:buNone/>
            </a:pPr>
            <a:r>
              <a:rPr lang="en-US" sz="1050" b="1" dirty="0">
                <a:solidFill>
                  <a:srgbClr val="2E7D5B"/>
                </a:solidFill>
                <a:latin typeface="Calibri" pitchFamily="34" charset="0"/>
                <a:ea typeface="Calibri" pitchFamily="34" charset="-122"/>
                <a:cs typeface="Calibri" pitchFamily="34" charset="-120"/>
              </a:rPr>
              <a:t>8 Medium</a:t>
            </a:r>
            <a:endParaRPr lang="en-US" sz="1050" dirty="0"/>
          </a:p>
        </p:txBody>
      </p:sp>
      <p:sp>
        <p:nvSpPr>
          <p:cNvPr id="93" name="Shape 91"/>
          <p:cNvSpPr/>
          <p:nvPr/>
        </p:nvSpPr>
        <p:spPr>
          <a:xfrm>
            <a:off x="7059168" y="2404872"/>
            <a:ext cx="310896" cy="310896"/>
          </a:xfrm>
          <a:prstGeom prst="ellipse">
            <a:avLst/>
          </a:prstGeom>
          <a:solidFill>
            <a:srgbClr val="C87F16"/>
          </a:solidFill>
          <a:ln/>
        </p:spPr>
      </p:sp>
      <p:sp>
        <p:nvSpPr>
          <p:cNvPr id="94" name="Text 92"/>
          <p:cNvSpPr/>
          <p:nvPr/>
        </p:nvSpPr>
        <p:spPr>
          <a:xfrm>
            <a:off x="7059168" y="24048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5" name="Text 93"/>
          <p:cNvSpPr/>
          <p:nvPr/>
        </p:nvSpPr>
        <p:spPr>
          <a:xfrm>
            <a:off x="7479792" y="2340864"/>
            <a:ext cx="4142232" cy="237744"/>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P-1104A HGO pump</a:t>
            </a:r>
            <a:endParaRPr lang="en-US" sz="1100" dirty="0"/>
          </a:p>
        </p:txBody>
      </p:sp>
      <p:sp>
        <p:nvSpPr>
          <p:cNvPr id="96" name="Text 94"/>
          <p:cNvSpPr/>
          <p:nvPr/>
        </p:nvSpPr>
        <p:spPr>
          <a:xfrm>
            <a:off x="7479792" y="2578608"/>
            <a:ext cx="4142232" cy="237744"/>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20 Critical</a:t>
            </a:r>
            <a:pPr indent="0" marL="0">
              <a:buNone/>
            </a:pPr>
            <a:r>
              <a:rPr lang="en-US" sz="1050" dirty="0">
                <a:solidFill>
                  <a:srgbClr val="AEBBCA"/>
                </a:solidFill>
                <a:latin typeface="Calibri" pitchFamily="34" charset="0"/>
                <a:ea typeface="Calibri" pitchFamily="34" charset="-122"/>
                <a:cs typeface="Calibri" pitchFamily="34" charset="-120"/>
              </a:rPr>
              <a:t>   →   </a:t>
            </a:r>
            <a:pPr indent="0" marL="0">
              <a:buNone/>
            </a:pPr>
            <a:r>
              <a:rPr lang="en-US" sz="1050" b="1" dirty="0">
                <a:solidFill>
                  <a:srgbClr val="2E7D5B"/>
                </a:solidFill>
                <a:latin typeface="Calibri" pitchFamily="34" charset="0"/>
                <a:ea typeface="Calibri" pitchFamily="34" charset="-122"/>
                <a:cs typeface="Calibri" pitchFamily="34" charset="-120"/>
              </a:rPr>
              <a:t>6 Medium</a:t>
            </a:r>
            <a:endParaRPr lang="en-US" sz="1050" dirty="0"/>
          </a:p>
        </p:txBody>
      </p:sp>
      <p:sp>
        <p:nvSpPr>
          <p:cNvPr id="97" name="Shape 95"/>
          <p:cNvSpPr/>
          <p:nvPr/>
        </p:nvSpPr>
        <p:spPr>
          <a:xfrm>
            <a:off x="7059168" y="2971800"/>
            <a:ext cx="310896" cy="310896"/>
          </a:xfrm>
          <a:prstGeom prst="ellipse">
            <a:avLst/>
          </a:prstGeom>
          <a:solidFill>
            <a:srgbClr val="C8102E"/>
          </a:solidFill>
          <a:ln/>
        </p:spPr>
      </p:sp>
      <p:sp>
        <p:nvSpPr>
          <p:cNvPr id="98" name="Text 96"/>
          <p:cNvSpPr/>
          <p:nvPr/>
        </p:nvSpPr>
        <p:spPr>
          <a:xfrm>
            <a:off x="7059168" y="2971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99" name="Text 97"/>
          <p:cNvSpPr/>
          <p:nvPr/>
        </p:nvSpPr>
        <p:spPr>
          <a:xfrm>
            <a:off x="7479792" y="2907792"/>
            <a:ext cx="4142232" cy="237744"/>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H-1101 radiant tubes</a:t>
            </a:r>
            <a:endParaRPr lang="en-US" sz="1100" dirty="0"/>
          </a:p>
        </p:txBody>
      </p:sp>
      <p:sp>
        <p:nvSpPr>
          <p:cNvPr id="100" name="Text 98"/>
          <p:cNvSpPr/>
          <p:nvPr/>
        </p:nvSpPr>
        <p:spPr>
          <a:xfrm>
            <a:off x="7479792" y="3145536"/>
            <a:ext cx="4142232" cy="237744"/>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20 Critical</a:t>
            </a:r>
            <a:pPr indent="0" marL="0">
              <a:buNone/>
            </a:pPr>
            <a:r>
              <a:rPr lang="en-US" sz="1050" dirty="0">
                <a:solidFill>
                  <a:srgbClr val="AEBBCA"/>
                </a:solidFill>
                <a:latin typeface="Calibri" pitchFamily="34" charset="0"/>
                <a:ea typeface="Calibri" pitchFamily="34" charset="-122"/>
                <a:cs typeface="Calibri" pitchFamily="34" charset="-120"/>
              </a:rPr>
              <a:t>   →   </a:t>
            </a:r>
            <a:pPr indent="0" marL="0">
              <a:buNone/>
            </a:pPr>
            <a:r>
              <a:rPr lang="en-US" sz="1050" b="1" dirty="0">
                <a:solidFill>
                  <a:srgbClr val="2E7D5B"/>
                </a:solidFill>
                <a:latin typeface="Calibri" pitchFamily="34" charset="0"/>
                <a:ea typeface="Calibri" pitchFamily="34" charset="-122"/>
                <a:cs typeface="Calibri" pitchFamily="34" charset="-120"/>
              </a:rPr>
              <a:t>10 High</a:t>
            </a:r>
            <a:endParaRPr lang="en-US" sz="1050" dirty="0"/>
          </a:p>
        </p:txBody>
      </p:sp>
      <p:sp>
        <p:nvSpPr>
          <p:cNvPr id="101" name="Shape 99"/>
          <p:cNvSpPr/>
          <p:nvPr/>
        </p:nvSpPr>
        <p:spPr>
          <a:xfrm>
            <a:off x="7059168" y="3538728"/>
            <a:ext cx="310896" cy="310896"/>
          </a:xfrm>
          <a:prstGeom prst="ellipse">
            <a:avLst/>
          </a:prstGeom>
          <a:solidFill>
            <a:srgbClr val="2E7D5B"/>
          </a:solidFill>
          <a:ln/>
        </p:spPr>
      </p:sp>
      <p:sp>
        <p:nvSpPr>
          <p:cNvPr id="102" name="Text 100"/>
          <p:cNvSpPr/>
          <p:nvPr/>
        </p:nvSpPr>
        <p:spPr>
          <a:xfrm>
            <a:off x="7059168" y="3538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03" name="Text 101"/>
          <p:cNvSpPr/>
          <p:nvPr/>
        </p:nvSpPr>
        <p:spPr>
          <a:xfrm>
            <a:off x="7479792" y="3474720"/>
            <a:ext cx="4142232" cy="237744"/>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T-1101 flash zone</a:t>
            </a:r>
            <a:endParaRPr lang="en-US" sz="1100" dirty="0"/>
          </a:p>
        </p:txBody>
      </p:sp>
      <p:sp>
        <p:nvSpPr>
          <p:cNvPr id="104" name="Text 102"/>
          <p:cNvSpPr/>
          <p:nvPr/>
        </p:nvSpPr>
        <p:spPr>
          <a:xfrm>
            <a:off x="7479792" y="3712464"/>
            <a:ext cx="4142232" cy="237744"/>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15 Critical</a:t>
            </a:r>
            <a:pPr indent="0" marL="0">
              <a:buNone/>
            </a:pPr>
            <a:r>
              <a:rPr lang="en-US" sz="1050" dirty="0">
                <a:solidFill>
                  <a:srgbClr val="AEBBCA"/>
                </a:solidFill>
                <a:latin typeface="Calibri" pitchFamily="34" charset="0"/>
                <a:ea typeface="Calibri" pitchFamily="34" charset="-122"/>
                <a:cs typeface="Calibri" pitchFamily="34" charset="-120"/>
              </a:rPr>
              <a:t>   →   </a:t>
            </a:r>
            <a:pPr indent="0" marL="0">
              <a:buNone/>
            </a:pPr>
            <a:r>
              <a:rPr lang="en-US" sz="1050" b="1" dirty="0">
                <a:solidFill>
                  <a:srgbClr val="2E7D5B"/>
                </a:solidFill>
                <a:latin typeface="Calibri" pitchFamily="34" charset="0"/>
                <a:ea typeface="Calibri" pitchFamily="34" charset="-122"/>
                <a:cs typeface="Calibri" pitchFamily="34" charset="-120"/>
              </a:rPr>
              <a:t>5 Medium</a:t>
            </a:r>
            <a:endParaRPr lang="en-US" sz="1050" dirty="0"/>
          </a:p>
        </p:txBody>
      </p:sp>
      <p:sp>
        <p:nvSpPr>
          <p:cNvPr id="105" name="Shape 103"/>
          <p:cNvSpPr/>
          <p:nvPr/>
        </p:nvSpPr>
        <p:spPr>
          <a:xfrm>
            <a:off x="7059168" y="4105656"/>
            <a:ext cx="310896" cy="310896"/>
          </a:xfrm>
          <a:prstGeom prst="ellipse">
            <a:avLst/>
          </a:prstGeom>
          <a:solidFill>
            <a:srgbClr val="6B4E9B"/>
          </a:solidFill>
          <a:ln/>
        </p:spPr>
      </p:sp>
      <p:sp>
        <p:nvSpPr>
          <p:cNvPr id="106" name="Text 104"/>
          <p:cNvSpPr/>
          <p:nvPr/>
        </p:nvSpPr>
        <p:spPr>
          <a:xfrm>
            <a:off x="7059168" y="4105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07" name="Text 105"/>
          <p:cNvSpPr/>
          <p:nvPr/>
        </p:nvSpPr>
        <p:spPr>
          <a:xfrm>
            <a:off x="7479792" y="4041648"/>
            <a:ext cx="4142232" cy="237744"/>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E-1108 cooling water side</a:t>
            </a:r>
            <a:endParaRPr lang="en-US" sz="1100" dirty="0"/>
          </a:p>
        </p:txBody>
      </p:sp>
      <p:sp>
        <p:nvSpPr>
          <p:cNvPr id="108" name="Text 106"/>
          <p:cNvSpPr/>
          <p:nvPr/>
        </p:nvSpPr>
        <p:spPr>
          <a:xfrm>
            <a:off x="7479792" y="4279392"/>
            <a:ext cx="4142232" cy="237744"/>
          </a:xfrm>
          <a:prstGeom prst="rect">
            <a:avLst/>
          </a:prstGeom>
          <a:noFill/>
          <a:ln/>
        </p:spPr>
        <p:txBody>
          <a:bodyPr wrap="square" lIns="0" tIns="0" rIns="0" bIns="0" rtlCol="0" anchor="ctr"/>
          <a:lstStyle/>
          <a:p>
            <a:pPr indent="0" marL="0">
              <a:buNone/>
            </a:pPr>
            <a:r>
              <a:rPr lang="en-US" sz="1050" dirty="0">
                <a:solidFill>
                  <a:srgbClr val="56677A"/>
                </a:solidFill>
                <a:latin typeface="Calibri" pitchFamily="34" charset="0"/>
                <a:ea typeface="Calibri" pitchFamily="34" charset="-122"/>
                <a:cs typeface="Calibri" pitchFamily="34" charset="-120"/>
              </a:rPr>
              <a:t>12 High</a:t>
            </a:r>
            <a:pPr indent="0" marL="0">
              <a:buNone/>
            </a:pPr>
            <a:r>
              <a:rPr lang="en-US" sz="1050" dirty="0">
                <a:solidFill>
                  <a:srgbClr val="AEBBCA"/>
                </a:solidFill>
                <a:latin typeface="Calibri" pitchFamily="34" charset="0"/>
                <a:ea typeface="Calibri" pitchFamily="34" charset="-122"/>
                <a:cs typeface="Calibri" pitchFamily="34" charset="-120"/>
              </a:rPr>
              <a:t>   →   </a:t>
            </a:r>
            <a:pPr indent="0" marL="0">
              <a:buNone/>
            </a:pPr>
            <a:r>
              <a:rPr lang="en-US" sz="1050" b="1" dirty="0">
                <a:solidFill>
                  <a:srgbClr val="C8102E"/>
                </a:solidFill>
                <a:latin typeface="Calibri" pitchFamily="34" charset="0"/>
                <a:ea typeface="Calibri" pitchFamily="34" charset="-122"/>
                <a:cs typeface="Calibri" pitchFamily="34" charset="-120"/>
              </a:rPr>
              <a:t>12 High</a:t>
            </a:r>
            <a:endParaRPr lang="en-US" sz="1050" dirty="0"/>
          </a:p>
        </p:txBody>
      </p:sp>
      <p:sp>
        <p:nvSpPr>
          <p:cNvPr id="109" name="Shape 107"/>
          <p:cNvSpPr/>
          <p:nvPr/>
        </p:nvSpPr>
        <p:spPr>
          <a:xfrm>
            <a:off x="7059168" y="4754880"/>
            <a:ext cx="4562856" cy="1261872"/>
          </a:xfrm>
          <a:prstGeom prst="roundRect">
            <a:avLst>
              <a:gd name="adj" fmla="val 3623"/>
            </a:avLst>
          </a:prstGeom>
          <a:solidFill>
            <a:srgbClr val="E4EAF1"/>
          </a:solidFill>
          <a:ln w="9525">
            <a:solidFill>
              <a:srgbClr val="00539B"/>
            </a:solidFill>
            <a:prstDash val="solid"/>
          </a:ln>
        </p:spPr>
      </p:sp>
      <p:sp>
        <p:nvSpPr>
          <p:cNvPr id="110" name="Text 108"/>
          <p:cNvSpPr/>
          <p:nvPr/>
        </p:nvSpPr>
        <p:spPr>
          <a:xfrm>
            <a:off x="7278624" y="4754880"/>
            <a:ext cx="4123944" cy="1261872"/>
          </a:xfrm>
          <a:prstGeom prst="rect">
            <a:avLst/>
          </a:prstGeom>
          <a:noFill/>
          <a:ln/>
        </p:spPr>
        <p:txBody>
          <a:bodyPr wrap="square" lIns="0" tIns="0" rIns="0" bIns="0" rtlCol="0" anchor="ctr"/>
          <a:lstStyle/>
          <a:p>
            <a:pPr indent="0" marL="0">
              <a:lnSpc>
                <a:spcPts val="1400"/>
              </a:lnSpc>
              <a:buNone/>
            </a:pPr>
            <a:r>
              <a:rPr lang="en-US" sz="1050" b="1" dirty="0">
                <a:solidFill>
                  <a:srgbClr val="0A2540"/>
                </a:solidFill>
                <a:latin typeface="Calibri" pitchFamily="34" charset="0"/>
                <a:ea typeface="Calibri" pitchFamily="34" charset="-122"/>
                <a:cs typeface="Calibri" pitchFamily="34" charset="-120"/>
              </a:rPr>
              <a:t>Marker 3 stays High. Marker 5 does not move.
</a:t>
            </a:r>
            <a:pPr indent="0" marL="0">
              <a:lnSpc>
                <a:spcPts val="1400"/>
              </a:lnSpc>
              <a:buNone/>
            </a:pPr>
            <a:r>
              <a:rPr lang="en-US" sz="1050" dirty="0">
                <a:solidFill>
                  <a:srgbClr val="56677A"/>
                </a:solidFill>
                <a:latin typeface="Calibri" pitchFamily="34" charset="0"/>
                <a:ea typeface="Calibri" pitchFamily="34" charset="-122"/>
                <a:cs typeface="Calibri" pitchFamily="34" charset="-120"/>
              </a:rPr>
              <a:t>A fired heater on crude service carries irreducible consequence — the answer is continued active management, not a lower score.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66928" y="1371600"/>
            <a:ext cx="2926080" cy="2377440"/>
          </a:xfrm>
          <a:prstGeom prst="rect">
            <a:avLst/>
          </a:prstGeom>
          <a:noFill/>
          <a:ln/>
        </p:spPr>
        <p:txBody>
          <a:bodyPr wrap="square" lIns="0" tIns="0" rIns="0" bIns="0" rtlCol="0" anchor="ctr"/>
          <a:lstStyle/>
          <a:p>
            <a:pPr indent="0" marL="0">
              <a:buNone/>
            </a:pPr>
            <a:r>
              <a:rPr lang="en-US" sz="15000" b="1" dirty="0">
                <a:solidFill>
                  <a:srgbClr val="12395F"/>
                </a:solidFill>
                <a:latin typeface="Cambria" pitchFamily="34" charset="0"/>
                <a:ea typeface="Cambria" pitchFamily="34" charset="-122"/>
                <a:cs typeface="Cambria" pitchFamily="34" charset="-120"/>
              </a:rPr>
              <a:t>03</a:t>
            </a:r>
            <a:endParaRPr lang="en-US" sz="15000" dirty="0"/>
          </a:p>
        </p:txBody>
      </p:sp>
      <p:sp>
        <p:nvSpPr>
          <p:cNvPr id="3" name="Text 1"/>
          <p:cNvSpPr/>
          <p:nvPr/>
        </p:nvSpPr>
        <p:spPr>
          <a:xfrm>
            <a:off x="3584448" y="2148840"/>
            <a:ext cx="8037576" cy="274320"/>
          </a:xfrm>
          <a:prstGeom prst="rect">
            <a:avLst/>
          </a:prstGeom>
          <a:noFill/>
          <a:ln/>
        </p:spPr>
        <p:txBody>
          <a:bodyPr wrap="square" lIns="0" tIns="0" rIns="0" bIns="0" rtlCol="0" anchor="ctr"/>
          <a:lstStyle/>
          <a:p>
            <a:pPr indent="0" marL="0">
              <a:buNone/>
            </a:pPr>
            <a:r>
              <a:rPr lang="en-US" sz="1200" b="1" spc="200" kern="0" dirty="0">
                <a:solidFill>
                  <a:srgbClr val="7FA8CE"/>
                </a:solidFill>
                <a:latin typeface="Calibri" pitchFamily="34" charset="0"/>
                <a:ea typeface="Calibri" pitchFamily="34" charset="-122"/>
                <a:cs typeface="Calibri" pitchFamily="34" charset="-120"/>
              </a:rPr>
              <a:t>AUTHORISATION</a:t>
            </a:r>
            <a:endParaRPr lang="en-US" sz="1200" dirty="0"/>
          </a:p>
        </p:txBody>
      </p:sp>
      <p:sp>
        <p:nvSpPr>
          <p:cNvPr id="4" name="Text 2"/>
          <p:cNvSpPr/>
          <p:nvPr/>
        </p:nvSpPr>
        <p:spPr>
          <a:xfrm>
            <a:off x="3584448" y="2414016"/>
            <a:ext cx="8037576" cy="1042416"/>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Controlling the work the register created</a:t>
            </a:r>
            <a:endParaRPr lang="en-US" sz="3600" dirty="0"/>
          </a:p>
        </p:txBody>
      </p:sp>
      <p:sp>
        <p:nvSpPr>
          <p:cNvPr id="5" name="Text 3"/>
          <p:cNvSpPr/>
          <p:nvPr/>
        </p:nvSpPr>
        <p:spPr>
          <a:xfrm>
            <a:off x="3584448" y="3566160"/>
            <a:ext cx="7580376" cy="868680"/>
          </a:xfrm>
          <a:prstGeom prst="rect">
            <a:avLst/>
          </a:prstGeom>
          <a:noFill/>
          <a:ln/>
        </p:spPr>
        <p:txBody>
          <a:bodyPr wrap="square" lIns="0" tIns="0" rIns="0" bIns="0" rtlCol="0" anchor="t"/>
          <a:lstStyle/>
          <a:p>
            <a:pPr indent="0" marL="0">
              <a:lnSpc>
                <a:spcPts val="2100"/>
              </a:lnSpc>
              <a:buNone/>
            </a:pPr>
            <a:r>
              <a:rPr lang="en-US" sz="1400" dirty="0">
                <a:solidFill>
                  <a:srgbClr val="B9CBDD"/>
                </a:solidFill>
                <a:latin typeface="Calibri" pitchFamily="34" charset="0"/>
                <a:ea typeface="Calibri" pitchFamily="34" charset="-122"/>
                <a:cs typeface="Calibri" pitchFamily="34" charset="-120"/>
              </a:rPr>
              <a:t>Eleven actions on live hydrocarbon equipment. Every one is more dangerous to perform than to leave alone, for the duration of the job.</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DELIVERABLE 3  ·  PTW-SYS-CDU REV 4</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A permit to work is not a form. It is who may do what, where, and under what conditions.</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A site can have an excellent form and no system. The form is only the evidence that the architecture was applied.</a:t>
            </a:r>
            <a:endParaRPr lang="en-US" sz="1200" dirty="0"/>
          </a:p>
        </p:txBody>
      </p:sp>
      <p:sp>
        <p:nvSpPr>
          <p:cNvPr id="5" name="Text 3"/>
          <p:cNvSpPr/>
          <p:nvPr/>
        </p:nvSpPr>
        <p:spPr>
          <a:xfrm>
            <a:off x="566928" y="1645920"/>
            <a:ext cx="1828800" cy="201168"/>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LIFECYCLE</a:t>
            </a:r>
            <a:endParaRPr lang="en-US" sz="850" dirty="0"/>
          </a:p>
        </p:txBody>
      </p:sp>
      <p:sp>
        <p:nvSpPr>
          <p:cNvPr id="6" name="Shape 4"/>
          <p:cNvSpPr/>
          <p:nvPr/>
        </p:nvSpPr>
        <p:spPr>
          <a:xfrm>
            <a:off x="566928" y="1883664"/>
            <a:ext cx="854202" cy="457200"/>
          </a:xfrm>
          <a:prstGeom prst="roundRect">
            <a:avLst>
              <a:gd name="adj" fmla="val 10000"/>
            </a:avLst>
          </a:prstGeom>
          <a:solidFill>
            <a:srgbClr val="F1F4F8"/>
          </a:solidFill>
          <a:ln w="9525">
            <a:solidFill>
              <a:srgbClr val="CFD8E3"/>
            </a:solidFill>
            <a:prstDash val="solid"/>
          </a:ln>
        </p:spPr>
      </p:sp>
      <p:sp>
        <p:nvSpPr>
          <p:cNvPr id="7" name="Text 5"/>
          <p:cNvSpPr/>
          <p:nvPr/>
        </p:nvSpPr>
        <p:spPr>
          <a:xfrm>
            <a:off x="566928" y="1883664"/>
            <a:ext cx="854202" cy="457200"/>
          </a:xfrm>
          <a:prstGeom prst="rect">
            <a:avLst/>
          </a:prstGeom>
          <a:noFill/>
          <a:ln/>
        </p:spPr>
        <p:txBody>
          <a:bodyPr wrap="square" lIns="0" tIns="0" rIns="0" bIns="0" rtlCol="0" anchor="ctr"/>
          <a:lstStyle/>
          <a:p>
            <a:pPr algn="ctr" indent="0" marL="0">
              <a:buNone/>
            </a:pPr>
            <a:r>
              <a:rPr lang="en-US" sz="900" dirty="0">
                <a:solidFill>
                  <a:srgbClr val="56677A"/>
                </a:solidFill>
                <a:latin typeface="Calibri" pitchFamily="34" charset="0"/>
                <a:ea typeface="Calibri" pitchFamily="34" charset="-122"/>
                <a:cs typeface="Calibri" pitchFamily="34" charset="-120"/>
              </a:rPr>
              <a:t>Plan</a:t>
            </a:r>
            <a:endParaRPr lang="en-US" sz="900" dirty="0"/>
          </a:p>
        </p:txBody>
      </p:sp>
      <p:sp>
        <p:nvSpPr>
          <p:cNvPr id="8" name="Shape 6"/>
          <p:cNvSpPr/>
          <p:nvPr/>
        </p:nvSpPr>
        <p:spPr>
          <a:xfrm>
            <a:off x="1494282" y="1883664"/>
            <a:ext cx="854202" cy="457200"/>
          </a:xfrm>
          <a:prstGeom prst="roundRect">
            <a:avLst>
              <a:gd name="adj" fmla="val 10000"/>
            </a:avLst>
          </a:prstGeom>
          <a:solidFill>
            <a:srgbClr val="F1F4F8"/>
          </a:solidFill>
          <a:ln w="9525">
            <a:solidFill>
              <a:srgbClr val="CFD8E3"/>
            </a:solidFill>
            <a:prstDash val="solid"/>
          </a:ln>
        </p:spPr>
      </p:sp>
      <p:sp>
        <p:nvSpPr>
          <p:cNvPr id="9" name="Text 7"/>
          <p:cNvSpPr/>
          <p:nvPr/>
        </p:nvSpPr>
        <p:spPr>
          <a:xfrm>
            <a:off x="1494282" y="1883664"/>
            <a:ext cx="854202" cy="457200"/>
          </a:xfrm>
          <a:prstGeom prst="rect">
            <a:avLst/>
          </a:prstGeom>
          <a:noFill/>
          <a:ln/>
        </p:spPr>
        <p:txBody>
          <a:bodyPr wrap="square" lIns="0" tIns="0" rIns="0" bIns="0" rtlCol="0" anchor="ctr"/>
          <a:lstStyle/>
          <a:p>
            <a:pPr algn="ctr" indent="0" marL="0">
              <a:buNone/>
            </a:pPr>
            <a:r>
              <a:rPr lang="en-US" sz="900" dirty="0">
                <a:solidFill>
                  <a:srgbClr val="56677A"/>
                </a:solidFill>
                <a:latin typeface="Calibri" pitchFamily="34" charset="0"/>
                <a:ea typeface="Calibri" pitchFamily="34" charset="-122"/>
                <a:cs typeface="Calibri" pitchFamily="34" charset="-120"/>
              </a:rPr>
              <a:t>Assess</a:t>
            </a:r>
            <a:endParaRPr lang="en-US" sz="900" dirty="0"/>
          </a:p>
        </p:txBody>
      </p:sp>
      <p:sp>
        <p:nvSpPr>
          <p:cNvPr id="10" name="Shape 8"/>
          <p:cNvSpPr/>
          <p:nvPr/>
        </p:nvSpPr>
        <p:spPr>
          <a:xfrm>
            <a:off x="2421636" y="1883664"/>
            <a:ext cx="854202" cy="457200"/>
          </a:xfrm>
          <a:prstGeom prst="roundRect">
            <a:avLst>
              <a:gd name="adj" fmla="val 10000"/>
            </a:avLst>
          </a:prstGeom>
          <a:solidFill>
            <a:srgbClr val="00539B"/>
          </a:solidFill>
          <a:ln w="9525">
            <a:solidFill>
              <a:srgbClr val="00539B"/>
            </a:solidFill>
            <a:prstDash val="solid"/>
          </a:ln>
        </p:spPr>
      </p:sp>
      <p:sp>
        <p:nvSpPr>
          <p:cNvPr id="11" name="Text 9"/>
          <p:cNvSpPr/>
          <p:nvPr/>
        </p:nvSpPr>
        <p:spPr>
          <a:xfrm>
            <a:off x="2421636" y="1883664"/>
            <a:ext cx="854202"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Isolate</a:t>
            </a:r>
            <a:endParaRPr lang="en-US" sz="900" dirty="0"/>
          </a:p>
        </p:txBody>
      </p:sp>
      <p:sp>
        <p:nvSpPr>
          <p:cNvPr id="12" name="Shape 10"/>
          <p:cNvSpPr/>
          <p:nvPr/>
        </p:nvSpPr>
        <p:spPr>
          <a:xfrm>
            <a:off x="3348990" y="1883664"/>
            <a:ext cx="854202" cy="457200"/>
          </a:xfrm>
          <a:prstGeom prst="roundRect">
            <a:avLst>
              <a:gd name="adj" fmla="val 10000"/>
            </a:avLst>
          </a:prstGeom>
          <a:solidFill>
            <a:srgbClr val="F1F4F8"/>
          </a:solidFill>
          <a:ln w="9525">
            <a:solidFill>
              <a:srgbClr val="CFD8E3"/>
            </a:solidFill>
            <a:prstDash val="solid"/>
          </a:ln>
        </p:spPr>
      </p:sp>
      <p:sp>
        <p:nvSpPr>
          <p:cNvPr id="13" name="Text 11"/>
          <p:cNvSpPr/>
          <p:nvPr/>
        </p:nvSpPr>
        <p:spPr>
          <a:xfrm>
            <a:off x="3348990" y="1883664"/>
            <a:ext cx="854202" cy="457200"/>
          </a:xfrm>
          <a:prstGeom prst="rect">
            <a:avLst/>
          </a:prstGeom>
          <a:noFill/>
          <a:ln/>
        </p:spPr>
        <p:txBody>
          <a:bodyPr wrap="square" lIns="0" tIns="0" rIns="0" bIns="0" rtlCol="0" anchor="ctr"/>
          <a:lstStyle/>
          <a:p>
            <a:pPr algn="ctr" indent="0" marL="0">
              <a:buNone/>
            </a:pPr>
            <a:r>
              <a:rPr lang="en-US" sz="900" dirty="0">
                <a:solidFill>
                  <a:srgbClr val="56677A"/>
                </a:solidFill>
                <a:latin typeface="Calibri" pitchFamily="34" charset="0"/>
                <a:ea typeface="Calibri" pitchFamily="34" charset="-122"/>
                <a:cs typeface="Calibri" pitchFamily="34" charset="-120"/>
              </a:rPr>
              <a:t>Test</a:t>
            </a:r>
            <a:endParaRPr lang="en-US" sz="900" dirty="0"/>
          </a:p>
        </p:txBody>
      </p:sp>
      <p:sp>
        <p:nvSpPr>
          <p:cNvPr id="14" name="Shape 12"/>
          <p:cNvSpPr/>
          <p:nvPr/>
        </p:nvSpPr>
        <p:spPr>
          <a:xfrm>
            <a:off x="4276344" y="1883664"/>
            <a:ext cx="854202" cy="457200"/>
          </a:xfrm>
          <a:prstGeom prst="roundRect">
            <a:avLst>
              <a:gd name="adj" fmla="val 10000"/>
            </a:avLst>
          </a:prstGeom>
          <a:solidFill>
            <a:srgbClr val="F1F4F8"/>
          </a:solidFill>
          <a:ln w="9525">
            <a:solidFill>
              <a:srgbClr val="CFD8E3"/>
            </a:solidFill>
            <a:prstDash val="solid"/>
          </a:ln>
        </p:spPr>
      </p:sp>
      <p:sp>
        <p:nvSpPr>
          <p:cNvPr id="15" name="Text 13"/>
          <p:cNvSpPr/>
          <p:nvPr/>
        </p:nvSpPr>
        <p:spPr>
          <a:xfrm>
            <a:off x="4276344" y="1883664"/>
            <a:ext cx="854202" cy="457200"/>
          </a:xfrm>
          <a:prstGeom prst="rect">
            <a:avLst/>
          </a:prstGeom>
          <a:noFill/>
          <a:ln/>
        </p:spPr>
        <p:txBody>
          <a:bodyPr wrap="square" lIns="0" tIns="0" rIns="0" bIns="0" rtlCol="0" anchor="ctr"/>
          <a:lstStyle/>
          <a:p>
            <a:pPr algn="ctr" indent="0" marL="0">
              <a:buNone/>
            </a:pPr>
            <a:r>
              <a:rPr lang="en-US" sz="900" dirty="0">
                <a:solidFill>
                  <a:srgbClr val="56677A"/>
                </a:solidFill>
                <a:latin typeface="Calibri" pitchFamily="34" charset="0"/>
                <a:ea typeface="Calibri" pitchFamily="34" charset="-122"/>
                <a:cs typeface="Calibri" pitchFamily="34" charset="-120"/>
              </a:rPr>
              <a:t>Issue</a:t>
            </a:r>
            <a:endParaRPr lang="en-US" sz="900" dirty="0"/>
          </a:p>
        </p:txBody>
      </p:sp>
      <p:sp>
        <p:nvSpPr>
          <p:cNvPr id="16" name="Shape 14"/>
          <p:cNvSpPr/>
          <p:nvPr/>
        </p:nvSpPr>
        <p:spPr>
          <a:xfrm>
            <a:off x="5203698" y="1883664"/>
            <a:ext cx="854202" cy="457200"/>
          </a:xfrm>
          <a:prstGeom prst="roundRect">
            <a:avLst>
              <a:gd name="adj" fmla="val 10000"/>
            </a:avLst>
          </a:prstGeom>
          <a:solidFill>
            <a:srgbClr val="F1F4F8"/>
          </a:solidFill>
          <a:ln w="9525">
            <a:solidFill>
              <a:srgbClr val="CFD8E3"/>
            </a:solidFill>
            <a:prstDash val="solid"/>
          </a:ln>
        </p:spPr>
      </p:sp>
      <p:sp>
        <p:nvSpPr>
          <p:cNvPr id="17" name="Text 15"/>
          <p:cNvSpPr/>
          <p:nvPr/>
        </p:nvSpPr>
        <p:spPr>
          <a:xfrm>
            <a:off x="5203698" y="1883664"/>
            <a:ext cx="854202" cy="457200"/>
          </a:xfrm>
          <a:prstGeom prst="rect">
            <a:avLst/>
          </a:prstGeom>
          <a:noFill/>
          <a:ln/>
        </p:spPr>
        <p:txBody>
          <a:bodyPr wrap="square" lIns="0" tIns="0" rIns="0" bIns="0" rtlCol="0" anchor="ctr"/>
          <a:lstStyle/>
          <a:p>
            <a:pPr algn="ctr" indent="0" marL="0">
              <a:buNone/>
            </a:pPr>
            <a:r>
              <a:rPr lang="en-US" sz="900" dirty="0">
                <a:solidFill>
                  <a:srgbClr val="56677A"/>
                </a:solidFill>
                <a:latin typeface="Calibri" pitchFamily="34" charset="0"/>
                <a:ea typeface="Calibri" pitchFamily="34" charset="-122"/>
                <a:cs typeface="Calibri" pitchFamily="34" charset="-120"/>
              </a:rPr>
              <a:t>Brief</a:t>
            </a:r>
            <a:endParaRPr lang="en-US" sz="900" dirty="0"/>
          </a:p>
        </p:txBody>
      </p:sp>
      <p:sp>
        <p:nvSpPr>
          <p:cNvPr id="18" name="Shape 16"/>
          <p:cNvSpPr/>
          <p:nvPr/>
        </p:nvSpPr>
        <p:spPr>
          <a:xfrm>
            <a:off x="6131052" y="1883664"/>
            <a:ext cx="854202" cy="457200"/>
          </a:xfrm>
          <a:prstGeom prst="roundRect">
            <a:avLst>
              <a:gd name="adj" fmla="val 10000"/>
            </a:avLst>
          </a:prstGeom>
          <a:solidFill>
            <a:srgbClr val="F1F4F8"/>
          </a:solidFill>
          <a:ln w="9525">
            <a:solidFill>
              <a:srgbClr val="CFD8E3"/>
            </a:solidFill>
            <a:prstDash val="solid"/>
          </a:ln>
        </p:spPr>
      </p:sp>
      <p:sp>
        <p:nvSpPr>
          <p:cNvPr id="19" name="Text 17"/>
          <p:cNvSpPr/>
          <p:nvPr/>
        </p:nvSpPr>
        <p:spPr>
          <a:xfrm>
            <a:off x="6131052" y="1883664"/>
            <a:ext cx="854202" cy="457200"/>
          </a:xfrm>
          <a:prstGeom prst="rect">
            <a:avLst/>
          </a:prstGeom>
          <a:noFill/>
          <a:ln/>
        </p:spPr>
        <p:txBody>
          <a:bodyPr wrap="square" lIns="0" tIns="0" rIns="0" bIns="0" rtlCol="0" anchor="ctr"/>
          <a:lstStyle/>
          <a:p>
            <a:pPr algn="ctr" indent="0" marL="0">
              <a:buNone/>
            </a:pPr>
            <a:r>
              <a:rPr lang="en-US" sz="900" dirty="0">
                <a:solidFill>
                  <a:srgbClr val="56677A"/>
                </a:solidFill>
                <a:latin typeface="Calibri" pitchFamily="34" charset="0"/>
                <a:ea typeface="Calibri" pitchFamily="34" charset="-122"/>
                <a:cs typeface="Calibri" pitchFamily="34" charset="-120"/>
              </a:rPr>
              <a:t>Execute</a:t>
            </a:r>
            <a:endParaRPr lang="en-US" sz="900" dirty="0"/>
          </a:p>
        </p:txBody>
      </p:sp>
      <p:sp>
        <p:nvSpPr>
          <p:cNvPr id="20" name="Shape 18"/>
          <p:cNvSpPr/>
          <p:nvPr/>
        </p:nvSpPr>
        <p:spPr>
          <a:xfrm>
            <a:off x="7058406" y="1883664"/>
            <a:ext cx="854202" cy="457200"/>
          </a:xfrm>
          <a:prstGeom prst="roundRect">
            <a:avLst>
              <a:gd name="adj" fmla="val 10000"/>
            </a:avLst>
          </a:prstGeom>
          <a:solidFill>
            <a:srgbClr val="F1F4F8"/>
          </a:solidFill>
          <a:ln w="9525">
            <a:solidFill>
              <a:srgbClr val="CFD8E3"/>
            </a:solidFill>
            <a:prstDash val="solid"/>
          </a:ln>
        </p:spPr>
      </p:sp>
      <p:sp>
        <p:nvSpPr>
          <p:cNvPr id="21" name="Text 19"/>
          <p:cNvSpPr/>
          <p:nvPr/>
        </p:nvSpPr>
        <p:spPr>
          <a:xfrm>
            <a:off x="7058406" y="1883664"/>
            <a:ext cx="854202" cy="457200"/>
          </a:xfrm>
          <a:prstGeom prst="rect">
            <a:avLst/>
          </a:prstGeom>
          <a:noFill/>
          <a:ln/>
        </p:spPr>
        <p:txBody>
          <a:bodyPr wrap="square" lIns="0" tIns="0" rIns="0" bIns="0" rtlCol="0" anchor="ctr"/>
          <a:lstStyle/>
          <a:p>
            <a:pPr algn="ctr" indent="0" marL="0">
              <a:buNone/>
            </a:pPr>
            <a:r>
              <a:rPr lang="en-US" sz="900" dirty="0">
                <a:solidFill>
                  <a:srgbClr val="56677A"/>
                </a:solidFill>
                <a:latin typeface="Calibri" pitchFamily="34" charset="0"/>
                <a:ea typeface="Calibri" pitchFamily="34" charset="-122"/>
                <a:cs typeface="Calibri" pitchFamily="34" charset="-120"/>
              </a:rPr>
              <a:t>Suspend</a:t>
            </a:r>
            <a:endParaRPr lang="en-US" sz="900" dirty="0"/>
          </a:p>
        </p:txBody>
      </p:sp>
      <p:sp>
        <p:nvSpPr>
          <p:cNvPr id="22" name="Shape 20"/>
          <p:cNvSpPr/>
          <p:nvPr/>
        </p:nvSpPr>
        <p:spPr>
          <a:xfrm>
            <a:off x="7985760" y="1883664"/>
            <a:ext cx="854202" cy="457200"/>
          </a:xfrm>
          <a:prstGeom prst="roundRect">
            <a:avLst>
              <a:gd name="adj" fmla="val 10000"/>
            </a:avLst>
          </a:prstGeom>
          <a:solidFill>
            <a:srgbClr val="00539B"/>
          </a:solidFill>
          <a:ln w="9525">
            <a:solidFill>
              <a:srgbClr val="00539B"/>
            </a:solidFill>
            <a:prstDash val="solid"/>
          </a:ln>
        </p:spPr>
      </p:sp>
      <p:sp>
        <p:nvSpPr>
          <p:cNvPr id="23" name="Text 21"/>
          <p:cNvSpPr/>
          <p:nvPr/>
        </p:nvSpPr>
        <p:spPr>
          <a:xfrm>
            <a:off x="7985760" y="1883664"/>
            <a:ext cx="854202"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Revalidate</a:t>
            </a:r>
            <a:endParaRPr lang="en-US" sz="900" dirty="0"/>
          </a:p>
        </p:txBody>
      </p:sp>
      <p:sp>
        <p:nvSpPr>
          <p:cNvPr id="24" name="Shape 22"/>
          <p:cNvSpPr/>
          <p:nvPr/>
        </p:nvSpPr>
        <p:spPr>
          <a:xfrm>
            <a:off x="8913114" y="1883664"/>
            <a:ext cx="854202" cy="457200"/>
          </a:xfrm>
          <a:prstGeom prst="roundRect">
            <a:avLst>
              <a:gd name="adj" fmla="val 10000"/>
            </a:avLst>
          </a:prstGeom>
          <a:solidFill>
            <a:srgbClr val="F1F4F8"/>
          </a:solidFill>
          <a:ln w="9525">
            <a:solidFill>
              <a:srgbClr val="CFD8E3"/>
            </a:solidFill>
            <a:prstDash val="solid"/>
          </a:ln>
        </p:spPr>
      </p:sp>
      <p:sp>
        <p:nvSpPr>
          <p:cNvPr id="25" name="Text 23"/>
          <p:cNvSpPr/>
          <p:nvPr/>
        </p:nvSpPr>
        <p:spPr>
          <a:xfrm>
            <a:off x="8913114" y="1883664"/>
            <a:ext cx="854202" cy="457200"/>
          </a:xfrm>
          <a:prstGeom prst="rect">
            <a:avLst/>
          </a:prstGeom>
          <a:noFill/>
          <a:ln/>
        </p:spPr>
        <p:txBody>
          <a:bodyPr wrap="square" lIns="0" tIns="0" rIns="0" bIns="0" rtlCol="0" anchor="ctr"/>
          <a:lstStyle/>
          <a:p>
            <a:pPr algn="ctr" indent="0" marL="0">
              <a:buNone/>
            </a:pPr>
            <a:r>
              <a:rPr lang="en-US" sz="900" dirty="0">
                <a:solidFill>
                  <a:srgbClr val="56677A"/>
                </a:solidFill>
                <a:latin typeface="Calibri" pitchFamily="34" charset="0"/>
                <a:ea typeface="Calibri" pitchFamily="34" charset="-122"/>
                <a:cs typeface="Calibri" pitchFamily="34" charset="-120"/>
              </a:rPr>
              <a:t>Handback</a:t>
            </a:r>
            <a:endParaRPr lang="en-US" sz="900" dirty="0"/>
          </a:p>
        </p:txBody>
      </p:sp>
      <p:sp>
        <p:nvSpPr>
          <p:cNvPr id="26" name="Shape 24"/>
          <p:cNvSpPr/>
          <p:nvPr/>
        </p:nvSpPr>
        <p:spPr>
          <a:xfrm>
            <a:off x="9840468" y="1883664"/>
            <a:ext cx="854202" cy="457200"/>
          </a:xfrm>
          <a:prstGeom prst="roundRect">
            <a:avLst>
              <a:gd name="adj" fmla="val 10000"/>
            </a:avLst>
          </a:prstGeom>
          <a:solidFill>
            <a:srgbClr val="F1F4F8"/>
          </a:solidFill>
          <a:ln w="9525">
            <a:solidFill>
              <a:srgbClr val="CFD8E3"/>
            </a:solidFill>
            <a:prstDash val="solid"/>
          </a:ln>
        </p:spPr>
      </p:sp>
      <p:sp>
        <p:nvSpPr>
          <p:cNvPr id="27" name="Text 25"/>
          <p:cNvSpPr/>
          <p:nvPr/>
        </p:nvSpPr>
        <p:spPr>
          <a:xfrm>
            <a:off x="9840468" y="1883664"/>
            <a:ext cx="854202" cy="457200"/>
          </a:xfrm>
          <a:prstGeom prst="rect">
            <a:avLst/>
          </a:prstGeom>
          <a:noFill/>
          <a:ln/>
        </p:spPr>
        <p:txBody>
          <a:bodyPr wrap="square" lIns="0" tIns="0" rIns="0" bIns="0" rtlCol="0" anchor="ctr"/>
          <a:lstStyle/>
          <a:p>
            <a:pPr algn="ctr" indent="0" marL="0">
              <a:buNone/>
            </a:pPr>
            <a:r>
              <a:rPr lang="en-US" sz="900" dirty="0">
                <a:solidFill>
                  <a:srgbClr val="56677A"/>
                </a:solidFill>
                <a:latin typeface="Calibri" pitchFamily="34" charset="0"/>
                <a:ea typeface="Calibri" pitchFamily="34" charset="-122"/>
                <a:cs typeface="Calibri" pitchFamily="34" charset="-120"/>
              </a:rPr>
              <a:t>Close</a:t>
            </a:r>
            <a:endParaRPr lang="en-US" sz="900" dirty="0"/>
          </a:p>
        </p:txBody>
      </p:sp>
      <p:sp>
        <p:nvSpPr>
          <p:cNvPr id="28" name="Shape 26"/>
          <p:cNvSpPr/>
          <p:nvPr/>
        </p:nvSpPr>
        <p:spPr>
          <a:xfrm>
            <a:off x="10767822" y="1883664"/>
            <a:ext cx="854202" cy="457200"/>
          </a:xfrm>
          <a:prstGeom prst="roundRect">
            <a:avLst>
              <a:gd name="adj" fmla="val 10000"/>
            </a:avLst>
          </a:prstGeom>
          <a:solidFill>
            <a:srgbClr val="00539B"/>
          </a:solidFill>
          <a:ln w="9525">
            <a:solidFill>
              <a:srgbClr val="00539B"/>
            </a:solidFill>
            <a:prstDash val="solid"/>
          </a:ln>
        </p:spPr>
      </p:sp>
      <p:sp>
        <p:nvSpPr>
          <p:cNvPr id="29" name="Text 27"/>
          <p:cNvSpPr/>
          <p:nvPr/>
        </p:nvSpPr>
        <p:spPr>
          <a:xfrm>
            <a:off x="10767822" y="1883664"/>
            <a:ext cx="854202"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Audit</a:t>
            </a:r>
            <a:endParaRPr lang="en-US" sz="900" dirty="0"/>
          </a:p>
        </p:txBody>
      </p:sp>
      <p:sp>
        <p:nvSpPr>
          <p:cNvPr id="30" name="Shape 28"/>
          <p:cNvSpPr/>
          <p:nvPr/>
        </p:nvSpPr>
        <p:spPr>
          <a:xfrm>
            <a:off x="566928" y="2578608"/>
            <a:ext cx="3520440" cy="3182112"/>
          </a:xfrm>
          <a:prstGeom prst="roundRect">
            <a:avLst>
              <a:gd name="adj" fmla="val 1437"/>
            </a:avLst>
          </a:prstGeom>
          <a:solidFill>
            <a:srgbClr val="F1F4F8"/>
          </a:solidFill>
          <a:ln w="9525">
            <a:solidFill>
              <a:srgbClr val="CFD8E3"/>
            </a:solidFill>
            <a:prstDash val="solid"/>
          </a:ln>
        </p:spPr>
      </p:sp>
      <p:sp>
        <p:nvSpPr>
          <p:cNvPr id="31" name="Text 29"/>
          <p:cNvSpPr/>
          <p:nvPr/>
        </p:nvSpPr>
        <p:spPr>
          <a:xfrm>
            <a:off x="768096" y="2706624"/>
            <a:ext cx="3118104" cy="201168"/>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PERMIT TYPES</a:t>
            </a:r>
            <a:endParaRPr lang="en-US" sz="850" dirty="0"/>
          </a:p>
        </p:txBody>
      </p:sp>
      <p:sp>
        <p:nvSpPr>
          <p:cNvPr id="32" name="Text 30"/>
          <p:cNvSpPr/>
          <p:nvPr/>
        </p:nvSpPr>
        <p:spPr>
          <a:xfrm>
            <a:off x="768096" y="2980944"/>
            <a:ext cx="3118104"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Hot Work Type A</a:t>
            </a:r>
            <a:pPr indent="0" marL="0">
              <a:buNone/>
            </a:pPr>
            <a:r>
              <a:rPr lang="en-US" sz="1000" dirty="0">
                <a:solidFill>
                  <a:srgbClr val="56677A"/>
                </a:solidFill>
                <a:latin typeface="Calibri" pitchFamily="34" charset="0"/>
                <a:ea typeface="Calibri" pitchFamily="34" charset="-122"/>
                <a:cs typeface="Calibri" pitchFamily="34" charset="-120"/>
              </a:rPr>
              <a:t>  ·  spark or flame</a:t>
            </a:r>
            <a:endParaRPr lang="en-US" sz="1000" dirty="0"/>
          </a:p>
        </p:txBody>
      </p:sp>
      <p:sp>
        <p:nvSpPr>
          <p:cNvPr id="33" name="Text 31"/>
          <p:cNvSpPr/>
          <p:nvPr/>
        </p:nvSpPr>
        <p:spPr>
          <a:xfrm>
            <a:off x="768096" y="3282696"/>
            <a:ext cx="3118104"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Hot Work Type B</a:t>
            </a:r>
            <a:pPr indent="0" marL="0">
              <a:buNone/>
            </a:pPr>
            <a:r>
              <a:rPr lang="en-US" sz="1000" dirty="0">
                <a:solidFill>
                  <a:srgbClr val="56677A"/>
                </a:solidFill>
                <a:latin typeface="Calibri" pitchFamily="34" charset="0"/>
                <a:ea typeface="Calibri" pitchFamily="34" charset="-122"/>
                <a:cs typeface="Calibri" pitchFamily="34" charset="-120"/>
              </a:rPr>
              <a:t>  ·  hot surface, vehicle entry</a:t>
            </a:r>
            <a:endParaRPr lang="en-US" sz="1000" dirty="0"/>
          </a:p>
        </p:txBody>
      </p:sp>
      <p:sp>
        <p:nvSpPr>
          <p:cNvPr id="34" name="Text 32"/>
          <p:cNvSpPr/>
          <p:nvPr/>
        </p:nvSpPr>
        <p:spPr>
          <a:xfrm>
            <a:off x="768096" y="3584448"/>
            <a:ext cx="3118104"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Cold Work</a:t>
            </a:r>
            <a:pPr indent="0" marL="0">
              <a:buNone/>
            </a:pPr>
            <a:r>
              <a:rPr lang="en-US" sz="1000" dirty="0">
                <a:solidFill>
                  <a:srgbClr val="56677A"/>
                </a:solidFill>
                <a:latin typeface="Calibri" pitchFamily="34" charset="0"/>
                <a:ea typeface="Calibri" pitchFamily="34" charset="-122"/>
                <a:cs typeface="Calibri" pitchFamily="34" charset="-120"/>
              </a:rPr>
              <a:t>  ·  mechanical, no ignition source</a:t>
            </a:r>
            <a:endParaRPr lang="en-US" sz="1000" dirty="0"/>
          </a:p>
        </p:txBody>
      </p:sp>
      <p:sp>
        <p:nvSpPr>
          <p:cNvPr id="35" name="Text 33"/>
          <p:cNvSpPr/>
          <p:nvPr/>
        </p:nvSpPr>
        <p:spPr>
          <a:xfrm>
            <a:off x="768096" y="3886200"/>
            <a:ext cx="3118104"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Line Breaking</a:t>
            </a:r>
            <a:pPr indent="0" marL="0">
              <a:buNone/>
            </a:pPr>
            <a:r>
              <a:rPr lang="en-US" sz="1000" dirty="0">
                <a:solidFill>
                  <a:srgbClr val="56677A"/>
                </a:solidFill>
                <a:latin typeface="Calibri" pitchFamily="34" charset="0"/>
                <a:ea typeface="Calibri" pitchFamily="34" charset="-122"/>
                <a:cs typeface="Calibri" pitchFamily="34" charset="-120"/>
              </a:rPr>
              <a:t>  ·  any breach of an envelope</a:t>
            </a:r>
            <a:endParaRPr lang="en-US" sz="1000" dirty="0"/>
          </a:p>
        </p:txBody>
      </p:sp>
      <p:sp>
        <p:nvSpPr>
          <p:cNvPr id="36" name="Text 34"/>
          <p:cNvSpPr/>
          <p:nvPr/>
        </p:nvSpPr>
        <p:spPr>
          <a:xfrm>
            <a:off x="768096" y="4187952"/>
            <a:ext cx="3118104"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Confined Space</a:t>
            </a:r>
            <a:pPr indent="0" marL="0">
              <a:buNone/>
            </a:pPr>
            <a:r>
              <a:rPr lang="en-US" sz="1000" dirty="0">
                <a:solidFill>
                  <a:srgbClr val="56677A"/>
                </a:solidFill>
                <a:latin typeface="Calibri" pitchFamily="34" charset="0"/>
                <a:ea typeface="Calibri" pitchFamily="34" charset="-122"/>
                <a:cs typeface="Calibri" pitchFamily="34" charset="-120"/>
              </a:rPr>
              <a:t>  ·  continuous monitoring</a:t>
            </a:r>
            <a:endParaRPr lang="en-US" sz="1000" dirty="0"/>
          </a:p>
        </p:txBody>
      </p:sp>
      <p:sp>
        <p:nvSpPr>
          <p:cNvPr id="37" name="Text 35"/>
          <p:cNvSpPr/>
          <p:nvPr/>
        </p:nvSpPr>
        <p:spPr>
          <a:xfrm>
            <a:off x="768096" y="4489704"/>
            <a:ext cx="3118104"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Electrical / LOTO</a:t>
            </a:r>
            <a:pPr indent="0" marL="0">
              <a:buNone/>
            </a:pPr>
            <a:r>
              <a:rPr lang="en-US" sz="1000" dirty="0">
                <a:solidFill>
                  <a:srgbClr val="56677A"/>
                </a:solidFill>
                <a:latin typeface="Calibri" pitchFamily="34" charset="0"/>
                <a:ea typeface="Calibri" pitchFamily="34" charset="-122"/>
                <a:cs typeface="Calibri" pitchFamily="34" charset="-120"/>
              </a:rPr>
              <a:t>  ·  duration of isolation</a:t>
            </a:r>
            <a:endParaRPr lang="en-US" sz="1000" dirty="0"/>
          </a:p>
        </p:txBody>
      </p:sp>
      <p:sp>
        <p:nvSpPr>
          <p:cNvPr id="38" name="Text 36"/>
          <p:cNvSpPr/>
          <p:nvPr/>
        </p:nvSpPr>
        <p:spPr>
          <a:xfrm>
            <a:off x="768096" y="4791456"/>
            <a:ext cx="3118104"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Excavation</a:t>
            </a:r>
            <a:pPr indent="0" marL="0">
              <a:buNone/>
            </a:pPr>
            <a:r>
              <a:rPr lang="en-US" sz="1000" dirty="0">
                <a:solidFill>
                  <a:srgbClr val="56677A"/>
                </a:solidFill>
                <a:latin typeface="Calibri" pitchFamily="34" charset="0"/>
                <a:ea typeface="Calibri" pitchFamily="34" charset="-122"/>
                <a:cs typeface="Calibri" pitchFamily="34" charset="-120"/>
              </a:rPr>
              <a:t>  ·  revalidated daily</a:t>
            </a:r>
            <a:endParaRPr lang="en-US" sz="1000" dirty="0"/>
          </a:p>
        </p:txBody>
      </p:sp>
      <p:sp>
        <p:nvSpPr>
          <p:cNvPr id="39" name="Text 37"/>
          <p:cNvSpPr/>
          <p:nvPr/>
        </p:nvSpPr>
        <p:spPr>
          <a:xfrm>
            <a:off x="768096" y="5093208"/>
            <a:ext cx="3118104"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Working at Height</a:t>
            </a:r>
            <a:pPr indent="0" marL="0">
              <a:buNone/>
            </a:pPr>
            <a:r>
              <a:rPr lang="en-US" sz="1000" dirty="0">
                <a:solidFill>
                  <a:srgbClr val="56677A"/>
                </a:solidFill>
                <a:latin typeface="Calibri" pitchFamily="34" charset="0"/>
                <a:ea typeface="Calibri" pitchFamily="34" charset="-122"/>
                <a:cs typeface="Calibri" pitchFamily="34" charset="-120"/>
              </a:rPr>
              <a:t>  ·  above 1.8 m</a:t>
            </a:r>
            <a:endParaRPr lang="en-US" sz="1000" dirty="0"/>
          </a:p>
        </p:txBody>
      </p:sp>
      <p:sp>
        <p:nvSpPr>
          <p:cNvPr id="40" name="Text 38"/>
          <p:cNvSpPr/>
          <p:nvPr/>
        </p:nvSpPr>
        <p:spPr>
          <a:xfrm>
            <a:off x="768096" y="5394960"/>
            <a:ext cx="3118104" cy="274320"/>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Radiography</a:t>
            </a:r>
            <a:pPr indent="0" marL="0">
              <a:buNone/>
            </a:pPr>
            <a:r>
              <a:rPr lang="en-US" sz="1000" dirty="0">
                <a:solidFill>
                  <a:srgbClr val="56677A"/>
                </a:solidFill>
                <a:latin typeface="Calibri" pitchFamily="34" charset="0"/>
                <a:ea typeface="Calibri" pitchFamily="34" charset="-122"/>
                <a:cs typeface="Calibri" pitchFamily="34" charset="-120"/>
              </a:rPr>
              <a:t>  ·  per exposure window</a:t>
            </a:r>
            <a:endParaRPr lang="en-US" sz="1000" dirty="0"/>
          </a:p>
        </p:txBody>
      </p:sp>
      <p:sp>
        <p:nvSpPr>
          <p:cNvPr id="41" name="Shape 39"/>
          <p:cNvSpPr/>
          <p:nvPr/>
        </p:nvSpPr>
        <p:spPr>
          <a:xfrm>
            <a:off x="4334256" y="2578608"/>
            <a:ext cx="3520440" cy="3182112"/>
          </a:xfrm>
          <a:prstGeom prst="roundRect">
            <a:avLst>
              <a:gd name="adj" fmla="val 1437"/>
            </a:avLst>
          </a:prstGeom>
          <a:solidFill>
            <a:srgbClr val="F1F4F8"/>
          </a:solidFill>
          <a:ln w="9525">
            <a:solidFill>
              <a:srgbClr val="CFD8E3"/>
            </a:solidFill>
            <a:prstDash val="solid"/>
          </a:ln>
        </p:spPr>
      </p:sp>
      <p:sp>
        <p:nvSpPr>
          <p:cNvPr id="42" name="Text 40"/>
          <p:cNvSpPr/>
          <p:nvPr/>
        </p:nvSpPr>
        <p:spPr>
          <a:xfrm>
            <a:off x="4535424" y="2706624"/>
            <a:ext cx="3118104" cy="201168"/>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ROLES  ·  SEPARATION OF DUTIES</a:t>
            </a:r>
            <a:endParaRPr lang="en-US" sz="850" dirty="0"/>
          </a:p>
        </p:txBody>
      </p:sp>
      <p:sp>
        <p:nvSpPr>
          <p:cNvPr id="43" name="Text 41"/>
          <p:cNvSpPr/>
          <p:nvPr/>
        </p:nvSpPr>
        <p:spPr>
          <a:xfrm>
            <a:off x="4535424" y="299923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Performing Authority</a:t>
            </a:r>
            <a:endParaRPr lang="en-US" sz="1050" dirty="0"/>
          </a:p>
        </p:txBody>
      </p:sp>
      <p:sp>
        <p:nvSpPr>
          <p:cNvPr id="44" name="Text 42"/>
          <p:cNvSpPr/>
          <p:nvPr/>
        </p:nvSpPr>
        <p:spPr>
          <a:xfrm>
            <a:off x="4535424" y="316382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scope, JSA, controls in the field</a:t>
            </a:r>
            <a:endParaRPr lang="en-US" sz="950" dirty="0"/>
          </a:p>
        </p:txBody>
      </p:sp>
      <p:sp>
        <p:nvSpPr>
          <p:cNvPr id="45" name="Text 43"/>
          <p:cNvSpPr/>
          <p:nvPr/>
        </p:nvSpPr>
        <p:spPr>
          <a:xfrm>
            <a:off x="4535424" y="336499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Issuing Authority</a:t>
            </a:r>
            <a:endParaRPr lang="en-US" sz="1050" dirty="0"/>
          </a:p>
        </p:txBody>
      </p:sp>
      <p:sp>
        <p:nvSpPr>
          <p:cNvPr id="46" name="Text 44"/>
          <p:cNvSpPr/>
          <p:nvPr/>
        </p:nvSpPr>
        <p:spPr>
          <a:xfrm>
            <a:off x="4535424" y="352958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verifies isolations and gas tests</a:t>
            </a:r>
            <a:endParaRPr lang="en-US" sz="950" dirty="0"/>
          </a:p>
        </p:txBody>
      </p:sp>
      <p:sp>
        <p:nvSpPr>
          <p:cNvPr id="47" name="Text 45"/>
          <p:cNvSpPr/>
          <p:nvPr/>
        </p:nvSpPr>
        <p:spPr>
          <a:xfrm>
            <a:off x="4535424" y="373075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Area Authority</a:t>
            </a:r>
            <a:endParaRPr lang="en-US" sz="1050" dirty="0"/>
          </a:p>
        </p:txBody>
      </p:sp>
      <p:sp>
        <p:nvSpPr>
          <p:cNvPr id="48" name="Text 46"/>
          <p:cNvSpPr/>
          <p:nvPr/>
        </p:nvSpPr>
        <p:spPr>
          <a:xfrm>
            <a:off x="4535424" y="389534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plant condition, cross-permit conflicts</a:t>
            </a:r>
            <a:endParaRPr lang="en-US" sz="950" dirty="0"/>
          </a:p>
        </p:txBody>
      </p:sp>
      <p:sp>
        <p:nvSpPr>
          <p:cNvPr id="49" name="Text 47"/>
          <p:cNvSpPr/>
          <p:nvPr/>
        </p:nvSpPr>
        <p:spPr>
          <a:xfrm>
            <a:off x="4535424" y="409651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Isolating Authority</a:t>
            </a:r>
            <a:endParaRPr lang="en-US" sz="1050" dirty="0"/>
          </a:p>
        </p:txBody>
      </p:sp>
      <p:sp>
        <p:nvSpPr>
          <p:cNvPr id="50" name="Text 48"/>
          <p:cNvSpPr/>
          <p:nvPr/>
        </p:nvSpPr>
        <p:spPr>
          <a:xfrm>
            <a:off x="4535424" y="426110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applies and proves isolations</a:t>
            </a:r>
            <a:endParaRPr lang="en-US" sz="950" dirty="0"/>
          </a:p>
        </p:txBody>
      </p:sp>
      <p:sp>
        <p:nvSpPr>
          <p:cNvPr id="51" name="Text 49"/>
          <p:cNvSpPr/>
          <p:nvPr/>
        </p:nvSpPr>
        <p:spPr>
          <a:xfrm>
            <a:off x="4535424" y="446227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Authorised Gas Tester</a:t>
            </a:r>
            <a:endParaRPr lang="en-US" sz="1050" dirty="0"/>
          </a:p>
        </p:txBody>
      </p:sp>
      <p:sp>
        <p:nvSpPr>
          <p:cNvPr id="52" name="Text 50"/>
          <p:cNvSpPr/>
          <p:nvPr/>
        </p:nvSpPr>
        <p:spPr>
          <a:xfrm>
            <a:off x="4535424" y="462686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all atmospheric testing</a:t>
            </a:r>
            <a:endParaRPr lang="en-US" sz="950" dirty="0"/>
          </a:p>
        </p:txBody>
      </p:sp>
      <p:sp>
        <p:nvSpPr>
          <p:cNvPr id="53" name="Text 51"/>
          <p:cNvSpPr/>
          <p:nvPr/>
        </p:nvSpPr>
        <p:spPr>
          <a:xfrm>
            <a:off x="4535424" y="482803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Site Controller</a:t>
            </a:r>
            <a:endParaRPr lang="en-US" sz="1050" dirty="0"/>
          </a:p>
        </p:txBody>
      </p:sp>
      <p:sp>
        <p:nvSpPr>
          <p:cNvPr id="54" name="Text 52"/>
          <p:cNvSpPr/>
          <p:nvPr/>
        </p:nvSpPr>
        <p:spPr>
          <a:xfrm>
            <a:off x="4535424" y="499262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SIMOPS and emergency authority</a:t>
            </a:r>
            <a:endParaRPr lang="en-US" sz="950" dirty="0"/>
          </a:p>
        </p:txBody>
      </p:sp>
      <p:sp>
        <p:nvSpPr>
          <p:cNvPr id="55" name="Shape 53"/>
          <p:cNvSpPr/>
          <p:nvPr/>
        </p:nvSpPr>
        <p:spPr>
          <a:xfrm>
            <a:off x="4535424" y="5248656"/>
            <a:ext cx="3118104" cy="420624"/>
          </a:xfrm>
          <a:prstGeom prst="roundRect">
            <a:avLst>
              <a:gd name="adj" fmla="val 10870"/>
            </a:avLst>
          </a:prstGeom>
          <a:solidFill>
            <a:srgbClr val="0A2540"/>
          </a:solidFill>
          <a:ln/>
        </p:spPr>
      </p:sp>
      <p:sp>
        <p:nvSpPr>
          <p:cNvPr id="56" name="Text 54"/>
          <p:cNvSpPr/>
          <p:nvPr/>
        </p:nvSpPr>
        <p:spPr>
          <a:xfrm>
            <a:off x="4645152" y="5248656"/>
            <a:ext cx="2898648" cy="42062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No one person may hold PA and IA on the same permit.</a:t>
            </a:r>
            <a:endParaRPr lang="en-US" sz="950" dirty="0"/>
          </a:p>
        </p:txBody>
      </p:sp>
      <p:sp>
        <p:nvSpPr>
          <p:cNvPr id="57" name="Shape 55"/>
          <p:cNvSpPr/>
          <p:nvPr/>
        </p:nvSpPr>
        <p:spPr>
          <a:xfrm>
            <a:off x="8101584" y="2578608"/>
            <a:ext cx="3520440" cy="3182112"/>
          </a:xfrm>
          <a:prstGeom prst="roundRect">
            <a:avLst>
              <a:gd name="adj" fmla="val 1437"/>
            </a:avLst>
          </a:prstGeom>
          <a:solidFill>
            <a:srgbClr val="F1F4F8"/>
          </a:solidFill>
          <a:ln w="9525">
            <a:solidFill>
              <a:srgbClr val="CFD8E3"/>
            </a:solidFill>
            <a:prstDash val="solid"/>
          </a:ln>
        </p:spPr>
      </p:sp>
      <p:sp>
        <p:nvSpPr>
          <p:cNvPr id="58" name="Text 56"/>
          <p:cNvSpPr/>
          <p:nvPr/>
        </p:nvSpPr>
        <p:spPr>
          <a:xfrm>
            <a:off x="8302752" y="2706624"/>
            <a:ext cx="3118104" cy="201168"/>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SUPPORTING CERTIFICATES</a:t>
            </a:r>
            <a:endParaRPr lang="en-US" sz="850" dirty="0"/>
          </a:p>
        </p:txBody>
      </p:sp>
      <p:sp>
        <p:nvSpPr>
          <p:cNvPr id="59" name="Text 57"/>
          <p:cNvSpPr/>
          <p:nvPr/>
        </p:nvSpPr>
        <p:spPr>
          <a:xfrm>
            <a:off x="8302752" y="299923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Isolation certificate</a:t>
            </a:r>
            <a:endParaRPr lang="en-US" sz="1050" dirty="0"/>
          </a:p>
        </p:txBody>
      </p:sp>
      <p:sp>
        <p:nvSpPr>
          <p:cNvPr id="60" name="Text 58"/>
          <p:cNvSpPr/>
          <p:nvPr/>
        </p:nvSpPr>
        <p:spPr>
          <a:xfrm>
            <a:off x="8302752" y="316382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every point listed, locked, proved dead</a:t>
            </a:r>
            <a:endParaRPr lang="en-US" sz="950" dirty="0"/>
          </a:p>
        </p:txBody>
      </p:sp>
      <p:sp>
        <p:nvSpPr>
          <p:cNvPr id="61" name="Text 59"/>
          <p:cNvSpPr/>
          <p:nvPr/>
        </p:nvSpPr>
        <p:spPr>
          <a:xfrm>
            <a:off x="8302752" y="336499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LOTO register</a:t>
            </a:r>
            <a:endParaRPr lang="en-US" sz="1050" dirty="0"/>
          </a:p>
        </p:txBody>
      </p:sp>
      <p:sp>
        <p:nvSpPr>
          <p:cNvPr id="62" name="Text 60"/>
          <p:cNvSpPr/>
          <p:nvPr/>
        </p:nvSpPr>
        <p:spPr>
          <a:xfrm>
            <a:off x="8302752" y="352958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a personal lock for every exposed person</a:t>
            </a:r>
            <a:endParaRPr lang="en-US" sz="950" dirty="0"/>
          </a:p>
        </p:txBody>
      </p:sp>
      <p:sp>
        <p:nvSpPr>
          <p:cNvPr id="63" name="Text 61"/>
          <p:cNvSpPr/>
          <p:nvPr/>
        </p:nvSpPr>
        <p:spPr>
          <a:xfrm>
            <a:off x="8302752" y="373075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Confined space entry</a:t>
            </a:r>
            <a:endParaRPr lang="en-US" sz="1050" dirty="0"/>
          </a:p>
        </p:txBody>
      </p:sp>
      <p:sp>
        <p:nvSpPr>
          <p:cNvPr id="64" name="Text 62"/>
          <p:cNvSpPr/>
          <p:nvPr/>
        </p:nvSpPr>
        <p:spPr>
          <a:xfrm>
            <a:off x="8302752" y="389534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atmosphere, standby, rescue plan</a:t>
            </a:r>
            <a:endParaRPr lang="en-US" sz="950" dirty="0"/>
          </a:p>
        </p:txBody>
      </p:sp>
      <p:sp>
        <p:nvSpPr>
          <p:cNvPr id="65" name="Text 63"/>
          <p:cNvSpPr/>
          <p:nvPr/>
        </p:nvSpPr>
        <p:spPr>
          <a:xfrm>
            <a:off x="8302752" y="409651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Excavation</a:t>
            </a:r>
            <a:endParaRPr lang="en-US" sz="1050" dirty="0"/>
          </a:p>
        </p:txBody>
      </p:sp>
      <p:sp>
        <p:nvSpPr>
          <p:cNvPr id="66" name="Text 64"/>
          <p:cNvSpPr/>
          <p:nvPr/>
        </p:nvSpPr>
        <p:spPr>
          <a:xfrm>
            <a:off x="8302752" y="426110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services located, shoring, access</a:t>
            </a:r>
            <a:endParaRPr lang="en-US" sz="950" dirty="0"/>
          </a:p>
        </p:txBody>
      </p:sp>
      <p:sp>
        <p:nvSpPr>
          <p:cNvPr id="67" name="Text 65"/>
          <p:cNvSpPr/>
          <p:nvPr/>
        </p:nvSpPr>
        <p:spPr>
          <a:xfrm>
            <a:off x="8302752" y="4462272"/>
            <a:ext cx="3118104" cy="18288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Radiography</a:t>
            </a:r>
            <a:endParaRPr lang="en-US" sz="1050" dirty="0"/>
          </a:p>
        </p:txBody>
      </p:sp>
      <p:sp>
        <p:nvSpPr>
          <p:cNvPr id="68" name="Text 66"/>
          <p:cNvSpPr/>
          <p:nvPr/>
        </p:nvSpPr>
        <p:spPr>
          <a:xfrm>
            <a:off x="8302752" y="4626864"/>
            <a:ext cx="3118104" cy="182880"/>
          </a:xfrm>
          <a:prstGeom prst="rect">
            <a:avLst/>
          </a:prstGeom>
          <a:noFill/>
          <a:ln/>
        </p:spPr>
        <p:txBody>
          <a:bodyPr wrap="square" lIns="0" tIns="0" rIns="0" bIns="0" rtlCol="0" anchor="ctr"/>
          <a:lstStyle/>
          <a:p>
            <a:pPr indent="0" marL="0">
              <a:buNone/>
            </a:pPr>
            <a:r>
              <a:rPr lang="en-US" sz="950" dirty="0">
                <a:solidFill>
                  <a:srgbClr val="56677A"/>
                </a:solidFill>
                <a:latin typeface="Calibri" pitchFamily="34" charset="0"/>
                <a:ea typeface="Calibri" pitchFamily="34" charset="-122"/>
                <a:cs typeface="Calibri" pitchFamily="34" charset="-120"/>
              </a:rPr>
              <a:t>barriers, dose rates, timing</a:t>
            </a:r>
            <a:endParaRPr lang="en-US" sz="950" dirty="0"/>
          </a:p>
        </p:txBody>
      </p:sp>
      <p:sp>
        <p:nvSpPr>
          <p:cNvPr id="69" name="Text 67"/>
          <p:cNvSpPr/>
          <p:nvPr/>
        </p:nvSpPr>
        <p:spPr>
          <a:xfrm>
            <a:off x="8302752" y="4919472"/>
            <a:ext cx="3118104" cy="676656"/>
          </a:xfrm>
          <a:prstGeom prst="rect">
            <a:avLst/>
          </a:prstGeom>
          <a:noFill/>
          <a:ln/>
        </p:spPr>
        <p:txBody>
          <a:bodyPr wrap="square" lIns="0" tIns="0" rIns="0" bIns="0" rtlCol="0" anchor="t"/>
          <a:lstStyle/>
          <a:p>
            <a:pPr indent="0" marL="0">
              <a:lnSpc>
                <a:spcPts val="1200"/>
              </a:lnSpc>
              <a:buNone/>
            </a:pPr>
            <a:r>
              <a:rPr lang="en-US" sz="950" i="1" dirty="0">
                <a:solidFill>
                  <a:srgbClr val="56677A"/>
                </a:solidFill>
                <a:latin typeface="Calibri" pitchFamily="34" charset="0"/>
                <a:ea typeface="Calibri" pitchFamily="34" charset="-122"/>
                <a:cs typeface="Calibri" pitchFamily="34" charset="-120"/>
              </a:rPr>
              <a:t>The permit authorises the work. The certificates prove the conditions that make it safe — each signed by a different competent person.</a:t>
            </a:r>
            <a:endParaRPr lang="en-US" sz="950" dirty="0"/>
          </a:p>
        </p:txBody>
      </p:sp>
      <p:sp>
        <p:nvSpPr>
          <p:cNvPr id="70" name="Text 68"/>
          <p:cNvSpPr/>
          <p:nvPr/>
        </p:nvSpPr>
        <p:spPr>
          <a:xfrm>
            <a:off x="566928" y="5943600"/>
            <a:ext cx="11055096" cy="274320"/>
          </a:xfrm>
          <a:prstGeom prst="rect">
            <a:avLst/>
          </a:prstGeom>
          <a:noFill/>
          <a:ln/>
        </p:spPr>
        <p:txBody>
          <a:bodyPr wrap="square" lIns="0" tIns="0" rIns="0" bIns="0" rtlCol="0" anchor="ctr"/>
          <a:lstStyle/>
          <a:p>
            <a:pPr indent="0" marL="0">
              <a:buNone/>
            </a:pPr>
            <a:r>
              <a:rPr lang="en-US" sz="1050" i="1" dirty="0">
                <a:solidFill>
                  <a:srgbClr val="8494A6"/>
                </a:solidFill>
                <a:latin typeface="Calibri" pitchFamily="34" charset="0"/>
                <a:ea typeface="Calibri" pitchFamily="34" charset="-122"/>
                <a:cs typeface="Calibri" pitchFamily="34" charset="-120"/>
              </a:rPr>
              <a:t>Analogy, used once: owning a key is not the same as being authorised to use it at a particular moment.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THE THREE THAT MATTER</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Every site has a permit form. Incident histories cluster on the same three failures.</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A system that does not address these explicitly is a filing exercise.</a:t>
            </a:r>
            <a:endParaRPr lang="en-US" sz="1200" dirty="0"/>
          </a:p>
        </p:txBody>
      </p:sp>
      <p:sp>
        <p:nvSpPr>
          <p:cNvPr id="5" name="Shape 3"/>
          <p:cNvSpPr/>
          <p:nvPr/>
        </p:nvSpPr>
        <p:spPr>
          <a:xfrm>
            <a:off x="566928" y="1645920"/>
            <a:ext cx="3520440" cy="4114800"/>
          </a:xfrm>
          <a:prstGeom prst="roundRect">
            <a:avLst>
              <a:gd name="adj" fmla="val 1299"/>
            </a:avLst>
          </a:prstGeom>
          <a:solidFill>
            <a:srgbClr val="F1F4F8"/>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6" name="Shape 4"/>
          <p:cNvSpPr/>
          <p:nvPr/>
        </p:nvSpPr>
        <p:spPr>
          <a:xfrm>
            <a:off x="786384" y="1828800"/>
            <a:ext cx="457200" cy="457200"/>
          </a:xfrm>
          <a:prstGeom prst="ellipse">
            <a:avLst/>
          </a:prstGeom>
          <a:solidFill>
            <a:srgbClr val="00539B"/>
          </a:solidFill>
          <a:ln/>
        </p:spPr>
      </p:sp>
      <p:sp>
        <p:nvSpPr>
          <p:cNvPr id="7" name="Text 5"/>
          <p:cNvSpPr/>
          <p:nvPr/>
        </p:nvSpPr>
        <p:spPr>
          <a:xfrm>
            <a:off x="786384" y="182880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1353312" y="1792224"/>
            <a:ext cx="2514600" cy="530352"/>
          </a:xfrm>
          <a:prstGeom prst="rect">
            <a:avLst/>
          </a:prstGeom>
          <a:noFill/>
          <a:ln/>
        </p:spPr>
        <p:txBody>
          <a:bodyPr wrap="square" lIns="0" tIns="0" rIns="0" bIns="0" rtlCol="0" anchor="ctr"/>
          <a:lstStyle/>
          <a:p>
            <a:pPr indent="0" marL="0">
              <a:lnSpc>
                <a:spcPts val="1700"/>
              </a:lnSpc>
              <a:buNone/>
            </a:pPr>
            <a:r>
              <a:rPr lang="en-US" sz="1350" b="1" dirty="0">
                <a:solidFill>
                  <a:srgbClr val="0A2540"/>
                </a:solidFill>
                <a:latin typeface="Cambria" pitchFamily="34" charset="0"/>
                <a:ea typeface="Cambria" pitchFamily="34" charset="-122"/>
                <a:cs typeface="Cambria" pitchFamily="34" charset="-120"/>
              </a:rPr>
              <a:t>Cross-referencing and SIMOPS</a:t>
            </a:r>
            <a:endParaRPr lang="en-US" sz="1350" dirty="0"/>
          </a:p>
        </p:txBody>
      </p:sp>
      <p:sp>
        <p:nvSpPr>
          <p:cNvPr id="9" name="Text 7"/>
          <p:cNvSpPr/>
          <p:nvPr/>
        </p:nvSpPr>
        <p:spPr>
          <a:xfrm>
            <a:off x="786384" y="2414016"/>
            <a:ext cx="3081528" cy="566928"/>
          </a:xfrm>
          <a:prstGeom prst="rect">
            <a:avLst/>
          </a:prstGeom>
          <a:noFill/>
          <a:ln/>
        </p:spPr>
        <p:txBody>
          <a:bodyPr wrap="square" lIns="0" tIns="0" rIns="0" bIns="0" rtlCol="0" anchor="t"/>
          <a:lstStyle/>
          <a:p>
            <a:pPr indent="0" marL="0">
              <a:lnSpc>
                <a:spcPts val="1500"/>
              </a:lnSpc>
              <a:buNone/>
            </a:pPr>
            <a:r>
              <a:rPr lang="en-US" sz="1150" b="1" i="1" dirty="0">
                <a:solidFill>
                  <a:srgbClr val="00539B"/>
                </a:solidFill>
                <a:latin typeface="Calibri" pitchFamily="34" charset="0"/>
                <a:ea typeface="Calibri" pitchFamily="34" charset="-122"/>
                <a:cs typeface="Calibri" pitchFamily="34" charset="-120"/>
              </a:rPr>
              <a:t>Two permits, each individually safe, become dangerous together.</a:t>
            </a:r>
            <a:endParaRPr lang="en-US" sz="1150" dirty="0"/>
          </a:p>
        </p:txBody>
      </p:sp>
      <p:sp>
        <p:nvSpPr>
          <p:cNvPr id="10" name="Text 8"/>
          <p:cNvSpPr/>
          <p:nvPr/>
        </p:nvSpPr>
        <p:spPr>
          <a:xfrm>
            <a:off x="841248" y="3035808"/>
            <a:ext cx="2990088" cy="2596896"/>
          </a:xfrm>
          <a:prstGeom prst="rect">
            <a:avLst/>
          </a:prstGeom>
          <a:noFill/>
          <a:ln/>
        </p:spPr>
        <p:txBody>
          <a:bodyPr wrap="square" lIns="0" tIns="0" rIns="0" bIns="0" rtlCol="0" anchor="t"/>
          <a:lstStyle/>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A permit map — every live permit plotted on the unit plot plan, on the board and mirrored electronically</a:t>
            </a:r>
            <a:endParaRPr lang="en-US" sz="1000" dirty="0"/>
          </a:p>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A SIMOPS matrix classifying every activity pair green, amber or red</a:t>
            </a:r>
            <a:endParaRPr lang="en-US" sz="1000" dirty="0"/>
          </a:p>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A daily coordination meeting before shift start, chaired by the Site Controller</a:t>
            </a:r>
            <a:endParaRPr lang="en-US" sz="1000" dirty="0"/>
          </a:p>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Cross-reference fields on the permit; the Area Authority signs the deconfliction</a:t>
            </a:r>
            <a:endParaRPr lang="en-US" sz="1000" dirty="0"/>
          </a:p>
        </p:txBody>
      </p:sp>
      <p:sp>
        <p:nvSpPr>
          <p:cNvPr id="11" name="Shape 9"/>
          <p:cNvSpPr/>
          <p:nvPr/>
        </p:nvSpPr>
        <p:spPr>
          <a:xfrm>
            <a:off x="4334256" y="1645920"/>
            <a:ext cx="3520440" cy="4114800"/>
          </a:xfrm>
          <a:prstGeom prst="roundRect">
            <a:avLst>
              <a:gd name="adj" fmla="val 1299"/>
            </a:avLst>
          </a:prstGeom>
          <a:solidFill>
            <a:srgbClr val="F1F4F8"/>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12" name="Shape 10"/>
          <p:cNvSpPr/>
          <p:nvPr/>
        </p:nvSpPr>
        <p:spPr>
          <a:xfrm>
            <a:off x="4553712" y="1828800"/>
            <a:ext cx="457200" cy="457200"/>
          </a:xfrm>
          <a:prstGeom prst="ellipse">
            <a:avLst/>
          </a:prstGeom>
          <a:solidFill>
            <a:srgbClr val="C87F16"/>
          </a:solidFill>
          <a:ln/>
        </p:spPr>
      </p:sp>
      <p:sp>
        <p:nvSpPr>
          <p:cNvPr id="13" name="Text 11"/>
          <p:cNvSpPr/>
          <p:nvPr/>
        </p:nvSpPr>
        <p:spPr>
          <a:xfrm>
            <a:off x="4553712" y="182880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5120640" y="1792224"/>
            <a:ext cx="2514600" cy="530352"/>
          </a:xfrm>
          <a:prstGeom prst="rect">
            <a:avLst/>
          </a:prstGeom>
          <a:noFill/>
          <a:ln/>
        </p:spPr>
        <p:txBody>
          <a:bodyPr wrap="square" lIns="0" tIns="0" rIns="0" bIns="0" rtlCol="0" anchor="ctr"/>
          <a:lstStyle/>
          <a:p>
            <a:pPr indent="0" marL="0">
              <a:lnSpc>
                <a:spcPts val="1700"/>
              </a:lnSpc>
              <a:buNone/>
            </a:pPr>
            <a:r>
              <a:rPr lang="en-US" sz="1350" b="1" dirty="0">
                <a:solidFill>
                  <a:srgbClr val="0A2540"/>
                </a:solidFill>
                <a:latin typeface="Cambria" pitchFamily="34" charset="0"/>
                <a:ea typeface="Cambria" pitchFamily="34" charset="-122"/>
                <a:cs typeface="Cambria" pitchFamily="34" charset="-120"/>
              </a:rPr>
              <a:t>Shift handover and validity</a:t>
            </a:r>
            <a:endParaRPr lang="en-US" sz="1350" dirty="0"/>
          </a:p>
        </p:txBody>
      </p:sp>
      <p:sp>
        <p:nvSpPr>
          <p:cNvPr id="15" name="Text 13"/>
          <p:cNvSpPr/>
          <p:nvPr/>
        </p:nvSpPr>
        <p:spPr>
          <a:xfrm>
            <a:off x="4553712" y="2414016"/>
            <a:ext cx="3081528" cy="566928"/>
          </a:xfrm>
          <a:prstGeom prst="rect">
            <a:avLst/>
          </a:prstGeom>
          <a:noFill/>
          <a:ln/>
        </p:spPr>
        <p:txBody>
          <a:bodyPr wrap="square" lIns="0" tIns="0" rIns="0" bIns="0" rtlCol="0" anchor="t"/>
          <a:lstStyle/>
          <a:p>
            <a:pPr indent="0" marL="0">
              <a:lnSpc>
                <a:spcPts val="1500"/>
              </a:lnSpc>
              <a:buNone/>
            </a:pPr>
            <a:r>
              <a:rPr lang="en-US" sz="1150" b="1" i="1" dirty="0">
                <a:solidFill>
                  <a:srgbClr val="C87F16"/>
                </a:solidFill>
                <a:latin typeface="Calibri" pitchFamily="34" charset="0"/>
                <a:ea typeface="Calibri" pitchFamily="34" charset="-122"/>
                <a:cs typeface="Calibri" pitchFamily="34" charset="-120"/>
              </a:rPr>
              <a:t>The night shift inherits an assumption instead of a verified condition.</a:t>
            </a:r>
            <a:endParaRPr lang="en-US" sz="1150" dirty="0"/>
          </a:p>
        </p:txBody>
      </p:sp>
      <p:sp>
        <p:nvSpPr>
          <p:cNvPr id="16" name="Text 14"/>
          <p:cNvSpPr/>
          <p:nvPr/>
        </p:nvSpPr>
        <p:spPr>
          <a:xfrm>
            <a:off x="4608576" y="3035808"/>
            <a:ext cx="2990088" cy="2596896"/>
          </a:xfrm>
          <a:prstGeom prst="rect">
            <a:avLst/>
          </a:prstGeom>
          <a:noFill/>
          <a:ln/>
        </p:spPr>
        <p:txBody>
          <a:bodyPr wrap="square" lIns="0" tIns="0" rIns="0" bIns="0" rtlCol="0" anchor="t"/>
          <a:lstStyle/>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No permit is valid beyond the shift that issued it — 12 hours maximum, regardless</a:t>
            </a:r>
            <a:endParaRPr lang="en-US" sz="1000" dirty="0"/>
          </a:p>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A permit continuing is suspended and revalidated: the oncoming IA walks the job and re-checks every isolation</a:t>
            </a:r>
            <a:endParaRPr lang="en-US" sz="1000" dirty="0"/>
          </a:p>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Outgoing and oncoming IA review the live permit register face to face at the board</a:t>
            </a:r>
            <a:endParaRPr lang="en-US" sz="1000" dirty="0"/>
          </a:p>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Any permit suspended for an ESD or gas alarm is cancelled, not revalidated. It starts again</a:t>
            </a:r>
            <a:endParaRPr lang="en-US" sz="1000" dirty="0"/>
          </a:p>
        </p:txBody>
      </p:sp>
      <p:sp>
        <p:nvSpPr>
          <p:cNvPr id="17" name="Shape 15"/>
          <p:cNvSpPr/>
          <p:nvPr/>
        </p:nvSpPr>
        <p:spPr>
          <a:xfrm>
            <a:off x="8101584" y="1645920"/>
            <a:ext cx="3520440" cy="4114800"/>
          </a:xfrm>
          <a:prstGeom prst="roundRect">
            <a:avLst>
              <a:gd name="adj" fmla="val 1299"/>
            </a:avLst>
          </a:prstGeom>
          <a:solidFill>
            <a:srgbClr val="F1F4F8"/>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18" name="Shape 16"/>
          <p:cNvSpPr/>
          <p:nvPr/>
        </p:nvSpPr>
        <p:spPr>
          <a:xfrm>
            <a:off x="8321040" y="1828800"/>
            <a:ext cx="457200" cy="457200"/>
          </a:xfrm>
          <a:prstGeom prst="ellipse">
            <a:avLst/>
          </a:prstGeom>
          <a:solidFill>
            <a:srgbClr val="2E7D5B"/>
          </a:solidFill>
          <a:ln/>
        </p:spPr>
      </p:sp>
      <p:sp>
        <p:nvSpPr>
          <p:cNvPr id="19" name="Text 17"/>
          <p:cNvSpPr/>
          <p:nvPr/>
        </p:nvSpPr>
        <p:spPr>
          <a:xfrm>
            <a:off x="8321040" y="182880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0" name="Text 18"/>
          <p:cNvSpPr/>
          <p:nvPr/>
        </p:nvSpPr>
        <p:spPr>
          <a:xfrm>
            <a:off x="8887968" y="1792224"/>
            <a:ext cx="2514600" cy="530352"/>
          </a:xfrm>
          <a:prstGeom prst="rect">
            <a:avLst/>
          </a:prstGeom>
          <a:noFill/>
          <a:ln/>
        </p:spPr>
        <p:txBody>
          <a:bodyPr wrap="square" lIns="0" tIns="0" rIns="0" bIns="0" rtlCol="0" anchor="ctr"/>
          <a:lstStyle/>
          <a:p>
            <a:pPr indent="0" marL="0">
              <a:lnSpc>
                <a:spcPts val="1700"/>
              </a:lnSpc>
              <a:buNone/>
            </a:pPr>
            <a:r>
              <a:rPr lang="en-US" sz="1350" b="1" dirty="0">
                <a:solidFill>
                  <a:srgbClr val="0A2540"/>
                </a:solidFill>
                <a:latin typeface="Cambria" pitchFamily="34" charset="0"/>
                <a:ea typeface="Cambria" pitchFamily="34" charset="-122"/>
                <a:cs typeface="Cambria" pitchFamily="34" charset="-120"/>
              </a:rPr>
              <a:t>The audit and assurance loop</a:t>
            </a:r>
            <a:endParaRPr lang="en-US" sz="1350" dirty="0"/>
          </a:p>
        </p:txBody>
      </p:sp>
      <p:sp>
        <p:nvSpPr>
          <p:cNvPr id="21" name="Text 19"/>
          <p:cNvSpPr/>
          <p:nvPr/>
        </p:nvSpPr>
        <p:spPr>
          <a:xfrm>
            <a:off x="8321040" y="2414016"/>
            <a:ext cx="3081528" cy="566928"/>
          </a:xfrm>
          <a:prstGeom prst="rect">
            <a:avLst/>
          </a:prstGeom>
          <a:noFill/>
          <a:ln/>
        </p:spPr>
        <p:txBody>
          <a:bodyPr wrap="square" lIns="0" tIns="0" rIns="0" bIns="0" rtlCol="0" anchor="t"/>
          <a:lstStyle/>
          <a:p>
            <a:pPr indent="0" marL="0">
              <a:lnSpc>
                <a:spcPts val="1500"/>
              </a:lnSpc>
              <a:buNone/>
            </a:pPr>
            <a:r>
              <a:rPr lang="en-US" sz="1150" b="1" i="1" dirty="0">
                <a:solidFill>
                  <a:srgbClr val="2E7D5B"/>
                </a:solidFill>
                <a:latin typeface="Calibri" pitchFamily="34" charset="0"/>
                <a:ea typeface="Calibri" pitchFamily="34" charset="-122"/>
                <a:cs typeface="Calibri" pitchFamily="34" charset="-120"/>
              </a:rPr>
              <a:t>Does what was written on the permit match what is happening on the ground?</a:t>
            </a:r>
            <a:endParaRPr lang="en-US" sz="1150" dirty="0"/>
          </a:p>
        </p:txBody>
      </p:sp>
      <p:sp>
        <p:nvSpPr>
          <p:cNvPr id="22" name="Text 20"/>
          <p:cNvSpPr/>
          <p:nvPr/>
        </p:nvSpPr>
        <p:spPr>
          <a:xfrm>
            <a:off x="8375904" y="3035808"/>
            <a:ext cx="2990088" cy="2596896"/>
          </a:xfrm>
          <a:prstGeom prst="rect">
            <a:avLst/>
          </a:prstGeom>
          <a:noFill/>
          <a:ln/>
        </p:spPr>
        <p:txBody>
          <a:bodyPr wrap="square" lIns="0" tIns="0" rIns="0" bIns="0" rtlCol="0" anchor="t"/>
          <a:lstStyle/>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Level 1 — field verification by the Issuing Authority, every permit, every shift</a:t>
            </a:r>
            <a:endParaRPr lang="en-US" sz="1000" dirty="0"/>
          </a:p>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Level 2 — supervisory spot audit, 10% of live permits, weekly</a:t>
            </a:r>
            <a:endParaRPr lang="en-US" sz="1000" dirty="0"/>
          </a:p>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Level 3 — independent HSE assurance, monthly, plus annual external</a:t>
            </a:r>
            <a:endParaRPr lang="en-US" sz="1000" dirty="0"/>
          </a:p>
          <a:p>
            <a:pPr marL="342900" indent="-342900">
              <a:lnSpc>
                <a:spcPts val="1300"/>
              </a:lnSpc>
              <a:spcAft>
                <a:spcPts val="800"/>
              </a:spcAft>
              <a:buSzPct val="100000"/>
              <a:buChar char="•"/>
            </a:pPr>
            <a:r>
              <a:rPr lang="en-US" sz="1000" dirty="0">
                <a:solidFill>
                  <a:srgbClr val="56677A"/>
                </a:solidFill>
                <a:latin typeface="Calibri" pitchFamily="34" charset="0"/>
                <a:ea typeface="Calibri" pitchFamily="34" charset="-122"/>
                <a:cs typeface="Calibri" pitchFamily="34" charset="-120"/>
              </a:rPr>
              <a:t>Leading indicators tracked monthly — and audit findings become risk register entries</a:t>
            </a:r>
            <a:endParaRPr lang="en-US" sz="1000" dirty="0"/>
          </a:p>
        </p:txBody>
      </p:sp>
      <p:sp>
        <p:nvSpPr>
          <p:cNvPr id="23" name="Shape 21"/>
          <p:cNvSpPr/>
          <p:nvPr/>
        </p:nvSpPr>
        <p:spPr>
          <a:xfrm>
            <a:off x="566928" y="6053328"/>
            <a:ext cx="11055096" cy="475488"/>
          </a:xfrm>
          <a:prstGeom prst="roundRect">
            <a:avLst>
              <a:gd name="adj" fmla="val 11538"/>
            </a:avLst>
          </a:prstGeom>
          <a:solidFill>
            <a:srgbClr val="F1F4F8"/>
          </a:solidFill>
          <a:ln w="9525">
            <a:solidFill>
              <a:srgbClr val="CFD8E3"/>
            </a:solidFill>
            <a:prstDash val="solid"/>
          </a:ln>
        </p:spPr>
      </p:sp>
      <p:sp>
        <p:nvSpPr>
          <p:cNvPr id="24" name="Text 22"/>
          <p:cNvSpPr/>
          <p:nvPr/>
        </p:nvSpPr>
        <p:spPr>
          <a:xfrm>
            <a:off x="713232" y="6053328"/>
            <a:ext cx="10762488"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Applied on the live permit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A hot work permit 22 m away was suspended for the duration of the line break — red on the SIMOPS matrix, not a judgement call on the day</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CLOSING THE LOOP  ·  PTW-CDU-2026-0473</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One live permit, for a job that came off the register, on the pump that failed.</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Cold Work, cross-referenced to Line Break LB-2026-0119 and Isolation Certificate IC-2026-0286.</a:t>
            </a:r>
            <a:endParaRPr lang="en-US" sz="1200" dirty="0"/>
          </a:p>
        </p:txBody>
      </p:sp>
      <p:sp>
        <p:nvSpPr>
          <p:cNvPr id="5" name="Shape 3"/>
          <p:cNvSpPr/>
          <p:nvPr/>
        </p:nvSpPr>
        <p:spPr>
          <a:xfrm>
            <a:off x="566928" y="1645920"/>
            <a:ext cx="6903720" cy="4059936"/>
          </a:xfrm>
          <a:prstGeom prst="roundRect">
            <a:avLst>
              <a:gd name="adj" fmla="val 1126"/>
            </a:avLst>
          </a:prstGeom>
          <a:solidFill>
            <a:srgbClr val="FFFFFF"/>
          </a:solidFill>
          <a:ln w="9525">
            <a:solidFill>
              <a:srgbClr val="CFD8E3"/>
            </a:solidFill>
            <a:prstDash val="solid"/>
          </a:ln>
          <a:effectLst>
            <a:outerShdw sx="100000" sy="100000" kx="0" ky="0" algn="bl" rotWithShape="0" blurRad="101600" dist="19050" dir="5400000">
              <a:srgbClr val="8A99AC">
                <a:alpha val="16000"/>
              </a:srgbClr>
            </a:outerShdw>
          </a:effectLst>
        </p:spPr>
      </p:sp>
      <p:sp>
        <p:nvSpPr>
          <p:cNvPr id="6" name="Text 4"/>
          <p:cNvSpPr/>
          <p:nvPr/>
        </p:nvSpPr>
        <p:spPr>
          <a:xfrm>
            <a:off x="841248" y="1773936"/>
            <a:ext cx="4023360" cy="256032"/>
          </a:xfrm>
          <a:prstGeom prst="rect">
            <a:avLst/>
          </a:prstGeom>
          <a:noFill/>
          <a:ln/>
        </p:spPr>
        <p:txBody>
          <a:bodyPr wrap="square" lIns="0" tIns="0" rIns="0" bIns="0" rtlCol="0" anchor="ctr"/>
          <a:lstStyle/>
          <a:p>
            <a:pPr indent="0" marL="0">
              <a:buNone/>
            </a:pPr>
            <a:r>
              <a:rPr lang="en-US" sz="1050" b="1" spc="100" kern="0" dirty="0">
                <a:solidFill>
                  <a:srgbClr val="00539B"/>
                </a:solidFill>
                <a:latin typeface="Calibri" pitchFamily="34" charset="0"/>
                <a:ea typeface="Calibri" pitchFamily="34" charset="-122"/>
                <a:cs typeface="Calibri" pitchFamily="34" charset="-120"/>
              </a:rPr>
              <a:t>PERMIT TO WORK  ·  COLD WORK</a:t>
            </a:r>
            <a:endParaRPr lang="en-US" sz="1050" dirty="0"/>
          </a:p>
        </p:txBody>
      </p:sp>
      <p:sp>
        <p:nvSpPr>
          <p:cNvPr id="7" name="Text 5"/>
          <p:cNvSpPr/>
          <p:nvPr/>
        </p:nvSpPr>
        <p:spPr>
          <a:xfrm>
            <a:off x="4864608" y="1773936"/>
            <a:ext cx="2331720" cy="256032"/>
          </a:xfrm>
          <a:prstGeom prst="rect">
            <a:avLst/>
          </a:prstGeom>
          <a:noFill/>
          <a:ln/>
        </p:spPr>
        <p:txBody>
          <a:bodyPr wrap="square" lIns="0" tIns="0" rIns="0" bIns="0" rtlCol="0" anchor="ctr"/>
          <a:lstStyle/>
          <a:p>
            <a:pPr algn="r" indent="0" marL="0">
              <a:buNone/>
            </a:pPr>
            <a:r>
              <a:rPr lang="en-US" sz="1050" b="1" dirty="0">
                <a:solidFill>
                  <a:srgbClr val="0A2540"/>
                </a:solidFill>
                <a:latin typeface="Calibri" pitchFamily="34" charset="0"/>
                <a:ea typeface="Calibri" pitchFamily="34" charset="-122"/>
                <a:cs typeface="Calibri" pitchFamily="34" charset="-120"/>
              </a:rPr>
              <a:t>No. PTW-CDU-2026-0473</a:t>
            </a:r>
            <a:endParaRPr lang="en-US" sz="1050" dirty="0"/>
          </a:p>
        </p:txBody>
      </p:sp>
      <p:sp>
        <p:nvSpPr>
          <p:cNvPr id="8" name="Text 6"/>
          <p:cNvSpPr/>
          <p:nvPr/>
        </p:nvSpPr>
        <p:spPr>
          <a:xfrm>
            <a:off x="841248" y="2139696"/>
            <a:ext cx="1783080" cy="237744"/>
          </a:xfrm>
          <a:prstGeom prst="rect">
            <a:avLst/>
          </a:prstGeom>
          <a:noFill/>
          <a:ln/>
        </p:spPr>
        <p:txBody>
          <a:bodyPr wrap="square" lIns="0" tIns="0" rIns="0" bIns="0" rtlCol="0" anchor="t"/>
          <a:lstStyle/>
          <a:p>
            <a:pPr indent="0" marL="0">
              <a:buNone/>
            </a:pPr>
            <a:r>
              <a:rPr lang="en-US" sz="950" b="1" dirty="0">
                <a:solidFill>
                  <a:srgbClr val="8494A6"/>
                </a:solidFill>
                <a:latin typeface="Calibri" pitchFamily="34" charset="0"/>
                <a:ea typeface="Calibri" pitchFamily="34" charset="-122"/>
                <a:cs typeface="Calibri" pitchFamily="34" charset="-120"/>
              </a:rPr>
              <a:t>Equipment</a:t>
            </a:r>
            <a:endParaRPr lang="en-US" sz="950" dirty="0"/>
          </a:p>
        </p:txBody>
      </p:sp>
      <p:sp>
        <p:nvSpPr>
          <p:cNvPr id="9" name="Text 7"/>
          <p:cNvSpPr/>
          <p:nvPr/>
        </p:nvSpPr>
        <p:spPr>
          <a:xfrm>
            <a:off x="2670048" y="2139696"/>
            <a:ext cx="4526280" cy="237744"/>
          </a:xfrm>
          <a:prstGeom prst="rect">
            <a:avLst/>
          </a:prstGeom>
          <a:noFill/>
          <a:ln/>
        </p:spPr>
        <p:txBody>
          <a:bodyPr wrap="square" lIns="0" tIns="0" rIns="0" bIns="0" rtlCol="0" anchor="t"/>
          <a:lstStyle/>
          <a:p>
            <a:pPr indent="0" marL="0">
              <a:lnSpc>
                <a:spcPts val="1250"/>
              </a:lnSpc>
              <a:buNone/>
            </a:pPr>
            <a:r>
              <a:rPr lang="en-US" sz="1100" b="1" dirty="0">
                <a:solidFill>
                  <a:srgbClr val="0A2540"/>
                </a:solidFill>
                <a:latin typeface="Calibri" pitchFamily="34" charset="0"/>
                <a:ea typeface="Calibri" pitchFamily="34" charset="-122"/>
                <a:cs typeface="Calibri" pitchFamily="34" charset="-120"/>
              </a:rPr>
              <a:t>P-1104A  ·  Heavy Gas Oil Pump</a:t>
            </a:r>
            <a:endParaRPr lang="en-US" sz="1100" dirty="0"/>
          </a:p>
        </p:txBody>
      </p:sp>
      <p:sp>
        <p:nvSpPr>
          <p:cNvPr id="10" name="Text 8"/>
          <p:cNvSpPr/>
          <p:nvPr/>
        </p:nvSpPr>
        <p:spPr>
          <a:xfrm>
            <a:off x="841248" y="2414016"/>
            <a:ext cx="1783080" cy="219456"/>
          </a:xfrm>
          <a:prstGeom prst="rect">
            <a:avLst/>
          </a:prstGeom>
          <a:noFill/>
          <a:ln/>
        </p:spPr>
        <p:txBody>
          <a:bodyPr wrap="square" lIns="0" tIns="0" rIns="0" bIns="0" rtlCol="0" anchor="t"/>
          <a:lstStyle/>
          <a:p>
            <a:pPr indent="0" marL="0">
              <a:buNone/>
            </a:pPr>
            <a:r>
              <a:rPr lang="en-US" sz="950" b="1" dirty="0">
                <a:solidFill>
                  <a:srgbClr val="8494A6"/>
                </a:solidFill>
                <a:latin typeface="Calibri" pitchFamily="34" charset="0"/>
                <a:ea typeface="Calibri" pitchFamily="34" charset="-122"/>
                <a:cs typeface="Calibri" pitchFamily="34" charset="-120"/>
              </a:rPr>
              <a:t>Register ref</a:t>
            </a:r>
            <a:endParaRPr lang="en-US" sz="950" dirty="0"/>
          </a:p>
        </p:txBody>
      </p:sp>
      <p:sp>
        <p:nvSpPr>
          <p:cNvPr id="11" name="Text 9"/>
          <p:cNvSpPr/>
          <p:nvPr/>
        </p:nvSpPr>
        <p:spPr>
          <a:xfrm>
            <a:off x="2670048" y="2414016"/>
            <a:ext cx="4526280" cy="219456"/>
          </a:xfrm>
          <a:prstGeom prst="rect">
            <a:avLst/>
          </a:prstGeom>
          <a:noFill/>
          <a:ln/>
        </p:spPr>
        <p:txBody>
          <a:bodyPr wrap="square" lIns="0" tIns="0" rIns="0" bIns="0" rtlCol="0" anchor="t"/>
          <a:lstStyle/>
          <a:p>
            <a:pPr indent="0" marL="0">
              <a:lnSpc>
                <a:spcPts val="1250"/>
              </a:lnSpc>
              <a:buNone/>
            </a:pPr>
            <a:r>
              <a:rPr lang="en-US" sz="950" dirty="0">
                <a:solidFill>
                  <a:srgbClr val="0A2540"/>
                </a:solidFill>
                <a:latin typeface="Calibri" pitchFamily="34" charset="0"/>
                <a:ea typeface="Calibri" pitchFamily="34" charset="-122"/>
                <a:cs typeface="Calibri" pitchFamily="34" charset="-120"/>
              </a:rPr>
              <a:t>RR-02 interim action, pending the TA-2027 dual seal upgrade</a:t>
            </a:r>
            <a:endParaRPr lang="en-US" sz="950" dirty="0"/>
          </a:p>
        </p:txBody>
      </p:sp>
      <p:sp>
        <p:nvSpPr>
          <p:cNvPr id="12" name="Text 10"/>
          <p:cNvSpPr/>
          <p:nvPr/>
        </p:nvSpPr>
        <p:spPr>
          <a:xfrm>
            <a:off x="841248" y="2670048"/>
            <a:ext cx="1783080" cy="384048"/>
          </a:xfrm>
          <a:prstGeom prst="rect">
            <a:avLst/>
          </a:prstGeom>
          <a:noFill/>
          <a:ln/>
        </p:spPr>
        <p:txBody>
          <a:bodyPr wrap="square" lIns="0" tIns="0" rIns="0" bIns="0" rtlCol="0" anchor="t"/>
          <a:lstStyle/>
          <a:p>
            <a:pPr indent="0" marL="0">
              <a:buNone/>
            </a:pPr>
            <a:r>
              <a:rPr lang="en-US" sz="950" b="1" dirty="0">
                <a:solidFill>
                  <a:srgbClr val="8494A6"/>
                </a:solidFill>
                <a:latin typeface="Calibri" pitchFamily="34" charset="0"/>
                <a:ea typeface="Calibri" pitchFamily="34" charset="-122"/>
                <a:cs typeface="Calibri" pitchFamily="34" charset="-120"/>
              </a:rPr>
              <a:t>Work</a:t>
            </a:r>
            <a:endParaRPr lang="en-US" sz="950" dirty="0"/>
          </a:p>
        </p:txBody>
      </p:sp>
      <p:sp>
        <p:nvSpPr>
          <p:cNvPr id="13" name="Text 11"/>
          <p:cNvSpPr/>
          <p:nvPr/>
        </p:nvSpPr>
        <p:spPr>
          <a:xfrm>
            <a:off x="2670048" y="2670048"/>
            <a:ext cx="4526280" cy="384048"/>
          </a:xfrm>
          <a:prstGeom prst="rect">
            <a:avLst/>
          </a:prstGeom>
          <a:noFill/>
          <a:ln/>
        </p:spPr>
        <p:txBody>
          <a:bodyPr wrap="square" lIns="0" tIns="0" rIns="0" bIns="0" rtlCol="0" anchor="t"/>
          <a:lstStyle/>
          <a:p>
            <a:pPr indent="0" marL="0">
              <a:lnSpc>
                <a:spcPts val="1250"/>
              </a:lnSpc>
              <a:buNone/>
            </a:pPr>
            <a:r>
              <a:rPr lang="en-US" sz="950" dirty="0">
                <a:solidFill>
                  <a:srgbClr val="0A2540"/>
                </a:solidFill>
                <a:latin typeface="Calibri" pitchFamily="34" charset="0"/>
                <a:ea typeface="Calibri" pitchFamily="34" charset="-122"/>
                <a:cs typeface="Calibri" pitchFamily="34" charset="-120"/>
              </a:rPr>
              <a:t>Replace seal cartridge; fit filtered flush and chamber pressure transmitter; align and recommission</a:t>
            </a:r>
            <a:endParaRPr lang="en-US" sz="950" dirty="0"/>
          </a:p>
        </p:txBody>
      </p:sp>
      <p:sp>
        <p:nvSpPr>
          <p:cNvPr id="14" name="Text 12"/>
          <p:cNvSpPr/>
          <p:nvPr/>
        </p:nvSpPr>
        <p:spPr>
          <a:xfrm>
            <a:off x="841248" y="3108960"/>
            <a:ext cx="1783080" cy="219456"/>
          </a:xfrm>
          <a:prstGeom prst="rect">
            <a:avLst/>
          </a:prstGeom>
          <a:noFill/>
          <a:ln/>
        </p:spPr>
        <p:txBody>
          <a:bodyPr wrap="square" lIns="0" tIns="0" rIns="0" bIns="0" rtlCol="0" anchor="t"/>
          <a:lstStyle/>
          <a:p>
            <a:pPr indent="0" marL="0">
              <a:buNone/>
            </a:pPr>
            <a:r>
              <a:rPr lang="en-US" sz="950" b="1" dirty="0">
                <a:solidFill>
                  <a:srgbClr val="8494A6"/>
                </a:solidFill>
                <a:latin typeface="Calibri" pitchFamily="34" charset="0"/>
                <a:ea typeface="Calibri" pitchFamily="34" charset="-122"/>
                <a:cs typeface="Calibri" pitchFamily="34" charset="-120"/>
              </a:rPr>
              <a:t>Valid</a:t>
            </a:r>
            <a:endParaRPr lang="en-US" sz="950" dirty="0"/>
          </a:p>
        </p:txBody>
      </p:sp>
      <p:sp>
        <p:nvSpPr>
          <p:cNvPr id="15" name="Text 13"/>
          <p:cNvSpPr/>
          <p:nvPr/>
        </p:nvSpPr>
        <p:spPr>
          <a:xfrm>
            <a:off x="2670048" y="3108960"/>
            <a:ext cx="4526280" cy="219456"/>
          </a:xfrm>
          <a:prstGeom prst="rect">
            <a:avLst/>
          </a:prstGeom>
          <a:noFill/>
          <a:ln/>
        </p:spPr>
        <p:txBody>
          <a:bodyPr wrap="square" lIns="0" tIns="0" rIns="0" bIns="0" rtlCol="0" anchor="t"/>
          <a:lstStyle/>
          <a:p>
            <a:pPr indent="0" marL="0">
              <a:lnSpc>
                <a:spcPts val="1250"/>
              </a:lnSpc>
              <a:buNone/>
            </a:pPr>
            <a:r>
              <a:rPr lang="en-US" sz="950" b="1" dirty="0">
                <a:solidFill>
                  <a:srgbClr val="0A2540"/>
                </a:solidFill>
                <a:latin typeface="Calibri" pitchFamily="34" charset="0"/>
                <a:ea typeface="Calibri" pitchFamily="34" charset="-122"/>
                <a:cs typeface="Calibri" pitchFamily="34" charset="-120"/>
              </a:rPr>
              <a:t>06:30 – 18:30, 02 July 2026  —  one shift only, 12 h maximum</a:t>
            </a:r>
            <a:endParaRPr lang="en-US" sz="950" dirty="0"/>
          </a:p>
        </p:txBody>
      </p:sp>
      <p:sp>
        <p:nvSpPr>
          <p:cNvPr id="16" name="Text 14"/>
          <p:cNvSpPr/>
          <p:nvPr/>
        </p:nvSpPr>
        <p:spPr>
          <a:xfrm>
            <a:off x="841248" y="3364992"/>
            <a:ext cx="1783080" cy="384048"/>
          </a:xfrm>
          <a:prstGeom prst="rect">
            <a:avLst/>
          </a:prstGeom>
          <a:noFill/>
          <a:ln/>
        </p:spPr>
        <p:txBody>
          <a:bodyPr wrap="square" lIns="0" tIns="0" rIns="0" bIns="0" rtlCol="0" anchor="t"/>
          <a:lstStyle/>
          <a:p>
            <a:pPr indent="0" marL="0">
              <a:buNone/>
            </a:pPr>
            <a:r>
              <a:rPr lang="en-US" sz="950" b="1" dirty="0">
                <a:solidFill>
                  <a:srgbClr val="8494A6"/>
                </a:solidFill>
                <a:latin typeface="Calibri" pitchFamily="34" charset="0"/>
                <a:ea typeface="Calibri" pitchFamily="34" charset="-122"/>
                <a:cs typeface="Calibri" pitchFamily="34" charset="-120"/>
              </a:rPr>
              <a:t>Isolations</a:t>
            </a:r>
            <a:endParaRPr lang="en-US" sz="950" dirty="0"/>
          </a:p>
        </p:txBody>
      </p:sp>
      <p:sp>
        <p:nvSpPr>
          <p:cNvPr id="17" name="Text 15"/>
          <p:cNvSpPr/>
          <p:nvPr/>
        </p:nvSpPr>
        <p:spPr>
          <a:xfrm>
            <a:off x="2670048" y="3364992"/>
            <a:ext cx="4526280" cy="384048"/>
          </a:xfrm>
          <a:prstGeom prst="rect">
            <a:avLst/>
          </a:prstGeom>
          <a:noFill/>
          <a:ln/>
        </p:spPr>
        <p:txBody>
          <a:bodyPr wrap="square" lIns="0" tIns="0" rIns="0" bIns="0" rtlCol="0" anchor="t"/>
          <a:lstStyle/>
          <a:p>
            <a:pPr indent="0" marL="0">
              <a:lnSpc>
                <a:spcPts val="1250"/>
              </a:lnSpc>
              <a:buNone/>
            </a:pPr>
            <a:r>
              <a:rPr lang="en-US" sz="950" dirty="0">
                <a:solidFill>
                  <a:srgbClr val="0A2540"/>
                </a:solidFill>
                <a:latin typeface="Calibri" pitchFamily="34" charset="0"/>
                <a:ea typeface="Calibri" pitchFamily="34" charset="-122"/>
                <a:cs typeface="Calibri" pitchFamily="34" charset="-120"/>
              </a:rPr>
              <a:t>Suction and discharge DBB locked closed, bleeds to closed drain; flush line blocked; M-1104A racked out, 6 personal locks</a:t>
            </a:r>
            <a:endParaRPr lang="en-US" sz="950" dirty="0"/>
          </a:p>
        </p:txBody>
      </p:sp>
      <p:sp>
        <p:nvSpPr>
          <p:cNvPr id="18" name="Text 16"/>
          <p:cNvSpPr/>
          <p:nvPr/>
        </p:nvSpPr>
        <p:spPr>
          <a:xfrm>
            <a:off x="841248" y="3803904"/>
            <a:ext cx="1783080" cy="365760"/>
          </a:xfrm>
          <a:prstGeom prst="rect">
            <a:avLst/>
          </a:prstGeom>
          <a:noFill/>
          <a:ln/>
        </p:spPr>
        <p:txBody>
          <a:bodyPr wrap="square" lIns="0" tIns="0" rIns="0" bIns="0" rtlCol="0" anchor="t"/>
          <a:lstStyle/>
          <a:p>
            <a:pPr indent="0" marL="0">
              <a:buNone/>
            </a:pPr>
            <a:r>
              <a:rPr lang="en-US" sz="950" b="1" dirty="0">
                <a:solidFill>
                  <a:srgbClr val="8494A6"/>
                </a:solidFill>
                <a:latin typeface="Calibri" pitchFamily="34" charset="0"/>
                <a:ea typeface="Calibri" pitchFamily="34" charset="-122"/>
                <a:cs typeface="Calibri" pitchFamily="34" charset="-120"/>
              </a:rPr>
              <a:t>Gas test</a:t>
            </a:r>
            <a:endParaRPr lang="en-US" sz="950" dirty="0"/>
          </a:p>
        </p:txBody>
      </p:sp>
      <p:sp>
        <p:nvSpPr>
          <p:cNvPr id="19" name="Text 17"/>
          <p:cNvSpPr/>
          <p:nvPr/>
        </p:nvSpPr>
        <p:spPr>
          <a:xfrm>
            <a:off x="2670048" y="3803904"/>
            <a:ext cx="4526280" cy="365760"/>
          </a:xfrm>
          <a:prstGeom prst="rect">
            <a:avLst/>
          </a:prstGeom>
          <a:noFill/>
          <a:ln/>
        </p:spPr>
        <p:txBody>
          <a:bodyPr wrap="square" lIns="0" tIns="0" rIns="0" bIns="0" rtlCol="0" anchor="t"/>
          <a:lstStyle/>
          <a:p>
            <a:pPr indent="0" marL="0">
              <a:lnSpc>
                <a:spcPts val="1250"/>
              </a:lnSpc>
              <a:buNone/>
            </a:pPr>
            <a:r>
              <a:rPr lang="en-US" sz="950" dirty="0">
                <a:solidFill>
                  <a:srgbClr val="0A2540"/>
                </a:solidFill>
                <a:latin typeface="Calibri" pitchFamily="34" charset="0"/>
                <a:ea typeface="Calibri" pitchFamily="34" charset="-122"/>
                <a:cs typeface="Calibri" pitchFamily="34" charset="-120"/>
              </a:rPr>
              <a:t>06:05  ·  LEL 0%  ·  H₂S 0 ppm  ·  O₂ 20.9%  ·  instrument MX6-4471, cal. due 18 Sep 2026</a:t>
            </a:r>
            <a:endParaRPr lang="en-US" sz="950" dirty="0"/>
          </a:p>
        </p:txBody>
      </p:sp>
      <p:sp>
        <p:nvSpPr>
          <p:cNvPr id="20" name="Shape 18"/>
          <p:cNvSpPr/>
          <p:nvPr/>
        </p:nvSpPr>
        <p:spPr>
          <a:xfrm>
            <a:off x="841248" y="4242816"/>
            <a:ext cx="6355080" cy="731520"/>
          </a:xfrm>
          <a:prstGeom prst="roundRect">
            <a:avLst>
              <a:gd name="adj" fmla="val 6250"/>
            </a:avLst>
          </a:prstGeom>
          <a:solidFill>
            <a:srgbClr val="FBF2F2"/>
          </a:solidFill>
          <a:ln w="9525">
            <a:solidFill>
              <a:srgbClr val="C8102E"/>
            </a:solidFill>
            <a:prstDash val="solid"/>
          </a:ln>
        </p:spPr>
      </p:sp>
      <p:sp>
        <p:nvSpPr>
          <p:cNvPr id="21" name="Text 19"/>
          <p:cNvSpPr/>
          <p:nvPr/>
        </p:nvSpPr>
        <p:spPr>
          <a:xfrm>
            <a:off x="987552" y="4288536"/>
            <a:ext cx="2743200" cy="182880"/>
          </a:xfrm>
          <a:prstGeom prst="rect">
            <a:avLst/>
          </a:prstGeom>
          <a:noFill/>
          <a:ln/>
        </p:spPr>
        <p:txBody>
          <a:bodyPr wrap="square" lIns="0" tIns="0" rIns="0" bIns="0" rtlCol="0" anchor="ctr"/>
          <a:lstStyle/>
          <a:p>
            <a:pPr indent="0" marL="0">
              <a:buNone/>
            </a:pPr>
            <a:r>
              <a:rPr lang="en-US" sz="800" b="1" spc="100" kern="0" dirty="0">
                <a:solidFill>
                  <a:srgbClr val="C8102E"/>
                </a:solidFill>
                <a:latin typeface="Calibri" pitchFamily="34" charset="0"/>
                <a:ea typeface="Calibri" pitchFamily="34" charset="-122"/>
                <a:cs typeface="Calibri" pitchFamily="34" charset="-120"/>
              </a:rPr>
              <a:t>SIMOPS SCREEN</a:t>
            </a:r>
            <a:endParaRPr lang="en-US" sz="800" dirty="0"/>
          </a:p>
        </p:txBody>
      </p:sp>
      <p:sp>
        <p:nvSpPr>
          <p:cNvPr id="22" name="Text 20"/>
          <p:cNvSpPr/>
          <p:nvPr/>
        </p:nvSpPr>
        <p:spPr>
          <a:xfrm>
            <a:off x="987552" y="4471416"/>
            <a:ext cx="6062472" cy="457200"/>
          </a:xfrm>
          <a:prstGeom prst="rect">
            <a:avLst/>
          </a:prstGeom>
          <a:noFill/>
          <a:ln/>
        </p:spPr>
        <p:txBody>
          <a:bodyPr wrap="square" lIns="0" tIns="0" rIns="0" bIns="0" rtlCol="0" anchor="t"/>
          <a:lstStyle/>
          <a:p>
            <a:pPr indent="0" marL="0">
              <a:lnSpc>
                <a:spcPts val="1250"/>
              </a:lnSpc>
              <a:buNone/>
            </a:pPr>
            <a:r>
              <a:rPr lang="en-US" sz="950" dirty="0">
                <a:solidFill>
                  <a:srgbClr val="56677A"/>
                </a:solidFill>
                <a:latin typeface="Calibri" pitchFamily="34" charset="0"/>
                <a:ea typeface="Calibri" pitchFamily="34" charset="-122"/>
                <a:cs typeface="Calibri" pitchFamily="34" charset="-120"/>
              </a:rPr>
              <a:t>PTW-CDU-2026-0468  scaffolding, pump row B — GREEN
</a:t>
            </a:r>
            <a:pPr indent="0" marL="0">
              <a:lnSpc>
                <a:spcPts val="1250"/>
              </a:lnSpc>
              <a:buNone/>
            </a:pPr>
            <a:r>
              <a:rPr lang="en-US" sz="950" b="1" dirty="0">
                <a:solidFill>
                  <a:srgbClr val="C8102E"/>
                </a:solidFill>
                <a:latin typeface="Calibri" pitchFamily="34" charset="0"/>
                <a:ea typeface="Calibri" pitchFamily="34" charset="-122"/>
                <a:cs typeface="Calibri" pitchFamily="34" charset="-120"/>
              </a:rPr>
              <a:t>PTW-CDU-2026-0471  hot work, pipe rack 4 (22 m) — RED, SUSPENDED</a:t>
            </a:r>
            <a:endParaRPr lang="en-US" sz="950" dirty="0"/>
          </a:p>
        </p:txBody>
      </p:sp>
      <p:sp>
        <p:nvSpPr>
          <p:cNvPr id="23" name="Text 21"/>
          <p:cNvSpPr/>
          <p:nvPr/>
        </p:nvSpPr>
        <p:spPr>
          <a:xfrm>
            <a:off x="841248" y="5029200"/>
            <a:ext cx="6355080" cy="237744"/>
          </a:xfrm>
          <a:prstGeom prst="rect">
            <a:avLst/>
          </a:prstGeom>
          <a:noFill/>
          <a:ln/>
        </p:spPr>
        <p:txBody>
          <a:bodyPr wrap="square" lIns="0" tIns="0" rIns="0" bIns="0" rtlCol="0" anchor="ctr"/>
          <a:lstStyle/>
          <a:p>
            <a:pPr indent="0" marL="0">
              <a:buNone/>
            </a:pPr>
            <a:r>
              <a:rPr lang="en-US" sz="850" dirty="0">
                <a:solidFill>
                  <a:srgbClr val="56677A"/>
                </a:solidFill>
                <a:latin typeface="Calibri" pitchFamily="34" charset="0"/>
                <a:ea typeface="Calibri" pitchFamily="34" charset="-122"/>
                <a:cs typeface="Calibri" pitchFamily="34" charset="-120"/>
              </a:rPr>
              <a:t>Signatures  ·  PA A. O. Joy 06:10   IA I. M. Olamide 06:25   AA D. Christopher 06:28   AGT A. G. Y. Aondoakaa 06:05</a:t>
            </a:r>
            <a:endParaRPr lang="en-US" sz="850" dirty="0"/>
          </a:p>
        </p:txBody>
      </p:sp>
      <p:sp>
        <p:nvSpPr>
          <p:cNvPr id="24" name="Text 22"/>
          <p:cNvSpPr/>
          <p:nvPr/>
        </p:nvSpPr>
        <p:spPr>
          <a:xfrm>
            <a:off x="841248" y="5266944"/>
            <a:ext cx="6355080" cy="365760"/>
          </a:xfrm>
          <a:prstGeom prst="rect">
            <a:avLst/>
          </a:prstGeom>
          <a:noFill/>
          <a:ln/>
        </p:spPr>
        <p:txBody>
          <a:bodyPr wrap="square" lIns="0" tIns="0" rIns="0" bIns="0" rtlCol="0" anchor="t"/>
          <a:lstStyle/>
          <a:p>
            <a:pPr indent="0" marL="0">
              <a:lnSpc>
                <a:spcPts val="1100"/>
              </a:lnSpc>
              <a:buNone/>
            </a:pPr>
            <a:r>
              <a:rPr lang="en-US" sz="850" b="1" dirty="0">
                <a:solidFill>
                  <a:srgbClr val="0A2540"/>
                </a:solidFill>
                <a:latin typeface="Calibri" pitchFamily="34" charset="0"/>
                <a:ea typeface="Calibri" pitchFamily="34" charset="-122"/>
                <a:cs typeface="Calibri" pitchFamily="34" charset="-120"/>
              </a:rPr>
              <a:t>Handback accepted 17:35  ·  permit cancelled 17:40  ·  work order closed in CMMS with failure and repair coding 17:45</a:t>
            </a:r>
            <a:endParaRPr lang="en-US" sz="850" dirty="0"/>
          </a:p>
        </p:txBody>
      </p:sp>
      <p:sp>
        <p:nvSpPr>
          <p:cNvPr id="25" name="Shape 23"/>
          <p:cNvSpPr/>
          <p:nvPr/>
        </p:nvSpPr>
        <p:spPr>
          <a:xfrm>
            <a:off x="7763256" y="1645920"/>
            <a:ext cx="3858768" cy="1938528"/>
          </a:xfrm>
          <a:prstGeom prst="roundRect">
            <a:avLst>
              <a:gd name="adj" fmla="val 2358"/>
            </a:avLst>
          </a:prstGeom>
          <a:solidFill>
            <a:srgbClr val="E4EAF1"/>
          </a:solidFill>
          <a:ln w="9525">
            <a:solidFill>
              <a:srgbClr val="00539B"/>
            </a:solidFill>
            <a:prstDash val="solid"/>
          </a:ln>
        </p:spPr>
      </p:sp>
      <p:sp>
        <p:nvSpPr>
          <p:cNvPr id="26" name="Text 24"/>
          <p:cNvSpPr/>
          <p:nvPr/>
        </p:nvSpPr>
        <p:spPr>
          <a:xfrm>
            <a:off x="7982712" y="1773936"/>
            <a:ext cx="3419856" cy="274320"/>
          </a:xfrm>
          <a:prstGeom prst="rect">
            <a:avLst/>
          </a:prstGeom>
          <a:noFill/>
          <a:ln/>
        </p:spPr>
        <p:txBody>
          <a:bodyPr wrap="square" lIns="0" tIns="0" rIns="0" bIns="0" rtlCol="0" anchor="ctr"/>
          <a:lstStyle/>
          <a:p>
            <a:pPr indent="0" marL="0">
              <a:buNone/>
            </a:pPr>
            <a:r>
              <a:rPr lang="en-US" sz="1350" b="1" dirty="0">
                <a:solidFill>
                  <a:srgbClr val="0A2540"/>
                </a:solidFill>
                <a:latin typeface="Cambria" pitchFamily="34" charset="0"/>
                <a:ea typeface="Cambria" pitchFamily="34" charset="-122"/>
                <a:cs typeface="Cambria" pitchFamily="34" charset="-120"/>
              </a:rPr>
              <a:t>Two details worth pausing on</a:t>
            </a:r>
            <a:endParaRPr lang="en-US" sz="1350" dirty="0"/>
          </a:p>
        </p:txBody>
      </p:sp>
      <p:sp>
        <p:nvSpPr>
          <p:cNvPr id="27" name="Text 25"/>
          <p:cNvSpPr/>
          <p:nvPr/>
        </p:nvSpPr>
        <p:spPr>
          <a:xfrm>
            <a:off x="7982712" y="2103120"/>
            <a:ext cx="3419856" cy="1371600"/>
          </a:xfrm>
          <a:prstGeom prst="rect">
            <a:avLst/>
          </a:prstGeom>
          <a:noFill/>
          <a:ln/>
        </p:spPr>
        <p:txBody>
          <a:bodyPr wrap="square" lIns="0" tIns="0" rIns="0" bIns="0" rtlCol="0" anchor="t"/>
          <a:lstStyle/>
          <a:p>
            <a:pPr indent="0" marL="0">
              <a:lnSpc>
                <a:spcPts val="1600"/>
              </a:lnSpc>
              <a:buNone/>
            </a:pPr>
            <a:r>
              <a:rPr lang="en-US" sz="1150" dirty="0">
                <a:solidFill>
                  <a:srgbClr val="56677A"/>
                </a:solidFill>
                <a:latin typeface="Calibri" pitchFamily="34" charset="0"/>
                <a:ea typeface="Calibri" pitchFamily="34" charset="-122"/>
                <a:cs typeface="Calibri" pitchFamily="34" charset="-120"/>
              </a:rPr>
              <a:t>A hot work permit 22 metres away was suspended because the SIMOPS matrix said so — not because somebody happened to notice on the day.</a:t>
            </a:r>
            <a:endParaRPr lang="en-US" sz="1150" dirty="0"/>
          </a:p>
        </p:txBody>
      </p:sp>
      <p:sp>
        <p:nvSpPr>
          <p:cNvPr id="28" name="Shape 26"/>
          <p:cNvSpPr/>
          <p:nvPr/>
        </p:nvSpPr>
        <p:spPr>
          <a:xfrm>
            <a:off x="7763256" y="3730752"/>
            <a:ext cx="3858768" cy="1975104"/>
          </a:xfrm>
          <a:prstGeom prst="roundRect">
            <a:avLst>
              <a:gd name="adj" fmla="val 2315"/>
            </a:avLst>
          </a:prstGeom>
          <a:solidFill>
            <a:srgbClr val="0A2540"/>
          </a:solidFill>
          <a:ln/>
        </p:spPr>
      </p:sp>
      <p:sp>
        <p:nvSpPr>
          <p:cNvPr id="29" name="Text 27"/>
          <p:cNvSpPr/>
          <p:nvPr/>
        </p:nvSpPr>
        <p:spPr>
          <a:xfrm>
            <a:off x="7982712" y="3858768"/>
            <a:ext cx="3419856"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And the last line</a:t>
            </a:r>
            <a:endParaRPr lang="en-US" sz="1350" dirty="0"/>
          </a:p>
        </p:txBody>
      </p:sp>
      <p:sp>
        <p:nvSpPr>
          <p:cNvPr id="30" name="Text 28"/>
          <p:cNvSpPr/>
          <p:nvPr/>
        </p:nvSpPr>
        <p:spPr>
          <a:xfrm>
            <a:off x="7982712" y="4187952"/>
            <a:ext cx="3419856" cy="1408176"/>
          </a:xfrm>
          <a:prstGeom prst="rect">
            <a:avLst/>
          </a:prstGeom>
          <a:noFill/>
          <a:ln/>
        </p:spPr>
        <p:txBody>
          <a:bodyPr wrap="square" lIns="0" tIns="0" rIns="0" bIns="0" rtlCol="0" anchor="t"/>
          <a:lstStyle/>
          <a:p>
            <a:pPr indent="0" marL="0">
              <a:lnSpc>
                <a:spcPts val="1600"/>
              </a:lnSpc>
              <a:buNone/>
            </a:pPr>
            <a:r>
              <a:rPr lang="en-US" sz="1150" dirty="0">
                <a:solidFill>
                  <a:srgbClr val="C6D6E6"/>
                </a:solidFill>
                <a:latin typeface="Calibri" pitchFamily="34" charset="0"/>
                <a:ea typeface="Calibri" pitchFamily="34" charset="-122"/>
                <a:cs typeface="Calibri" pitchFamily="34" charset="-120"/>
              </a:rPr>
              <a:t>Closing the work order with failure and repair coding sends this job back into the reliability system — exactly the feedback RCA-02 found missing.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66928" y="1371600"/>
            <a:ext cx="2926080" cy="2377440"/>
          </a:xfrm>
          <a:prstGeom prst="rect">
            <a:avLst/>
          </a:prstGeom>
          <a:noFill/>
          <a:ln/>
        </p:spPr>
        <p:txBody>
          <a:bodyPr wrap="square" lIns="0" tIns="0" rIns="0" bIns="0" rtlCol="0" anchor="ctr"/>
          <a:lstStyle/>
          <a:p>
            <a:pPr indent="0" marL="0">
              <a:buNone/>
            </a:pPr>
            <a:r>
              <a:rPr lang="en-US" sz="15000" b="1" dirty="0">
                <a:solidFill>
                  <a:srgbClr val="12395F"/>
                </a:solidFill>
                <a:latin typeface="Cambria" pitchFamily="34" charset="0"/>
                <a:ea typeface="Cambria" pitchFamily="34" charset="-122"/>
                <a:cs typeface="Cambria" pitchFamily="34" charset="-120"/>
              </a:rPr>
              <a:t>04</a:t>
            </a:r>
            <a:endParaRPr lang="en-US" sz="15000" dirty="0"/>
          </a:p>
        </p:txBody>
      </p:sp>
      <p:sp>
        <p:nvSpPr>
          <p:cNvPr id="3" name="Text 1"/>
          <p:cNvSpPr/>
          <p:nvPr/>
        </p:nvSpPr>
        <p:spPr>
          <a:xfrm>
            <a:off x="3584448" y="2148840"/>
            <a:ext cx="8037576" cy="274320"/>
          </a:xfrm>
          <a:prstGeom prst="rect">
            <a:avLst/>
          </a:prstGeom>
          <a:noFill/>
          <a:ln/>
        </p:spPr>
        <p:txBody>
          <a:bodyPr wrap="square" lIns="0" tIns="0" rIns="0" bIns="0" rtlCol="0" anchor="ctr"/>
          <a:lstStyle/>
          <a:p>
            <a:pPr indent="0" marL="0">
              <a:buNone/>
            </a:pPr>
            <a:r>
              <a:rPr lang="en-US" sz="1200" b="1" spc="200" kern="0" dirty="0">
                <a:solidFill>
                  <a:srgbClr val="7FA8CE"/>
                </a:solidFill>
                <a:latin typeface="Calibri" pitchFamily="34" charset="0"/>
                <a:ea typeface="Calibri" pitchFamily="34" charset="-122"/>
                <a:cs typeface="Calibri" pitchFamily="34" charset="-120"/>
              </a:rPr>
              <a:t>EXECUTION</a:t>
            </a:r>
            <a:endParaRPr lang="en-US" sz="1200" dirty="0"/>
          </a:p>
        </p:txBody>
      </p:sp>
      <p:sp>
        <p:nvSpPr>
          <p:cNvPr id="4" name="Text 2"/>
          <p:cNvSpPr/>
          <p:nvPr/>
        </p:nvSpPr>
        <p:spPr>
          <a:xfrm>
            <a:off x="3584448" y="2414016"/>
            <a:ext cx="8037576" cy="1042416"/>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At the hands of a fitter with a spanner</a:t>
            </a:r>
            <a:endParaRPr lang="en-US" sz="3600" dirty="0"/>
          </a:p>
        </p:txBody>
      </p:sp>
      <p:sp>
        <p:nvSpPr>
          <p:cNvPr id="5" name="Text 3"/>
          <p:cNvSpPr/>
          <p:nvPr/>
        </p:nvSpPr>
        <p:spPr>
          <a:xfrm>
            <a:off x="3584448" y="3566160"/>
            <a:ext cx="7580376" cy="868680"/>
          </a:xfrm>
          <a:prstGeom prst="rect">
            <a:avLst/>
          </a:prstGeom>
          <a:noFill/>
          <a:ln/>
        </p:spPr>
        <p:txBody>
          <a:bodyPr wrap="square" lIns="0" tIns="0" rIns="0" bIns="0" rtlCol="0" anchor="t"/>
          <a:lstStyle/>
          <a:p>
            <a:pPr indent="0" marL="0">
              <a:lnSpc>
                <a:spcPts val="2100"/>
              </a:lnSpc>
              <a:buNone/>
            </a:pPr>
            <a:r>
              <a:rPr lang="en-US" sz="1400" dirty="0">
                <a:solidFill>
                  <a:srgbClr val="B9CBDD"/>
                </a:solidFill>
                <a:latin typeface="Calibri" pitchFamily="34" charset="0"/>
                <a:ea typeface="Calibri" pitchFamily="34" charset="-122"/>
                <a:cs typeface="Calibri" pitchFamily="34" charset="-120"/>
              </a:rPr>
              <a:t>The seal replacement on the pump that failed, under the permit just issued. Twelve steps, from isolation to handback.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DELIVERABLE 4  ·  JSA-CDU-2026-0473</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Twelve steps. Four still carry risk after every control we have.</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Same pump as RCA-02, same register entry as RR-02, same permit as PTW-CDU-2026-0473.</a:t>
            </a:r>
            <a:endParaRPr lang="en-US" sz="1200" dirty="0"/>
          </a:p>
        </p:txBody>
      </p:sp>
      <p:sp>
        <p:nvSpPr>
          <p:cNvPr id="5" name="Shape 3"/>
          <p:cNvSpPr/>
          <p:nvPr/>
        </p:nvSpPr>
        <p:spPr>
          <a:xfrm>
            <a:off x="566928" y="1645920"/>
            <a:ext cx="854202" cy="420624"/>
          </a:xfrm>
          <a:prstGeom prst="roundRect">
            <a:avLst>
              <a:gd name="adj" fmla="val 10870"/>
            </a:avLst>
          </a:prstGeom>
          <a:solidFill>
            <a:srgbClr val="F1F4F8"/>
          </a:solidFill>
          <a:ln w="9525">
            <a:solidFill>
              <a:srgbClr val="CFD8E3"/>
            </a:solidFill>
            <a:prstDash val="solid"/>
          </a:ln>
        </p:spPr>
      </p:sp>
      <p:sp>
        <p:nvSpPr>
          <p:cNvPr id="6" name="Text 4"/>
          <p:cNvSpPr/>
          <p:nvPr/>
        </p:nvSpPr>
        <p:spPr>
          <a:xfrm>
            <a:off x="566928" y="1645920"/>
            <a:ext cx="854202" cy="420624"/>
          </a:xfrm>
          <a:prstGeom prst="rect">
            <a:avLst/>
          </a:prstGeom>
          <a:noFill/>
          <a:ln/>
        </p:spPr>
        <p:txBody>
          <a:bodyPr wrap="square" lIns="0" tIns="0" rIns="0" bIns="0" rtlCol="0" anchor="ctr"/>
          <a:lstStyle/>
          <a:p>
            <a:pPr algn="ctr" indent="0" marL="0">
              <a:buNone/>
            </a:pPr>
            <a:r>
              <a:rPr lang="en-US" sz="850" dirty="0">
                <a:solidFill>
                  <a:srgbClr val="56677A"/>
                </a:solidFill>
                <a:latin typeface="Calibri" pitchFamily="34" charset="0"/>
                <a:ea typeface="Calibri" pitchFamily="34" charset="-122"/>
                <a:cs typeface="Calibri" pitchFamily="34" charset="-120"/>
              </a:rPr>
              <a:t>1 Verify</a:t>
            </a:r>
            <a:endParaRPr lang="en-US" sz="850" dirty="0"/>
          </a:p>
        </p:txBody>
      </p:sp>
      <p:sp>
        <p:nvSpPr>
          <p:cNvPr id="7" name="Shape 5"/>
          <p:cNvSpPr/>
          <p:nvPr/>
        </p:nvSpPr>
        <p:spPr>
          <a:xfrm>
            <a:off x="1494282" y="1645920"/>
            <a:ext cx="854202" cy="420624"/>
          </a:xfrm>
          <a:prstGeom prst="roundRect">
            <a:avLst>
              <a:gd name="adj" fmla="val 10870"/>
            </a:avLst>
          </a:prstGeom>
          <a:solidFill>
            <a:srgbClr val="F1F4F8"/>
          </a:solidFill>
          <a:ln w="9525">
            <a:solidFill>
              <a:srgbClr val="CFD8E3"/>
            </a:solidFill>
            <a:prstDash val="solid"/>
          </a:ln>
        </p:spPr>
      </p:sp>
      <p:sp>
        <p:nvSpPr>
          <p:cNvPr id="8" name="Text 6"/>
          <p:cNvSpPr/>
          <p:nvPr/>
        </p:nvSpPr>
        <p:spPr>
          <a:xfrm>
            <a:off x="1494282" y="1645920"/>
            <a:ext cx="854202" cy="420624"/>
          </a:xfrm>
          <a:prstGeom prst="rect">
            <a:avLst/>
          </a:prstGeom>
          <a:noFill/>
          <a:ln/>
        </p:spPr>
        <p:txBody>
          <a:bodyPr wrap="square" lIns="0" tIns="0" rIns="0" bIns="0" rtlCol="0" anchor="ctr"/>
          <a:lstStyle/>
          <a:p>
            <a:pPr algn="ctr" indent="0" marL="0">
              <a:buNone/>
            </a:pPr>
            <a:r>
              <a:rPr lang="en-US" sz="850" dirty="0">
                <a:solidFill>
                  <a:srgbClr val="56677A"/>
                </a:solidFill>
                <a:latin typeface="Calibri" pitchFamily="34" charset="0"/>
                <a:ea typeface="Calibri" pitchFamily="34" charset="-122"/>
                <a:cs typeface="Calibri" pitchFamily="34" charset="-120"/>
              </a:rPr>
              <a:t>2 LOTO</a:t>
            </a:r>
            <a:endParaRPr lang="en-US" sz="850" dirty="0"/>
          </a:p>
        </p:txBody>
      </p:sp>
      <p:sp>
        <p:nvSpPr>
          <p:cNvPr id="9" name="Shape 7"/>
          <p:cNvSpPr/>
          <p:nvPr/>
        </p:nvSpPr>
        <p:spPr>
          <a:xfrm>
            <a:off x="2421636" y="1645920"/>
            <a:ext cx="854202" cy="420624"/>
          </a:xfrm>
          <a:prstGeom prst="roundRect">
            <a:avLst>
              <a:gd name="adj" fmla="val 10870"/>
            </a:avLst>
          </a:prstGeom>
          <a:solidFill>
            <a:srgbClr val="C87F16"/>
          </a:solidFill>
          <a:ln w="9525">
            <a:solidFill>
              <a:srgbClr val="C87F16"/>
            </a:solidFill>
            <a:prstDash val="solid"/>
          </a:ln>
        </p:spPr>
      </p:sp>
      <p:sp>
        <p:nvSpPr>
          <p:cNvPr id="10" name="Text 8"/>
          <p:cNvSpPr/>
          <p:nvPr/>
        </p:nvSpPr>
        <p:spPr>
          <a:xfrm>
            <a:off x="2421636" y="1645920"/>
            <a:ext cx="85420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 Isolate</a:t>
            </a:r>
            <a:endParaRPr lang="en-US" sz="850" dirty="0"/>
          </a:p>
        </p:txBody>
      </p:sp>
      <p:sp>
        <p:nvSpPr>
          <p:cNvPr id="11" name="Shape 9"/>
          <p:cNvSpPr/>
          <p:nvPr/>
        </p:nvSpPr>
        <p:spPr>
          <a:xfrm>
            <a:off x="3348990" y="1645920"/>
            <a:ext cx="854202" cy="420624"/>
          </a:xfrm>
          <a:prstGeom prst="roundRect">
            <a:avLst>
              <a:gd name="adj" fmla="val 10870"/>
            </a:avLst>
          </a:prstGeom>
          <a:solidFill>
            <a:srgbClr val="C87F16"/>
          </a:solidFill>
          <a:ln w="9525">
            <a:solidFill>
              <a:srgbClr val="C87F16"/>
            </a:solidFill>
            <a:prstDash val="solid"/>
          </a:ln>
        </p:spPr>
      </p:sp>
      <p:sp>
        <p:nvSpPr>
          <p:cNvPr id="12" name="Text 10"/>
          <p:cNvSpPr/>
          <p:nvPr/>
        </p:nvSpPr>
        <p:spPr>
          <a:xfrm>
            <a:off x="3348990" y="1645920"/>
            <a:ext cx="85420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 Drain</a:t>
            </a:r>
            <a:endParaRPr lang="en-US" sz="850" dirty="0"/>
          </a:p>
        </p:txBody>
      </p:sp>
      <p:sp>
        <p:nvSpPr>
          <p:cNvPr id="13" name="Shape 11"/>
          <p:cNvSpPr/>
          <p:nvPr/>
        </p:nvSpPr>
        <p:spPr>
          <a:xfrm>
            <a:off x="4276344" y="1645920"/>
            <a:ext cx="854202" cy="420624"/>
          </a:xfrm>
          <a:prstGeom prst="roundRect">
            <a:avLst>
              <a:gd name="adj" fmla="val 10870"/>
            </a:avLst>
          </a:prstGeom>
          <a:solidFill>
            <a:srgbClr val="F1F4F8"/>
          </a:solidFill>
          <a:ln w="9525">
            <a:solidFill>
              <a:srgbClr val="CFD8E3"/>
            </a:solidFill>
            <a:prstDash val="solid"/>
          </a:ln>
        </p:spPr>
      </p:sp>
      <p:sp>
        <p:nvSpPr>
          <p:cNvPr id="14" name="Text 12"/>
          <p:cNvSpPr/>
          <p:nvPr/>
        </p:nvSpPr>
        <p:spPr>
          <a:xfrm>
            <a:off x="4276344" y="1645920"/>
            <a:ext cx="854202" cy="420624"/>
          </a:xfrm>
          <a:prstGeom prst="rect">
            <a:avLst/>
          </a:prstGeom>
          <a:noFill/>
          <a:ln/>
        </p:spPr>
        <p:txBody>
          <a:bodyPr wrap="square" lIns="0" tIns="0" rIns="0" bIns="0" rtlCol="0" anchor="ctr"/>
          <a:lstStyle/>
          <a:p>
            <a:pPr algn="ctr" indent="0" marL="0">
              <a:buNone/>
            </a:pPr>
            <a:r>
              <a:rPr lang="en-US" sz="850" dirty="0">
                <a:solidFill>
                  <a:srgbClr val="56677A"/>
                </a:solidFill>
                <a:latin typeface="Calibri" pitchFamily="34" charset="0"/>
                <a:ea typeface="Calibri" pitchFamily="34" charset="-122"/>
                <a:cs typeface="Calibri" pitchFamily="34" charset="-120"/>
              </a:rPr>
              <a:t>5 Purge</a:t>
            </a:r>
            <a:endParaRPr lang="en-US" sz="850" dirty="0"/>
          </a:p>
        </p:txBody>
      </p:sp>
      <p:sp>
        <p:nvSpPr>
          <p:cNvPr id="15" name="Shape 13"/>
          <p:cNvSpPr/>
          <p:nvPr/>
        </p:nvSpPr>
        <p:spPr>
          <a:xfrm>
            <a:off x="5203698" y="1645920"/>
            <a:ext cx="854202" cy="420624"/>
          </a:xfrm>
          <a:prstGeom prst="roundRect">
            <a:avLst>
              <a:gd name="adj" fmla="val 10870"/>
            </a:avLst>
          </a:prstGeom>
          <a:solidFill>
            <a:srgbClr val="F1F4F8"/>
          </a:solidFill>
          <a:ln w="9525">
            <a:solidFill>
              <a:srgbClr val="CFD8E3"/>
            </a:solidFill>
            <a:prstDash val="solid"/>
          </a:ln>
        </p:spPr>
      </p:sp>
      <p:sp>
        <p:nvSpPr>
          <p:cNvPr id="16" name="Text 14"/>
          <p:cNvSpPr/>
          <p:nvPr/>
        </p:nvSpPr>
        <p:spPr>
          <a:xfrm>
            <a:off x="5203698" y="1645920"/>
            <a:ext cx="854202" cy="420624"/>
          </a:xfrm>
          <a:prstGeom prst="rect">
            <a:avLst/>
          </a:prstGeom>
          <a:noFill/>
          <a:ln/>
        </p:spPr>
        <p:txBody>
          <a:bodyPr wrap="square" lIns="0" tIns="0" rIns="0" bIns="0" rtlCol="0" anchor="ctr"/>
          <a:lstStyle/>
          <a:p>
            <a:pPr algn="ctr" indent="0" marL="0">
              <a:buNone/>
            </a:pPr>
            <a:r>
              <a:rPr lang="en-US" sz="850" dirty="0">
                <a:solidFill>
                  <a:srgbClr val="56677A"/>
                </a:solidFill>
                <a:latin typeface="Calibri" pitchFamily="34" charset="0"/>
                <a:ea typeface="Calibri" pitchFamily="34" charset="-122"/>
                <a:cs typeface="Calibri" pitchFamily="34" charset="-120"/>
              </a:rPr>
              <a:t>6 Break</a:t>
            </a:r>
            <a:endParaRPr lang="en-US" sz="850" dirty="0"/>
          </a:p>
        </p:txBody>
      </p:sp>
      <p:sp>
        <p:nvSpPr>
          <p:cNvPr id="17" name="Shape 15"/>
          <p:cNvSpPr/>
          <p:nvPr/>
        </p:nvSpPr>
        <p:spPr>
          <a:xfrm>
            <a:off x="6131052" y="1645920"/>
            <a:ext cx="854202" cy="420624"/>
          </a:xfrm>
          <a:prstGeom prst="roundRect">
            <a:avLst>
              <a:gd name="adj" fmla="val 10870"/>
            </a:avLst>
          </a:prstGeom>
          <a:solidFill>
            <a:srgbClr val="F1F4F8"/>
          </a:solidFill>
          <a:ln w="9525">
            <a:solidFill>
              <a:srgbClr val="CFD8E3"/>
            </a:solidFill>
            <a:prstDash val="solid"/>
          </a:ln>
        </p:spPr>
      </p:sp>
      <p:sp>
        <p:nvSpPr>
          <p:cNvPr id="18" name="Text 16"/>
          <p:cNvSpPr/>
          <p:nvPr/>
        </p:nvSpPr>
        <p:spPr>
          <a:xfrm>
            <a:off x="6131052" y="1645920"/>
            <a:ext cx="854202" cy="420624"/>
          </a:xfrm>
          <a:prstGeom prst="rect">
            <a:avLst/>
          </a:prstGeom>
          <a:noFill/>
          <a:ln/>
        </p:spPr>
        <p:txBody>
          <a:bodyPr wrap="square" lIns="0" tIns="0" rIns="0" bIns="0" rtlCol="0" anchor="ctr"/>
          <a:lstStyle/>
          <a:p>
            <a:pPr algn="ctr" indent="0" marL="0">
              <a:buNone/>
            </a:pPr>
            <a:r>
              <a:rPr lang="en-US" sz="850" dirty="0">
                <a:solidFill>
                  <a:srgbClr val="56677A"/>
                </a:solidFill>
                <a:latin typeface="Calibri" pitchFamily="34" charset="0"/>
                <a:ea typeface="Calibri" pitchFamily="34" charset="-122"/>
                <a:cs typeface="Calibri" pitchFamily="34" charset="-120"/>
              </a:rPr>
              <a:t>7 Seal out</a:t>
            </a:r>
            <a:endParaRPr lang="en-US" sz="850" dirty="0"/>
          </a:p>
        </p:txBody>
      </p:sp>
      <p:sp>
        <p:nvSpPr>
          <p:cNvPr id="19" name="Shape 17"/>
          <p:cNvSpPr/>
          <p:nvPr/>
        </p:nvSpPr>
        <p:spPr>
          <a:xfrm>
            <a:off x="7058406" y="1645920"/>
            <a:ext cx="854202" cy="420624"/>
          </a:xfrm>
          <a:prstGeom prst="roundRect">
            <a:avLst>
              <a:gd name="adj" fmla="val 10870"/>
            </a:avLst>
          </a:prstGeom>
          <a:solidFill>
            <a:srgbClr val="C87F16"/>
          </a:solidFill>
          <a:ln w="9525">
            <a:solidFill>
              <a:srgbClr val="C87F16"/>
            </a:solidFill>
            <a:prstDash val="solid"/>
          </a:ln>
        </p:spPr>
      </p:sp>
      <p:sp>
        <p:nvSpPr>
          <p:cNvPr id="20" name="Text 18"/>
          <p:cNvSpPr/>
          <p:nvPr/>
        </p:nvSpPr>
        <p:spPr>
          <a:xfrm>
            <a:off x="7058406" y="1645920"/>
            <a:ext cx="85420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8 Clean</a:t>
            </a:r>
            <a:endParaRPr lang="en-US" sz="850" dirty="0"/>
          </a:p>
        </p:txBody>
      </p:sp>
      <p:sp>
        <p:nvSpPr>
          <p:cNvPr id="21" name="Shape 19"/>
          <p:cNvSpPr/>
          <p:nvPr/>
        </p:nvSpPr>
        <p:spPr>
          <a:xfrm>
            <a:off x="7985760" y="1645920"/>
            <a:ext cx="854202" cy="420624"/>
          </a:xfrm>
          <a:prstGeom prst="roundRect">
            <a:avLst>
              <a:gd name="adj" fmla="val 10870"/>
            </a:avLst>
          </a:prstGeom>
          <a:solidFill>
            <a:srgbClr val="F1F4F8"/>
          </a:solidFill>
          <a:ln w="9525">
            <a:solidFill>
              <a:srgbClr val="CFD8E3"/>
            </a:solidFill>
            <a:prstDash val="solid"/>
          </a:ln>
        </p:spPr>
      </p:sp>
      <p:sp>
        <p:nvSpPr>
          <p:cNvPr id="22" name="Text 20"/>
          <p:cNvSpPr/>
          <p:nvPr/>
        </p:nvSpPr>
        <p:spPr>
          <a:xfrm>
            <a:off x="7985760" y="1645920"/>
            <a:ext cx="854202" cy="420624"/>
          </a:xfrm>
          <a:prstGeom prst="rect">
            <a:avLst/>
          </a:prstGeom>
          <a:noFill/>
          <a:ln/>
        </p:spPr>
        <p:txBody>
          <a:bodyPr wrap="square" lIns="0" tIns="0" rIns="0" bIns="0" rtlCol="0" anchor="ctr"/>
          <a:lstStyle/>
          <a:p>
            <a:pPr algn="ctr" indent="0" marL="0">
              <a:buNone/>
            </a:pPr>
            <a:r>
              <a:rPr lang="en-US" sz="850" dirty="0">
                <a:solidFill>
                  <a:srgbClr val="56677A"/>
                </a:solidFill>
                <a:latin typeface="Calibri" pitchFamily="34" charset="0"/>
                <a:ea typeface="Calibri" pitchFamily="34" charset="-122"/>
                <a:cs typeface="Calibri" pitchFamily="34" charset="-120"/>
              </a:rPr>
              <a:t>9 Seal in</a:t>
            </a:r>
            <a:endParaRPr lang="en-US" sz="850" dirty="0"/>
          </a:p>
        </p:txBody>
      </p:sp>
      <p:sp>
        <p:nvSpPr>
          <p:cNvPr id="23" name="Shape 21"/>
          <p:cNvSpPr/>
          <p:nvPr/>
        </p:nvSpPr>
        <p:spPr>
          <a:xfrm>
            <a:off x="8913114" y="1645920"/>
            <a:ext cx="854202" cy="420624"/>
          </a:xfrm>
          <a:prstGeom prst="roundRect">
            <a:avLst>
              <a:gd name="adj" fmla="val 10870"/>
            </a:avLst>
          </a:prstGeom>
          <a:solidFill>
            <a:srgbClr val="F1F4F8"/>
          </a:solidFill>
          <a:ln w="9525">
            <a:solidFill>
              <a:srgbClr val="CFD8E3"/>
            </a:solidFill>
            <a:prstDash val="solid"/>
          </a:ln>
        </p:spPr>
      </p:sp>
      <p:sp>
        <p:nvSpPr>
          <p:cNvPr id="24" name="Text 22"/>
          <p:cNvSpPr/>
          <p:nvPr/>
        </p:nvSpPr>
        <p:spPr>
          <a:xfrm>
            <a:off x="8913114" y="1645920"/>
            <a:ext cx="854202" cy="420624"/>
          </a:xfrm>
          <a:prstGeom prst="rect">
            <a:avLst/>
          </a:prstGeom>
          <a:noFill/>
          <a:ln/>
        </p:spPr>
        <p:txBody>
          <a:bodyPr wrap="square" lIns="0" tIns="0" rIns="0" bIns="0" rtlCol="0" anchor="ctr"/>
          <a:lstStyle/>
          <a:p>
            <a:pPr algn="ctr" indent="0" marL="0">
              <a:buNone/>
            </a:pPr>
            <a:r>
              <a:rPr lang="en-US" sz="850" dirty="0">
                <a:solidFill>
                  <a:srgbClr val="56677A"/>
                </a:solidFill>
                <a:latin typeface="Calibri" pitchFamily="34" charset="0"/>
                <a:ea typeface="Calibri" pitchFamily="34" charset="-122"/>
                <a:cs typeface="Calibri" pitchFamily="34" charset="-120"/>
              </a:rPr>
              <a:t>10 Align</a:t>
            </a:r>
            <a:endParaRPr lang="en-US" sz="850" dirty="0"/>
          </a:p>
        </p:txBody>
      </p:sp>
      <p:sp>
        <p:nvSpPr>
          <p:cNvPr id="25" name="Shape 23"/>
          <p:cNvSpPr/>
          <p:nvPr/>
        </p:nvSpPr>
        <p:spPr>
          <a:xfrm>
            <a:off x="9840468" y="1645920"/>
            <a:ext cx="854202" cy="420624"/>
          </a:xfrm>
          <a:prstGeom prst="roundRect">
            <a:avLst>
              <a:gd name="adj" fmla="val 10870"/>
            </a:avLst>
          </a:prstGeom>
          <a:solidFill>
            <a:srgbClr val="C87F16"/>
          </a:solidFill>
          <a:ln w="9525">
            <a:solidFill>
              <a:srgbClr val="C87F16"/>
            </a:solidFill>
            <a:prstDash val="solid"/>
          </a:ln>
        </p:spPr>
      </p:sp>
      <p:sp>
        <p:nvSpPr>
          <p:cNvPr id="26" name="Text 24"/>
          <p:cNvSpPr/>
          <p:nvPr/>
        </p:nvSpPr>
        <p:spPr>
          <a:xfrm>
            <a:off x="9840468" y="1645920"/>
            <a:ext cx="854202"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11 Start</a:t>
            </a:r>
            <a:endParaRPr lang="en-US" sz="850" dirty="0"/>
          </a:p>
        </p:txBody>
      </p:sp>
      <p:sp>
        <p:nvSpPr>
          <p:cNvPr id="27" name="Shape 25"/>
          <p:cNvSpPr/>
          <p:nvPr/>
        </p:nvSpPr>
        <p:spPr>
          <a:xfrm>
            <a:off x="10767822" y="1645920"/>
            <a:ext cx="854202" cy="420624"/>
          </a:xfrm>
          <a:prstGeom prst="roundRect">
            <a:avLst>
              <a:gd name="adj" fmla="val 10870"/>
            </a:avLst>
          </a:prstGeom>
          <a:solidFill>
            <a:srgbClr val="F1F4F8"/>
          </a:solidFill>
          <a:ln w="9525">
            <a:solidFill>
              <a:srgbClr val="CFD8E3"/>
            </a:solidFill>
            <a:prstDash val="solid"/>
          </a:ln>
        </p:spPr>
      </p:sp>
      <p:sp>
        <p:nvSpPr>
          <p:cNvPr id="28" name="Text 26"/>
          <p:cNvSpPr/>
          <p:nvPr/>
        </p:nvSpPr>
        <p:spPr>
          <a:xfrm>
            <a:off x="10767822" y="1645920"/>
            <a:ext cx="854202" cy="420624"/>
          </a:xfrm>
          <a:prstGeom prst="rect">
            <a:avLst/>
          </a:prstGeom>
          <a:noFill/>
          <a:ln/>
        </p:spPr>
        <p:txBody>
          <a:bodyPr wrap="square" lIns="0" tIns="0" rIns="0" bIns="0" rtlCol="0" anchor="ctr"/>
          <a:lstStyle/>
          <a:p>
            <a:pPr algn="ctr" indent="0" marL="0">
              <a:buNone/>
            </a:pPr>
            <a:r>
              <a:rPr lang="en-US" sz="850" dirty="0">
                <a:solidFill>
                  <a:srgbClr val="56677A"/>
                </a:solidFill>
                <a:latin typeface="Calibri" pitchFamily="34" charset="0"/>
                <a:ea typeface="Calibri" pitchFamily="34" charset="-122"/>
                <a:cs typeface="Calibri" pitchFamily="34" charset="-120"/>
              </a:rPr>
              <a:t>12 Close</a:t>
            </a:r>
            <a:endParaRPr lang="en-US" sz="850" dirty="0"/>
          </a:p>
        </p:txBody>
      </p:sp>
      <p:sp>
        <p:nvSpPr>
          <p:cNvPr id="29" name="Text 27"/>
          <p:cNvSpPr/>
          <p:nvPr/>
        </p:nvSpPr>
        <p:spPr>
          <a:xfrm>
            <a:off x="566928" y="2103120"/>
            <a:ext cx="11055096" cy="219456"/>
          </a:xfrm>
          <a:prstGeom prst="rect">
            <a:avLst/>
          </a:prstGeom>
          <a:noFill/>
          <a:ln/>
        </p:spPr>
        <p:txBody>
          <a:bodyPr wrap="square" lIns="0" tIns="0" rIns="0" bIns="0" rtlCol="0" anchor="ctr"/>
          <a:lstStyle/>
          <a:p>
            <a:pPr indent="0" marL="0">
              <a:buNone/>
            </a:pPr>
            <a:r>
              <a:rPr lang="en-US" sz="950" i="1" dirty="0">
                <a:solidFill>
                  <a:srgbClr val="8494A6"/>
                </a:solidFill>
                <a:latin typeface="Calibri" pitchFamily="34" charset="0"/>
                <a:ea typeface="Calibri" pitchFamily="34" charset="-122"/>
                <a:cs typeface="Calibri" pitchFamily="34" charset="-120"/>
              </a:rPr>
              <a:t>Amber = residual risk still Medium after all controls</a:t>
            </a:r>
            <a:endParaRPr lang="en-US" sz="950" dirty="0"/>
          </a:p>
        </p:txBody>
      </p:sp>
      <p:sp>
        <p:nvSpPr>
          <p:cNvPr id="30" name="Shape 28"/>
          <p:cNvSpPr/>
          <p:nvPr/>
        </p:nvSpPr>
        <p:spPr>
          <a:xfrm>
            <a:off x="566928" y="2414016"/>
            <a:ext cx="11055096" cy="822960"/>
          </a:xfrm>
          <a:prstGeom prst="roundRect">
            <a:avLst>
              <a:gd name="adj" fmla="val 5556"/>
            </a:avLst>
          </a:prstGeom>
          <a:solidFill>
            <a:srgbClr val="F1F4F8"/>
          </a:solidFill>
          <a:ln w="9525">
            <a:solidFill>
              <a:srgbClr val="CFD8E3"/>
            </a:solidFill>
            <a:prstDash val="solid"/>
          </a:ln>
        </p:spPr>
      </p:sp>
      <p:sp>
        <p:nvSpPr>
          <p:cNvPr id="31" name="Shape 29"/>
          <p:cNvSpPr/>
          <p:nvPr/>
        </p:nvSpPr>
        <p:spPr>
          <a:xfrm>
            <a:off x="749808" y="2642616"/>
            <a:ext cx="365760" cy="365760"/>
          </a:xfrm>
          <a:prstGeom prst="ellipse">
            <a:avLst/>
          </a:prstGeom>
          <a:solidFill>
            <a:srgbClr val="C87F16"/>
          </a:solidFill>
          <a:ln/>
        </p:spPr>
      </p:sp>
      <p:sp>
        <p:nvSpPr>
          <p:cNvPr id="32" name="Text 30"/>
          <p:cNvSpPr/>
          <p:nvPr/>
        </p:nvSpPr>
        <p:spPr>
          <a:xfrm>
            <a:off x="749808" y="26426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Text 31"/>
          <p:cNvSpPr/>
          <p:nvPr/>
        </p:nvSpPr>
        <p:spPr>
          <a:xfrm>
            <a:off x="1225296" y="2505456"/>
            <a:ext cx="2194560" cy="420624"/>
          </a:xfrm>
          <a:prstGeom prst="rect">
            <a:avLst/>
          </a:prstGeom>
          <a:noFill/>
          <a:ln/>
        </p:spPr>
        <p:txBody>
          <a:bodyPr wrap="square" lIns="0" tIns="0" rIns="0" bIns="0" rtlCol="0" anchor="t"/>
          <a:lstStyle/>
          <a:p>
            <a:pPr indent="0" marL="0">
              <a:lnSpc>
                <a:spcPts val="1300"/>
              </a:lnSpc>
              <a:buNone/>
            </a:pPr>
            <a:r>
              <a:rPr lang="en-US" sz="1100" b="1" dirty="0">
                <a:solidFill>
                  <a:srgbClr val="0A2540"/>
                </a:solidFill>
                <a:latin typeface="Calibri" pitchFamily="34" charset="0"/>
                <a:ea typeface="Calibri" pitchFamily="34" charset="-122"/>
                <a:cs typeface="Calibri" pitchFamily="34" charset="-120"/>
              </a:rPr>
              <a:t>Verify process isolation</a:t>
            </a:r>
            <a:endParaRPr lang="en-US" sz="1100" dirty="0"/>
          </a:p>
        </p:txBody>
      </p:sp>
      <p:sp>
        <p:nvSpPr>
          <p:cNvPr id="34" name="Text 32"/>
          <p:cNvSpPr/>
          <p:nvPr/>
        </p:nvSpPr>
        <p:spPr>
          <a:xfrm>
            <a:off x="1225296" y="2944368"/>
            <a:ext cx="2194560" cy="219456"/>
          </a:xfrm>
          <a:prstGeom prst="rect">
            <a:avLst/>
          </a:prstGeom>
          <a:noFill/>
          <a:ln/>
        </p:spPr>
        <p:txBody>
          <a:bodyPr wrap="square" lIns="0" tIns="0" rIns="0" bIns="0" rtlCol="0" anchor="ctr"/>
          <a:lstStyle/>
          <a:p>
            <a:pPr indent="0" marL="0">
              <a:buNone/>
            </a:pPr>
            <a:r>
              <a:rPr lang="en-US" sz="850" i="1" dirty="0">
                <a:solidFill>
                  <a:srgbClr val="8494A6"/>
                </a:solidFill>
                <a:latin typeface="Calibri" pitchFamily="34" charset="0"/>
                <a:ea typeface="Calibri" pitchFamily="34" charset="-122"/>
                <a:cs typeface="Calibri" pitchFamily="34" charset="-120"/>
              </a:rPr>
              <a:t>Isolating Authority</a:t>
            </a:r>
            <a:endParaRPr lang="en-US" sz="850" dirty="0"/>
          </a:p>
        </p:txBody>
      </p:sp>
      <p:sp>
        <p:nvSpPr>
          <p:cNvPr id="35" name="Text 33"/>
          <p:cNvSpPr/>
          <p:nvPr/>
        </p:nvSpPr>
        <p:spPr>
          <a:xfrm>
            <a:off x="3547872" y="2496312"/>
            <a:ext cx="3520440" cy="155448"/>
          </a:xfrm>
          <a:prstGeom prst="rect">
            <a:avLst/>
          </a:prstGeom>
          <a:noFill/>
          <a:ln/>
        </p:spPr>
        <p:txBody>
          <a:bodyPr wrap="square" lIns="0" tIns="0" rIns="0" bIns="0" rtlCol="0" anchor="ctr"/>
          <a:lstStyle/>
          <a:p>
            <a:pPr indent="0" marL="0">
              <a:buNone/>
            </a:pPr>
            <a:r>
              <a:rPr lang="en-US" sz="700" b="1" spc="80" kern="0" dirty="0">
                <a:solidFill>
                  <a:srgbClr val="C8102E"/>
                </a:solidFill>
                <a:latin typeface="Calibri" pitchFamily="34" charset="0"/>
                <a:ea typeface="Calibri" pitchFamily="34" charset="-122"/>
                <a:cs typeface="Calibri" pitchFamily="34" charset="-120"/>
              </a:rPr>
              <a:t>HAZARD</a:t>
            </a:r>
            <a:endParaRPr lang="en-US" sz="700" dirty="0"/>
          </a:p>
        </p:txBody>
      </p:sp>
      <p:sp>
        <p:nvSpPr>
          <p:cNvPr id="36" name="Text 34"/>
          <p:cNvSpPr/>
          <p:nvPr/>
        </p:nvSpPr>
        <p:spPr>
          <a:xfrm>
            <a:off x="3547872" y="2651760"/>
            <a:ext cx="3520440" cy="530352"/>
          </a:xfrm>
          <a:prstGeom prst="rect">
            <a:avLst/>
          </a:prstGeom>
          <a:noFill/>
          <a:ln/>
        </p:spPr>
        <p:txBody>
          <a:bodyPr wrap="square" lIns="0" tIns="0" rIns="0" bIns="0" rtlCol="0" anchor="t"/>
          <a:lstStyle/>
          <a:p>
            <a:pPr indent="0" marL="0">
              <a:lnSpc>
                <a:spcPts val="1150"/>
              </a:lnSpc>
              <a:buNone/>
            </a:pPr>
            <a:r>
              <a:rPr lang="en-US" sz="900" dirty="0">
                <a:solidFill>
                  <a:srgbClr val="56677A"/>
                </a:solidFill>
                <a:latin typeface="Calibri" pitchFamily="34" charset="0"/>
                <a:ea typeface="Calibri" pitchFamily="34" charset="-122"/>
                <a:cs typeface="Calibri" pitchFamily="34" charset="-120"/>
              </a:rPr>
              <a:t>16″ suction holds a standing column of hot gas oil at line pressure; a passing valve looks identical to a closed one</a:t>
            </a:r>
            <a:endParaRPr lang="en-US" sz="900" dirty="0"/>
          </a:p>
        </p:txBody>
      </p:sp>
      <p:sp>
        <p:nvSpPr>
          <p:cNvPr id="37" name="Text 35"/>
          <p:cNvSpPr/>
          <p:nvPr/>
        </p:nvSpPr>
        <p:spPr>
          <a:xfrm>
            <a:off x="7278624" y="2496312"/>
            <a:ext cx="4160520" cy="155448"/>
          </a:xfrm>
          <a:prstGeom prst="rect">
            <a:avLst/>
          </a:prstGeom>
          <a:noFill/>
          <a:ln/>
        </p:spPr>
        <p:txBody>
          <a:bodyPr wrap="square" lIns="0" tIns="0" rIns="0" bIns="0" rtlCol="0" anchor="ctr"/>
          <a:lstStyle/>
          <a:p>
            <a:pPr indent="0" marL="0">
              <a:buNone/>
            </a:pPr>
            <a:r>
              <a:rPr lang="en-US" sz="700" b="1" spc="80" kern="0" dirty="0">
                <a:solidFill>
                  <a:srgbClr val="2E7D5B"/>
                </a:solidFill>
                <a:latin typeface="Calibri" pitchFamily="34" charset="0"/>
                <a:ea typeface="Calibri" pitchFamily="34" charset="-122"/>
                <a:cs typeface="Calibri" pitchFamily="34" charset="-120"/>
              </a:rPr>
              <a:t>CONTROLS</a:t>
            </a:r>
            <a:endParaRPr lang="en-US" sz="700" dirty="0"/>
          </a:p>
        </p:txBody>
      </p:sp>
      <p:sp>
        <p:nvSpPr>
          <p:cNvPr id="38" name="Text 36"/>
          <p:cNvSpPr/>
          <p:nvPr/>
        </p:nvSpPr>
        <p:spPr>
          <a:xfrm>
            <a:off x="7278624" y="2651760"/>
            <a:ext cx="4160520" cy="530352"/>
          </a:xfrm>
          <a:prstGeom prst="rect">
            <a:avLst/>
          </a:prstGeom>
          <a:noFill/>
          <a:ln/>
        </p:spPr>
        <p:txBody>
          <a:bodyPr wrap="square" lIns="0" tIns="0" rIns="0" bIns="0" rtlCol="0" anchor="t"/>
          <a:lstStyle/>
          <a:p>
            <a:pPr indent="0" marL="0">
              <a:lnSpc>
                <a:spcPts val="1150"/>
              </a:lnSpc>
              <a:buNone/>
            </a:pPr>
            <a:r>
              <a:rPr lang="en-US" sz="900" dirty="0">
                <a:solidFill>
                  <a:srgbClr val="56677A"/>
                </a:solidFill>
                <a:latin typeface="Calibri" pitchFamily="34" charset="0"/>
                <a:ea typeface="Calibri" pitchFamily="34" charset="-122"/>
                <a:cs typeface="Calibri" pitchFamily="34" charset="-120"/>
              </a:rPr>
              <a:t>Double block and bleed both sides, locked closed · bleeds cracked to closed drain and watched for 10 minutes with no flow · independent gauge at both ends, not the DCS value</a:t>
            </a:r>
            <a:endParaRPr lang="en-US" sz="900" dirty="0"/>
          </a:p>
        </p:txBody>
      </p:sp>
      <p:sp>
        <p:nvSpPr>
          <p:cNvPr id="39" name="Shape 37"/>
          <p:cNvSpPr/>
          <p:nvPr/>
        </p:nvSpPr>
        <p:spPr>
          <a:xfrm>
            <a:off x="566928" y="3328416"/>
            <a:ext cx="11055096" cy="822960"/>
          </a:xfrm>
          <a:prstGeom prst="roundRect">
            <a:avLst>
              <a:gd name="adj" fmla="val 5556"/>
            </a:avLst>
          </a:prstGeom>
          <a:solidFill>
            <a:srgbClr val="F1F4F8"/>
          </a:solidFill>
          <a:ln w="9525">
            <a:solidFill>
              <a:srgbClr val="CFD8E3"/>
            </a:solidFill>
            <a:prstDash val="solid"/>
          </a:ln>
        </p:spPr>
      </p:sp>
      <p:sp>
        <p:nvSpPr>
          <p:cNvPr id="40" name="Shape 38"/>
          <p:cNvSpPr/>
          <p:nvPr/>
        </p:nvSpPr>
        <p:spPr>
          <a:xfrm>
            <a:off x="749808" y="3557016"/>
            <a:ext cx="365760" cy="365760"/>
          </a:xfrm>
          <a:prstGeom prst="ellipse">
            <a:avLst/>
          </a:prstGeom>
          <a:solidFill>
            <a:srgbClr val="C87F16"/>
          </a:solidFill>
          <a:ln/>
        </p:spPr>
      </p:sp>
      <p:sp>
        <p:nvSpPr>
          <p:cNvPr id="41" name="Text 39"/>
          <p:cNvSpPr/>
          <p:nvPr/>
        </p:nvSpPr>
        <p:spPr>
          <a:xfrm>
            <a:off x="749808" y="35570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2" name="Text 40"/>
          <p:cNvSpPr/>
          <p:nvPr/>
        </p:nvSpPr>
        <p:spPr>
          <a:xfrm>
            <a:off x="1225296" y="3419856"/>
            <a:ext cx="2194560" cy="420624"/>
          </a:xfrm>
          <a:prstGeom prst="rect">
            <a:avLst/>
          </a:prstGeom>
          <a:noFill/>
          <a:ln/>
        </p:spPr>
        <p:txBody>
          <a:bodyPr wrap="square" lIns="0" tIns="0" rIns="0" bIns="0" rtlCol="0" anchor="t"/>
          <a:lstStyle/>
          <a:p>
            <a:pPr indent="0" marL="0">
              <a:lnSpc>
                <a:spcPts val="1300"/>
              </a:lnSpc>
              <a:buNone/>
            </a:pPr>
            <a:r>
              <a:rPr lang="en-US" sz="1100" b="1" dirty="0">
                <a:solidFill>
                  <a:srgbClr val="0A2540"/>
                </a:solidFill>
                <a:latin typeface="Calibri" pitchFamily="34" charset="0"/>
                <a:ea typeface="Calibri" pitchFamily="34" charset="-122"/>
                <a:cs typeface="Calibri" pitchFamily="34" charset="-120"/>
              </a:rPr>
              <a:t>Cool down and drain casing</a:t>
            </a:r>
            <a:endParaRPr lang="en-US" sz="1100" dirty="0"/>
          </a:p>
        </p:txBody>
      </p:sp>
      <p:sp>
        <p:nvSpPr>
          <p:cNvPr id="43" name="Text 41"/>
          <p:cNvSpPr/>
          <p:nvPr/>
        </p:nvSpPr>
        <p:spPr>
          <a:xfrm>
            <a:off x="1225296" y="3858768"/>
            <a:ext cx="2194560" cy="219456"/>
          </a:xfrm>
          <a:prstGeom prst="rect">
            <a:avLst/>
          </a:prstGeom>
          <a:noFill/>
          <a:ln/>
        </p:spPr>
        <p:txBody>
          <a:bodyPr wrap="square" lIns="0" tIns="0" rIns="0" bIns="0" rtlCol="0" anchor="ctr"/>
          <a:lstStyle/>
          <a:p>
            <a:pPr indent="0" marL="0">
              <a:buNone/>
            </a:pPr>
            <a:r>
              <a:rPr lang="en-US" sz="850" i="1" dirty="0">
                <a:solidFill>
                  <a:srgbClr val="8494A6"/>
                </a:solidFill>
                <a:latin typeface="Calibri" pitchFamily="34" charset="0"/>
                <a:ea typeface="Calibri" pitchFamily="34" charset="-122"/>
                <a:cs typeface="Calibri" pitchFamily="34" charset="-120"/>
              </a:rPr>
              <a:t>PA + Authorised Gas Tester</a:t>
            </a:r>
            <a:endParaRPr lang="en-US" sz="850" dirty="0"/>
          </a:p>
        </p:txBody>
      </p:sp>
      <p:sp>
        <p:nvSpPr>
          <p:cNvPr id="44" name="Text 42"/>
          <p:cNvSpPr/>
          <p:nvPr/>
        </p:nvSpPr>
        <p:spPr>
          <a:xfrm>
            <a:off x="3547872" y="3410712"/>
            <a:ext cx="3520440" cy="155448"/>
          </a:xfrm>
          <a:prstGeom prst="rect">
            <a:avLst/>
          </a:prstGeom>
          <a:noFill/>
          <a:ln/>
        </p:spPr>
        <p:txBody>
          <a:bodyPr wrap="square" lIns="0" tIns="0" rIns="0" bIns="0" rtlCol="0" anchor="ctr"/>
          <a:lstStyle/>
          <a:p>
            <a:pPr indent="0" marL="0">
              <a:buNone/>
            </a:pPr>
            <a:r>
              <a:rPr lang="en-US" sz="700" b="1" spc="80" kern="0" dirty="0">
                <a:solidFill>
                  <a:srgbClr val="C8102E"/>
                </a:solidFill>
                <a:latin typeface="Calibri" pitchFamily="34" charset="0"/>
                <a:ea typeface="Calibri" pitchFamily="34" charset="-122"/>
                <a:cs typeface="Calibri" pitchFamily="34" charset="-120"/>
              </a:rPr>
              <a:t>HAZARD</a:t>
            </a:r>
            <a:endParaRPr lang="en-US" sz="700" dirty="0"/>
          </a:p>
        </p:txBody>
      </p:sp>
      <p:sp>
        <p:nvSpPr>
          <p:cNvPr id="45" name="Text 43"/>
          <p:cNvSpPr/>
          <p:nvPr/>
        </p:nvSpPr>
        <p:spPr>
          <a:xfrm>
            <a:off x="3547872" y="3566160"/>
            <a:ext cx="3520440" cy="530352"/>
          </a:xfrm>
          <a:prstGeom prst="rect">
            <a:avLst/>
          </a:prstGeom>
          <a:noFill/>
          <a:ln/>
        </p:spPr>
        <p:txBody>
          <a:bodyPr wrap="square" lIns="0" tIns="0" rIns="0" bIns="0" rtlCol="0" anchor="t"/>
          <a:lstStyle/>
          <a:p>
            <a:pPr indent="0" marL="0">
              <a:lnSpc>
                <a:spcPts val="1150"/>
              </a:lnSpc>
              <a:buNone/>
            </a:pPr>
            <a:r>
              <a:rPr lang="en-US" sz="900" dirty="0">
                <a:solidFill>
                  <a:srgbClr val="56677A"/>
                </a:solidFill>
                <a:latin typeface="Calibri" pitchFamily="34" charset="0"/>
                <a:ea typeface="Calibri" pitchFamily="34" charset="-122"/>
                <a:cs typeface="Calibri" pitchFamily="34" charset="-120"/>
              </a:rPr>
              <a:t>Residual hydrocarbon at 290 °C — 95 °C above its flash point; H₂S liberated as it depressures</a:t>
            </a:r>
            <a:endParaRPr lang="en-US" sz="900" dirty="0"/>
          </a:p>
        </p:txBody>
      </p:sp>
      <p:sp>
        <p:nvSpPr>
          <p:cNvPr id="46" name="Text 44"/>
          <p:cNvSpPr/>
          <p:nvPr/>
        </p:nvSpPr>
        <p:spPr>
          <a:xfrm>
            <a:off x="7278624" y="3410712"/>
            <a:ext cx="4160520" cy="155448"/>
          </a:xfrm>
          <a:prstGeom prst="rect">
            <a:avLst/>
          </a:prstGeom>
          <a:noFill/>
          <a:ln/>
        </p:spPr>
        <p:txBody>
          <a:bodyPr wrap="square" lIns="0" tIns="0" rIns="0" bIns="0" rtlCol="0" anchor="ctr"/>
          <a:lstStyle/>
          <a:p>
            <a:pPr indent="0" marL="0">
              <a:buNone/>
            </a:pPr>
            <a:r>
              <a:rPr lang="en-US" sz="700" b="1" spc="80" kern="0" dirty="0">
                <a:solidFill>
                  <a:srgbClr val="2E7D5B"/>
                </a:solidFill>
                <a:latin typeface="Calibri" pitchFamily="34" charset="0"/>
                <a:ea typeface="Calibri" pitchFamily="34" charset="-122"/>
                <a:cs typeface="Calibri" pitchFamily="34" charset="-120"/>
              </a:rPr>
              <a:t>CONTROLS</a:t>
            </a:r>
            <a:endParaRPr lang="en-US" sz="700" dirty="0"/>
          </a:p>
        </p:txBody>
      </p:sp>
      <p:sp>
        <p:nvSpPr>
          <p:cNvPr id="47" name="Text 45"/>
          <p:cNvSpPr/>
          <p:nvPr/>
        </p:nvSpPr>
        <p:spPr>
          <a:xfrm>
            <a:off x="7278624" y="3566160"/>
            <a:ext cx="4160520" cy="530352"/>
          </a:xfrm>
          <a:prstGeom prst="rect">
            <a:avLst/>
          </a:prstGeom>
          <a:noFill/>
          <a:ln/>
        </p:spPr>
        <p:txBody>
          <a:bodyPr wrap="square" lIns="0" tIns="0" rIns="0" bIns="0" rtlCol="0" anchor="t"/>
          <a:lstStyle/>
          <a:p>
            <a:pPr indent="0" marL="0">
              <a:lnSpc>
                <a:spcPts val="1150"/>
              </a:lnSpc>
              <a:buNone/>
            </a:pPr>
            <a:r>
              <a:rPr lang="en-US" sz="900" dirty="0">
                <a:solidFill>
                  <a:srgbClr val="56677A"/>
                </a:solidFill>
                <a:latin typeface="Calibri" pitchFamily="34" charset="0"/>
                <a:ea typeface="Calibri" pitchFamily="34" charset="-122"/>
                <a:cs typeface="Calibri" pitchFamily="34" charset="-120"/>
              </a:rPr>
              <a:t>Casing verified below 60 °C by contact pyrometer before any fitting is loosened · closed drain only · personal H₂S monitors alarming at 5 ppm · SCBA staged · approach taken upwind</a:t>
            </a:r>
            <a:endParaRPr lang="en-US" sz="900" dirty="0"/>
          </a:p>
        </p:txBody>
      </p:sp>
      <p:sp>
        <p:nvSpPr>
          <p:cNvPr id="48" name="Shape 46"/>
          <p:cNvSpPr/>
          <p:nvPr/>
        </p:nvSpPr>
        <p:spPr>
          <a:xfrm>
            <a:off x="566928" y="4242816"/>
            <a:ext cx="11055096" cy="822960"/>
          </a:xfrm>
          <a:prstGeom prst="roundRect">
            <a:avLst>
              <a:gd name="adj" fmla="val 5556"/>
            </a:avLst>
          </a:prstGeom>
          <a:solidFill>
            <a:srgbClr val="F1F4F8"/>
          </a:solidFill>
          <a:ln w="9525">
            <a:solidFill>
              <a:srgbClr val="CFD8E3"/>
            </a:solidFill>
            <a:prstDash val="solid"/>
          </a:ln>
        </p:spPr>
      </p:sp>
      <p:sp>
        <p:nvSpPr>
          <p:cNvPr id="49" name="Shape 47"/>
          <p:cNvSpPr/>
          <p:nvPr/>
        </p:nvSpPr>
        <p:spPr>
          <a:xfrm>
            <a:off x="749808" y="4471416"/>
            <a:ext cx="365760" cy="365760"/>
          </a:xfrm>
          <a:prstGeom prst="ellipse">
            <a:avLst/>
          </a:prstGeom>
          <a:solidFill>
            <a:srgbClr val="C87F16"/>
          </a:solidFill>
          <a:ln/>
        </p:spPr>
      </p:sp>
      <p:sp>
        <p:nvSpPr>
          <p:cNvPr id="50" name="Text 48"/>
          <p:cNvSpPr/>
          <p:nvPr/>
        </p:nvSpPr>
        <p:spPr>
          <a:xfrm>
            <a:off x="749808" y="44714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1" name="Text 49"/>
          <p:cNvSpPr/>
          <p:nvPr/>
        </p:nvSpPr>
        <p:spPr>
          <a:xfrm>
            <a:off x="1225296" y="4334256"/>
            <a:ext cx="2194560" cy="420624"/>
          </a:xfrm>
          <a:prstGeom prst="rect">
            <a:avLst/>
          </a:prstGeom>
          <a:noFill/>
          <a:ln/>
        </p:spPr>
        <p:txBody>
          <a:bodyPr wrap="square" lIns="0" tIns="0" rIns="0" bIns="0" rtlCol="0" anchor="t"/>
          <a:lstStyle/>
          <a:p>
            <a:pPr indent="0" marL="0">
              <a:lnSpc>
                <a:spcPts val="1300"/>
              </a:lnSpc>
              <a:buNone/>
            </a:pPr>
            <a:r>
              <a:rPr lang="en-US" sz="1100" b="1" dirty="0">
                <a:solidFill>
                  <a:srgbClr val="0A2540"/>
                </a:solidFill>
                <a:latin typeface="Calibri" pitchFamily="34" charset="0"/>
                <a:ea typeface="Calibri" pitchFamily="34" charset="-122"/>
                <a:cs typeface="Calibri" pitchFamily="34" charset="-120"/>
              </a:rPr>
              <a:t>Clean seal chamber and flush line</a:t>
            </a:r>
            <a:endParaRPr lang="en-US" sz="1100" dirty="0"/>
          </a:p>
        </p:txBody>
      </p:sp>
      <p:sp>
        <p:nvSpPr>
          <p:cNvPr id="52" name="Text 50"/>
          <p:cNvSpPr/>
          <p:nvPr/>
        </p:nvSpPr>
        <p:spPr>
          <a:xfrm>
            <a:off x="1225296" y="4773168"/>
            <a:ext cx="2194560" cy="219456"/>
          </a:xfrm>
          <a:prstGeom prst="rect">
            <a:avLst/>
          </a:prstGeom>
          <a:noFill/>
          <a:ln/>
        </p:spPr>
        <p:txBody>
          <a:bodyPr wrap="square" lIns="0" tIns="0" rIns="0" bIns="0" rtlCol="0" anchor="ctr"/>
          <a:lstStyle/>
          <a:p>
            <a:pPr indent="0" marL="0">
              <a:buNone/>
            </a:pPr>
            <a:r>
              <a:rPr lang="en-US" sz="850" i="1" dirty="0">
                <a:solidFill>
                  <a:srgbClr val="8494A6"/>
                </a:solidFill>
                <a:latin typeface="Calibri" pitchFamily="34" charset="0"/>
                <a:ea typeface="Calibri" pitchFamily="34" charset="-122"/>
                <a:cs typeface="Calibri" pitchFamily="34" charset="-120"/>
              </a:rPr>
              <a:t>Fitters + HSE Officer</a:t>
            </a:r>
            <a:endParaRPr lang="en-US" sz="850" dirty="0"/>
          </a:p>
        </p:txBody>
      </p:sp>
      <p:sp>
        <p:nvSpPr>
          <p:cNvPr id="53" name="Text 51"/>
          <p:cNvSpPr/>
          <p:nvPr/>
        </p:nvSpPr>
        <p:spPr>
          <a:xfrm>
            <a:off x="3547872" y="4325112"/>
            <a:ext cx="3520440" cy="155448"/>
          </a:xfrm>
          <a:prstGeom prst="rect">
            <a:avLst/>
          </a:prstGeom>
          <a:noFill/>
          <a:ln/>
        </p:spPr>
        <p:txBody>
          <a:bodyPr wrap="square" lIns="0" tIns="0" rIns="0" bIns="0" rtlCol="0" anchor="ctr"/>
          <a:lstStyle/>
          <a:p>
            <a:pPr indent="0" marL="0">
              <a:buNone/>
            </a:pPr>
            <a:r>
              <a:rPr lang="en-US" sz="700" b="1" spc="80" kern="0" dirty="0">
                <a:solidFill>
                  <a:srgbClr val="C8102E"/>
                </a:solidFill>
                <a:latin typeface="Calibri" pitchFamily="34" charset="0"/>
                <a:ea typeface="Calibri" pitchFamily="34" charset="-122"/>
                <a:cs typeface="Calibri" pitchFamily="34" charset="-120"/>
              </a:rPr>
              <a:t>HAZARD</a:t>
            </a:r>
            <a:endParaRPr lang="en-US" sz="700" dirty="0"/>
          </a:p>
        </p:txBody>
      </p:sp>
      <p:sp>
        <p:nvSpPr>
          <p:cNvPr id="54" name="Text 52"/>
          <p:cNvSpPr/>
          <p:nvPr/>
        </p:nvSpPr>
        <p:spPr>
          <a:xfrm>
            <a:off x="3547872" y="4480560"/>
            <a:ext cx="3520440" cy="530352"/>
          </a:xfrm>
          <a:prstGeom prst="rect">
            <a:avLst/>
          </a:prstGeom>
          <a:noFill/>
          <a:ln/>
        </p:spPr>
        <p:txBody>
          <a:bodyPr wrap="square" lIns="0" tIns="0" rIns="0" bIns="0" rtlCol="0" anchor="t"/>
          <a:lstStyle/>
          <a:p>
            <a:pPr indent="0" marL="0">
              <a:lnSpc>
                <a:spcPts val="1150"/>
              </a:lnSpc>
              <a:buNone/>
            </a:pPr>
            <a:r>
              <a:rPr lang="en-US" sz="900" dirty="0">
                <a:solidFill>
                  <a:srgbClr val="56677A"/>
                </a:solidFill>
                <a:latin typeface="Calibri" pitchFamily="34" charset="0"/>
                <a:ea typeface="Calibri" pitchFamily="34" charset="-122"/>
                <a:cs typeface="Calibri" pitchFamily="34" charset="-120"/>
              </a:rPr>
              <a:t>Pyrophoric iron sulfide scale — it self-ignites within seconds of drying in air, with no ignition source present</a:t>
            </a:r>
            <a:endParaRPr lang="en-US" sz="900" dirty="0"/>
          </a:p>
        </p:txBody>
      </p:sp>
      <p:sp>
        <p:nvSpPr>
          <p:cNvPr id="55" name="Text 53"/>
          <p:cNvSpPr/>
          <p:nvPr/>
        </p:nvSpPr>
        <p:spPr>
          <a:xfrm>
            <a:off x="7278624" y="4325112"/>
            <a:ext cx="4160520" cy="155448"/>
          </a:xfrm>
          <a:prstGeom prst="rect">
            <a:avLst/>
          </a:prstGeom>
          <a:noFill/>
          <a:ln/>
        </p:spPr>
        <p:txBody>
          <a:bodyPr wrap="square" lIns="0" tIns="0" rIns="0" bIns="0" rtlCol="0" anchor="ctr"/>
          <a:lstStyle/>
          <a:p>
            <a:pPr indent="0" marL="0">
              <a:buNone/>
            </a:pPr>
            <a:r>
              <a:rPr lang="en-US" sz="700" b="1" spc="80" kern="0" dirty="0">
                <a:solidFill>
                  <a:srgbClr val="2E7D5B"/>
                </a:solidFill>
                <a:latin typeface="Calibri" pitchFamily="34" charset="0"/>
                <a:ea typeface="Calibri" pitchFamily="34" charset="-122"/>
                <a:cs typeface="Calibri" pitchFamily="34" charset="-120"/>
              </a:rPr>
              <a:t>CONTROLS</a:t>
            </a:r>
            <a:endParaRPr lang="en-US" sz="700" dirty="0"/>
          </a:p>
        </p:txBody>
      </p:sp>
      <p:sp>
        <p:nvSpPr>
          <p:cNvPr id="56" name="Text 54"/>
          <p:cNvSpPr/>
          <p:nvPr/>
        </p:nvSpPr>
        <p:spPr>
          <a:xfrm>
            <a:off x="7278624" y="4480560"/>
            <a:ext cx="4160520" cy="530352"/>
          </a:xfrm>
          <a:prstGeom prst="rect">
            <a:avLst/>
          </a:prstGeom>
          <a:noFill/>
          <a:ln/>
        </p:spPr>
        <p:txBody>
          <a:bodyPr wrap="square" lIns="0" tIns="0" rIns="0" bIns="0" rtlCol="0" anchor="t"/>
          <a:lstStyle/>
          <a:p>
            <a:pPr indent="0" marL="0">
              <a:lnSpc>
                <a:spcPts val="1150"/>
              </a:lnSpc>
              <a:buNone/>
            </a:pPr>
            <a:r>
              <a:rPr lang="en-US" sz="900" dirty="0">
                <a:solidFill>
                  <a:srgbClr val="56677A"/>
                </a:solidFill>
                <a:latin typeface="Calibri" pitchFamily="34" charset="0"/>
                <a:ea typeface="Calibri" pitchFamily="34" charset="-122"/>
                <a:cs typeface="Calibri" pitchFamily="34" charset="-120"/>
              </a:rPr>
              <a:t>Deposits kept wet from the moment the chamber is opened · never dry-brushed, no compressed air · scrapings straight into a sealed drum of water · extinguisher within reach and manned</a:t>
            </a:r>
            <a:endParaRPr lang="en-US" sz="900" dirty="0"/>
          </a:p>
        </p:txBody>
      </p:sp>
      <p:sp>
        <p:nvSpPr>
          <p:cNvPr id="57" name="Shape 55"/>
          <p:cNvSpPr/>
          <p:nvPr/>
        </p:nvSpPr>
        <p:spPr>
          <a:xfrm>
            <a:off x="566928" y="5157216"/>
            <a:ext cx="11055096" cy="822960"/>
          </a:xfrm>
          <a:prstGeom prst="roundRect">
            <a:avLst>
              <a:gd name="adj" fmla="val 5556"/>
            </a:avLst>
          </a:prstGeom>
          <a:solidFill>
            <a:srgbClr val="F1F4F8"/>
          </a:solidFill>
          <a:ln w="9525">
            <a:solidFill>
              <a:srgbClr val="CFD8E3"/>
            </a:solidFill>
            <a:prstDash val="solid"/>
          </a:ln>
        </p:spPr>
      </p:sp>
      <p:sp>
        <p:nvSpPr>
          <p:cNvPr id="58" name="Shape 56"/>
          <p:cNvSpPr/>
          <p:nvPr/>
        </p:nvSpPr>
        <p:spPr>
          <a:xfrm>
            <a:off x="749808" y="5385816"/>
            <a:ext cx="365760" cy="365760"/>
          </a:xfrm>
          <a:prstGeom prst="ellipse">
            <a:avLst/>
          </a:prstGeom>
          <a:solidFill>
            <a:srgbClr val="C87F16"/>
          </a:solidFill>
          <a:ln/>
        </p:spPr>
      </p:sp>
      <p:sp>
        <p:nvSpPr>
          <p:cNvPr id="59" name="Text 57"/>
          <p:cNvSpPr/>
          <p:nvPr/>
        </p:nvSpPr>
        <p:spPr>
          <a:xfrm>
            <a:off x="749808" y="53858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60" name="Text 58"/>
          <p:cNvSpPr/>
          <p:nvPr/>
        </p:nvSpPr>
        <p:spPr>
          <a:xfrm>
            <a:off x="1225296" y="5248656"/>
            <a:ext cx="2194560" cy="420624"/>
          </a:xfrm>
          <a:prstGeom prst="rect">
            <a:avLst/>
          </a:prstGeom>
          <a:noFill/>
          <a:ln/>
        </p:spPr>
        <p:txBody>
          <a:bodyPr wrap="square" lIns="0" tIns="0" rIns="0" bIns="0" rtlCol="0" anchor="t"/>
          <a:lstStyle/>
          <a:p>
            <a:pPr indent="0" marL="0">
              <a:lnSpc>
                <a:spcPts val="1300"/>
              </a:lnSpc>
              <a:buNone/>
            </a:pPr>
            <a:r>
              <a:rPr lang="en-US" sz="1100" b="1" dirty="0">
                <a:solidFill>
                  <a:srgbClr val="0A2540"/>
                </a:solidFill>
                <a:latin typeface="Calibri" pitchFamily="34" charset="0"/>
                <a:ea typeface="Calibri" pitchFamily="34" charset="-122"/>
                <a:cs typeface="Calibri" pitchFamily="34" charset="-120"/>
              </a:rPr>
              <a:t>Pressurise and recommission</a:t>
            </a:r>
            <a:endParaRPr lang="en-US" sz="1100" dirty="0"/>
          </a:p>
        </p:txBody>
      </p:sp>
      <p:sp>
        <p:nvSpPr>
          <p:cNvPr id="61" name="Text 59"/>
          <p:cNvSpPr/>
          <p:nvPr/>
        </p:nvSpPr>
        <p:spPr>
          <a:xfrm>
            <a:off x="1225296" y="5687568"/>
            <a:ext cx="2194560" cy="219456"/>
          </a:xfrm>
          <a:prstGeom prst="rect">
            <a:avLst/>
          </a:prstGeom>
          <a:noFill/>
          <a:ln/>
        </p:spPr>
        <p:txBody>
          <a:bodyPr wrap="square" lIns="0" tIns="0" rIns="0" bIns="0" rtlCol="0" anchor="ctr"/>
          <a:lstStyle/>
          <a:p>
            <a:pPr indent="0" marL="0">
              <a:buNone/>
            </a:pPr>
            <a:r>
              <a:rPr lang="en-US" sz="850" i="1" dirty="0">
                <a:solidFill>
                  <a:srgbClr val="8494A6"/>
                </a:solidFill>
                <a:latin typeface="Calibri" pitchFamily="34" charset="0"/>
                <a:ea typeface="Calibri" pitchFamily="34" charset="-122"/>
                <a:cs typeface="Calibri" pitchFamily="34" charset="-120"/>
              </a:rPr>
              <a:t>Operations + PA</a:t>
            </a:r>
            <a:endParaRPr lang="en-US" sz="850" dirty="0"/>
          </a:p>
        </p:txBody>
      </p:sp>
      <p:sp>
        <p:nvSpPr>
          <p:cNvPr id="62" name="Text 60"/>
          <p:cNvSpPr/>
          <p:nvPr/>
        </p:nvSpPr>
        <p:spPr>
          <a:xfrm>
            <a:off x="3547872" y="5239512"/>
            <a:ext cx="3520440" cy="155448"/>
          </a:xfrm>
          <a:prstGeom prst="rect">
            <a:avLst/>
          </a:prstGeom>
          <a:noFill/>
          <a:ln/>
        </p:spPr>
        <p:txBody>
          <a:bodyPr wrap="square" lIns="0" tIns="0" rIns="0" bIns="0" rtlCol="0" anchor="ctr"/>
          <a:lstStyle/>
          <a:p>
            <a:pPr indent="0" marL="0">
              <a:buNone/>
            </a:pPr>
            <a:r>
              <a:rPr lang="en-US" sz="700" b="1" spc="80" kern="0" dirty="0">
                <a:solidFill>
                  <a:srgbClr val="C8102E"/>
                </a:solidFill>
                <a:latin typeface="Calibri" pitchFamily="34" charset="0"/>
                <a:ea typeface="Calibri" pitchFamily="34" charset="-122"/>
                <a:cs typeface="Calibri" pitchFamily="34" charset="-120"/>
              </a:rPr>
              <a:t>HAZARD</a:t>
            </a:r>
            <a:endParaRPr lang="en-US" sz="700" dirty="0"/>
          </a:p>
        </p:txBody>
      </p:sp>
      <p:sp>
        <p:nvSpPr>
          <p:cNvPr id="63" name="Text 61"/>
          <p:cNvSpPr/>
          <p:nvPr/>
        </p:nvSpPr>
        <p:spPr>
          <a:xfrm>
            <a:off x="3547872" y="5394960"/>
            <a:ext cx="3520440" cy="530352"/>
          </a:xfrm>
          <a:prstGeom prst="rect">
            <a:avLst/>
          </a:prstGeom>
          <a:noFill/>
          <a:ln/>
        </p:spPr>
        <p:txBody>
          <a:bodyPr wrap="square" lIns="0" tIns="0" rIns="0" bIns="0" rtlCol="0" anchor="t"/>
          <a:lstStyle/>
          <a:p>
            <a:pPr indent="0" marL="0">
              <a:lnSpc>
                <a:spcPts val="1150"/>
              </a:lnSpc>
              <a:buNone/>
            </a:pPr>
            <a:r>
              <a:rPr lang="en-US" sz="900" dirty="0">
                <a:solidFill>
                  <a:srgbClr val="56677A"/>
                </a:solidFill>
                <a:latin typeface="Calibri" pitchFamily="34" charset="0"/>
                <a:ea typeface="Calibri" pitchFamily="34" charset="-122"/>
                <a:cs typeface="Calibri" pitchFamily="34" charset="-120"/>
              </a:rPr>
              <a:t>A new seal fails more often in its first hour than in the next three years, and people are standing next to it</a:t>
            </a:r>
            <a:endParaRPr lang="en-US" sz="900" dirty="0"/>
          </a:p>
        </p:txBody>
      </p:sp>
      <p:sp>
        <p:nvSpPr>
          <p:cNvPr id="64" name="Text 62"/>
          <p:cNvSpPr/>
          <p:nvPr/>
        </p:nvSpPr>
        <p:spPr>
          <a:xfrm>
            <a:off x="7278624" y="5239512"/>
            <a:ext cx="4160520" cy="155448"/>
          </a:xfrm>
          <a:prstGeom prst="rect">
            <a:avLst/>
          </a:prstGeom>
          <a:noFill/>
          <a:ln/>
        </p:spPr>
        <p:txBody>
          <a:bodyPr wrap="square" lIns="0" tIns="0" rIns="0" bIns="0" rtlCol="0" anchor="ctr"/>
          <a:lstStyle/>
          <a:p>
            <a:pPr indent="0" marL="0">
              <a:buNone/>
            </a:pPr>
            <a:r>
              <a:rPr lang="en-US" sz="700" b="1" spc="80" kern="0" dirty="0">
                <a:solidFill>
                  <a:srgbClr val="2E7D5B"/>
                </a:solidFill>
                <a:latin typeface="Calibri" pitchFamily="34" charset="0"/>
                <a:ea typeface="Calibri" pitchFamily="34" charset="-122"/>
                <a:cs typeface="Calibri" pitchFamily="34" charset="-120"/>
              </a:rPr>
              <a:t>CONTROLS</a:t>
            </a:r>
            <a:endParaRPr lang="en-US" sz="700" dirty="0"/>
          </a:p>
        </p:txBody>
      </p:sp>
      <p:sp>
        <p:nvSpPr>
          <p:cNvPr id="65" name="Text 63"/>
          <p:cNvSpPr/>
          <p:nvPr/>
        </p:nvSpPr>
        <p:spPr>
          <a:xfrm>
            <a:off x="7278624" y="5394960"/>
            <a:ext cx="4160520" cy="530352"/>
          </a:xfrm>
          <a:prstGeom prst="rect">
            <a:avLst/>
          </a:prstGeom>
          <a:noFill/>
          <a:ln/>
        </p:spPr>
        <p:txBody>
          <a:bodyPr wrap="square" lIns="0" tIns="0" rIns="0" bIns="0" rtlCol="0" anchor="t"/>
          <a:lstStyle/>
          <a:p>
            <a:pPr indent="0" marL="0">
              <a:lnSpc>
                <a:spcPts val="1150"/>
              </a:lnSpc>
              <a:buNone/>
            </a:pPr>
            <a:r>
              <a:rPr lang="en-US" sz="900" dirty="0">
                <a:solidFill>
                  <a:srgbClr val="56677A"/>
                </a:solidFill>
                <a:latin typeface="Calibri" pitchFamily="34" charset="0"/>
                <a:ea typeface="Calibri" pitchFamily="34" charset="-122"/>
                <a:cs typeface="Calibri" pitchFamily="34" charset="-120"/>
              </a:rPr>
              <a:t>Staged pressurisation with everyone clear of the seal plane — nobody in line with the gland · barrier fluid pressure confirmed before the motor starts · vibration within 4 h against the 7.10 mm/s IOW</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HOW TO TELL WHETHER A JSA WAS ACTUALLY WRITTEN</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“Wear personal protective equipment” appears nowhere as a control on its own.</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An experienced supervisor reads the left column and knows the job was never walked.</a:t>
            </a:r>
            <a:endParaRPr lang="en-US" sz="1200" dirty="0"/>
          </a:p>
        </p:txBody>
      </p:sp>
      <p:sp>
        <p:nvSpPr>
          <p:cNvPr id="5" name="Text 3"/>
          <p:cNvSpPr/>
          <p:nvPr/>
        </p:nvSpPr>
        <p:spPr>
          <a:xfrm>
            <a:off x="1170432" y="1645920"/>
            <a:ext cx="4206240" cy="219456"/>
          </a:xfrm>
          <a:prstGeom prst="rect">
            <a:avLst/>
          </a:prstGeom>
          <a:noFill/>
          <a:ln/>
        </p:spPr>
        <p:txBody>
          <a:bodyPr wrap="square" lIns="0" tIns="0" rIns="0" bIns="0" rtlCol="0" anchor="ctr"/>
          <a:lstStyle/>
          <a:p>
            <a:pPr indent="0" marL="0">
              <a:buNone/>
            </a:pPr>
            <a:r>
              <a:rPr lang="en-US" sz="850" b="1" spc="120" kern="0" dirty="0">
                <a:solidFill>
                  <a:srgbClr val="9AA8B8"/>
                </a:solidFill>
                <a:latin typeface="Calibri" pitchFamily="34" charset="0"/>
                <a:ea typeface="Calibri" pitchFamily="34" charset="-122"/>
                <a:cs typeface="Calibri" pitchFamily="34" charset="-120"/>
              </a:rPr>
              <a:t>WHAT A GENERIC JSA SAYS</a:t>
            </a:r>
            <a:endParaRPr lang="en-US" sz="850" dirty="0"/>
          </a:p>
        </p:txBody>
      </p:sp>
      <p:sp>
        <p:nvSpPr>
          <p:cNvPr id="6" name="Text 4"/>
          <p:cNvSpPr/>
          <p:nvPr/>
        </p:nvSpPr>
        <p:spPr>
          <a:xfrm>
            <a:off x="6272784" y="1645920"/>
            <a:ext cx="4937760" cy="219456"/>
          </a:xfrm>
          <a:prstGeom prst="rect">
            <a:avLst/>
          </a:prstGeom>
          <a:noFill/>
          <a:ln/>
        </p:spPr>
        <p:txBody>
          <a:bodyPr wrap="square" lIns="0" tIns="0" rIns="0" bIns="0" rtlCol="0" anchor="ctr"/>
          <a:lstStyle/>
          <a:p>
            <a:pPr indent="0" marL="0">
              <a:buNone/>
            </a:pPr>
            <a:r>
              <a:rPr lang="en-US" sz="850" b="1" spc="120" kern="0" dirty="0">
                <a:solidFill>
                  <a:srgbClr val="2E7D5B"/>
                </a:solidFill>
                <a:latin typeface="Calibri" pitchFamily="34" charset="0"/>
                <a:ea typeface="Calibri" pitchFamily="34" charset="-122"/>
                <a:cs typeface="Calibri" pitchFamily="34" charset="-120"/>
              </a:rPr>
              <a:t>WHAT THIS ONE SAYS</a:t>
            </a:r>
            <a:endParaRPr lang="en-US" sz="850" dirty="0"/>
          </a:p>
        </p:txBody>
      </p:sp>
      <p:sp>
        <p:nvSpPr>
          <p:cNvPr id="7" name="Shape 5"/>
          <p:cNvSpPr/>
          <p:nvPr/>
        </p:nvSpPr>
        <p:spPr>
          <a:xfrm>
            <a:off x="566928" y="2066544"/>
            <a:ext cx="310896" cy="310896"/>
          </a:xfrm>
          <a:prstGeom prst="ellipse">
            <a:avLst/>
          </a:prstGeom>
          <a:solidFill>
            <a:srgbClr val="AEBBCA"/>
          </a:solidFill>
          <a:ln/>
        </p:spPr>
      </p:sp>
      <p:sp>
        <p:nvSpPr>
          <p:cNvPr id="8" name="Text 6"/>
          <p:cNvSpPr/>
          <p:nvPr/>
        </p:nvSpPr>
        <p:spPr>
          <a:xfrm>
            <a:off x="566928" y="20665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9" name="Shape 7"/>
          <p:cNvSpPr/>
          <p:nvPr/>
        </p:nvSpPr>
        <p:spPr>
          <a:xfrm>
            <a:off x="1005840" y="1938528"/>
            <a:ext cx="4754880" cy="548640"/>
          </a:xfrm>
          <a:prstGeom prst="roundRect">
            <a:avLst>
              <a:gd name="adj" fmla="val 8333"/>
            </a:avLst>
          </a:prstGeom>
          <a:solidFill>
            <a:srgbClr val="F1F4F8"/>
          </a:solidFill>
          <a:ln w="9525">
            <a:solidFill>
              <a:srgbClr val="CFD8E3"/>
            </a:solidFill>
            <a:prstDash val="solid"/>
          </a:ln>
        </p:spPr>
      </p:sp>
      <p:sp>
        <p:nvSpPr>
          <p:cNvPr id="10" name="Text 8"/>
          <p:cNvSpPr/>
          <p:nvPr/>
        </p:nvSpPr>
        <p:spPr>
          <a:xfrm>
            <a:off x="1152144" y="1938528"/>
            <a:ext cx="4480560" cy="548640"/>
          </a:xfrm>
          <a:prstGeom prst="rect">
            <a:avLst/>
          </a:prstGeom>
          <a:noFill/>
          <a:ln/>
        </p:spPr>
        <p:txBody>
          <a:bodyPr wrap="square" lIns="0" tIns="0" rIns="0" bIns="0" rtlCol="0" anchor="ctr"/>
          <a:lstStyle/>
          <a:p>
            <a:pPr indent="0" marL="0">
              <a:buNone/>
            </a:pPr>
            <a:r>
              <a:rPr lang="en-US" sz="1100" i="1" dirty="0">
                <a:solidFill>
                  <a:srgbClr val="9AA8B8"/>
                </a:solidFill>
                <a:latin typeface="Calibri" pitchFamily="34" charset="0"/>
                <a:ea typeface="Calibri" pitchFamily="34" charset="-122"/>
                <a:cs typeface="Calibri" pitchFamily="34" charset="-120"/>
              </a:rPr>
              <a:t>“Hot surfaces — wear PPE”</a:t>
            </a:r>
            <a:endParaRPr lang="en-US" sz="1100" dirty="0"/>
          </a:p>
        </p:txBody>
      </p:sp>
      <p:sp>
        <p:nvSpPr>
          <p:cNvPr id="11" name="Shape 9"/>
          <p:cNvSpPr/>
          <p:nvPr/>
        </p:nvSpPr>
        <p:spPr>
          <a:xfrm>
            <a:off x="5852160" y="2130552"/>
            <a:ext cx="237744" cy="164592"/>
          </a:xfrm>
          <a:prstGeom prst="rightArrow">
            <a:avLst/>
          </a:prstGeom>
          <a:solidFill>
            <a:srgbClr val="AEBBCA"/>
          </a:solidFill>
          <a:ln/>
        </p:spPr>
      </p:sp>
      <p:sp>
        <p:nvSpPr>
          <p:cNvPr id="12" name="Shape 10"/>
          <p:cNvSpPr/>
          <p:nvPr/>
        </p:nvSpPr>
        <p:spPr>
          <a:xfrm>
            <a:off x="6181344" y="1938528"/>
            <a:ext cx="5440680" cy="548640"/>
          </a:xfrm>
          <a:prstGeom prst="roundRect">
            <a:avLst>
              <a:gd name="adj" fmla="val 8333"/>
            </a:avLst>
          </a:prstGeom>
          <a:solidFill>
            <a:srgbClr val="EFF6F2"/>
          </a:solidFill>
          <a:ln w="9525">
            <a:solidFill>
              <a:srgbClr val="2E7D5B"/>
            </a:solidFill>
            <a:prstDash val="solid"/>
          </a:ln>
        </p:spPr>
      </p:sp>
      <p:sp>
        <p:nvSpPr>
          <p:cNvPr id="13" name="Text 11"/>
          <p:cNvSpPr/>
          <p:nvPr/>
        </p:nvSpPr>
        <p:spPr>
          <a:xfrm>
            <a:off x="6327648" y="1938528"/>
            <a:ext cx="5148072" cy="548640"/>
          </a:xfrm>
          <a:prstGeom prst="rect">
            <a:avLst/>
          </a:prstGeom>
          <a:noFill/>
          <a:ln/>
        </p:spPr>
        <p:txBody>
          <a:bodyPr wrap="square" lIns="0" tIns="0" rIns="0" bIns="0" rtlCol="0" anchor="ctr"/>
          <a:lstStyle/>
          <a:p>
            <a:pPr indent="0" marL="0">
              <a:lnSpc>
                <a:spcPts val="1300"/>
              </a:lnSpc>
              <a:buNone/>
            </a:pPr>
            <a:r>
              <a:rPr lang="en-US" sz="1050" dirty="0">
                <a:solidFill>
                  <a:srgbClr val="0A2540"/>
                </a:solidFill>
                <a:latin typeface="Calibri" pitchFamily="34" charset="0"/>
                <a:ea typeface="Calibri" pitchFamily="34" charset="-122"/>
                <a:cs typeface="Calibri" pitchFamily="34" charset="-120"/>
              </a:rPr>
              <a:t>Verified below 60 °C by contact pyrometer before any fitting is loosened</a:t>
            </a:r>
            <a:endParaRPr lang="en-US" sz="1050" dirty="0"/>
          </a:p>
        </p:txBody>
      </p:sp>
      <p:sp>
        <p:nvSpPr>
          <p:cNvPr id="14" name="Shape 12"/>
          <p:cNvSpPr/>
          <p:nvPr/>
        </p:nvSpPr>
        <p:spPr>
          <a:xfrm>
            <a:off x="566928" y="2706624"/>
            <a:ext cx="310896" cy="310896"/>
          </a:xfrm>
          <a:prstGeom prst="ellipse">
            <a:avLst/>
          </a:prstGeom>
          <a:solidFill>
            <a:srgbClr val="AEBBCA"/>
          </a:solidFill>
          <a:ln/>
        </p:spPr>
      </p:sp>
      <p:sp>
        <p:nvSpPr>
          <p:cNvPr id="15" name="Text 13"/>
          <p:cNvSpPr/>
          <p:nvPr/>
        </p:nvSpPr>
        <p:spPr>
          <a:xfrm>
            <a:off x="566928" y="27066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6" name="Shape 14"/>
          <p:cNvSpPr/>
          <p:nvPr/>
        </p:nvSpPr>
        <p:spPr>
          <a:xfrm>
            <a:off x="1005840" y="2578608"/>
            <a:ext cx="4754880" cy="548640"/>
          </a:xfrm>
          <a:prstGeom prst="roundRect">
            <a:avLst>
              <a:gd name="adj" fmla="val 8333"/>
            </a:avLst>
          </a:prstGeom>
          <a:solidFill>
            <a:srgbClr val="F1F4F8"/>
          </a:solidFill>
          <a:ln w="9525">
            <a:solidFill>
              <a:srgbClr val="CFD8E3"/>
            </a:solidFill>
            <a:prstDash val="solid"/>
          </a:ln>
        </p:spPr>
      </p:sp>
      <p:sp>
        <p:nvSpPr>
          <p:cNvPr id="17" name="Text 15"/>
          <p:cNvSpPr/>
          <p:nvPr/>
        </p:nvSpPr>
        <p:spPr>
          <a:xfrm>
            <a:off x="1152144" y="2578608"/>
            <a:ext cx="4480560" cy="548640"/>
          </a:xfrm>
          <a:prstGeom prst="rect">
            <a:avLst/>
          </a:prstGeom>
          <a:noFill/>
          <a:ln/>
        </p:spPr>
        <p:txBody>
          <a:bodyPr wrap="square" lIns="0" tIns="0" rIns="0" bIns="0" rtlCol="0" anchor="ctr"/>
          <a:lstStyle/>
          <a:p>
            <a:pPr indent="0" marL="0">
              <a:buNone/>
            </a:pPr>
            <a:r>
              <a:rPr lang="en-US" sz="1100" i="1" dirty="0">
                <a:solidFill>
                  <a:srgbClr val="9AA8B8"/>
                </a:solidFill>
                <a:latin typeface="Calibri" pitchFamily="34" charset="0"/>
                <a:ea typeface="Calibri" pitchFamily="34" charset="-122"/>
                <a:cs typeface="Calibri" pitchFamily="34" charset="-120"/>
              </a:rPr>
              <a:t>“Purge the equipment”</a:t>
            </a:r>
            <a:endParaRPr lang="en-US" sz="1100" dirty="0"/>
          </a:p>
        </p:txBody>
      </p:sp>
      <p:sp>
        <p:nvSpPr>
          <p:cNvPr id="18" name="Shape 16"/>
          <p:cNvSpPr/>
          <p:nvPr/>
        </p:nvSpPr>
        <p:spPr>
          <a:xfrm>
            <a:off x="5852160" y="2770632"/>
            <a:ext cx="237744" cy="164592"/>
          </a:xfrm>
          <a:prstGeom prst="rightArrow">
            <a:avLst/>
          </a:prstGeom>
          <a:solidFill>
            <a:srgbClr val="AEBBCA"/>
          </a:solidFill>
          <a:ln/>
        </p:spPr>
      </p:sp>
      <p:sp>
        <p:nvSpPr>
          <p:cNvPr id="19" name="Shape 17"/>
          <p:cNvSpPr/>
          <p:nvPr/>
        </p:nvSpPr>
        <p:spPr>
          <a:xfrm>
            <a:off x="6181344" y="2578608"/>
            <a:ext cx="5440680" cy="548640"/>
          </a:xfrm>
          <a:prstGeom prst="roundRect">
            <a:avLst>
              <a:gd name="adj" fmla="val 8333"/>
            </a:avLst>
          </a:prstGeom>
          <a:solidFill>
            <a:srgbClr val="EFF6F2"/>
          </a:solidFill>
          <a:ln w="9525">
            <a:solidFill>
              <a:srgbClr val="2E7D5B"/>
            </a:solidFill>
            <a:prstDash val="solid"/>
          </a:ln>
        </p:spPr>
      </p:sp>
      <p:sp>
        <p:nvSpPr>
          <p:cNvPr id="20" name="Text 18"/>
          <p:cNvSpPr/>
          <p:nvPr/>
        </p:nvSpPr>
        <p:spPr>
          <a:xfrm>
            <a:off x="6327648" y="2578608"/>
            <a:ext cx="5148072" cy="548640"/>
          </a:xfrm>
          <a:prstGeom prst="rect">
            <a:avLst/>
          </a:prstGeom>
          <a:noFill/>
          <a:ln/>
        </p:spPr>
        <p:txBody>
          <a:bodyPr wrap="square" lIns="0" tIns="0" rIns="0" bIns="0" rtlCol="0" anchor="ctr"/>
          <a:lstStyle/>
          <a:p>
            <a:pPr indent="0" marL="0">
              <a:lnSpc>
                <a:spcPts val="1300"/>
              </a:lnSpc>
              <a:buNone/>
            </a:pPr>
            <a:r>
              <a:rPr lang="en-US" sz="1050" dirty="0">
                <a:solidFill>
                  <a:srgbClr val="0A2540"/>
                </a:solidFill>
                <a:latin typeface="Calibri" pitchFamily="34" charset="0"/>
                <a:ea typeface="Calibri" pitchFamily="34" charset="-122"/>
                <a:cs typeface="Calibri" pitchFamily="34" charset="-120"/>
              </a:rPr>
              <a:t>Nitrogen asphyxiation named as a hazard, with O₂ monitoring alarming below 19.5%</a:t>
            </a:r>
            <a:endParaRPr lang="en-US" sz="1050" dirty="0"/>
          </a:p>
        </p:txBody>
      </p:sp>
      <p:sp>
        <p:nvSpPr>
          <p:cNvPr id="21" name="Shape 19"/>
          <p:cNvSpPr/>
          <p:nvPr/>
        </p:nvSpPr>
        <p:spPr>
          <a:xfrm>
            <a:off x="566928" y="3346704"/>
            <a:ext cx="310896" cy="310896"/>
          </a:xfrm>
          <a:prstGeom prst="ellipse">
            <a:avLst/>
          </a:prstGeom>
          <a:solidFill>
            <a:srgbClr val="AEBBCA"/>
          </a:solidFill>
          <a:ln/>
        </p:spPr>
      </p:sp>
      <p:sp>
        <p:nvSpPr>
          <p:cNvPr id="22" name="Text 20"/>
          <p:cNvSpPr/>
          <p:nvPr/>
        </p:nvSpPr>
        <p:spPr>
          <a:xfrm>
            <a:off x="566928" y="33467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Shape 21"/>
          <p:cNvSpPr/>
          <p:nvPr/>
        </p:nvSpPr>
        <p:spPr>
          <a:xfrm>
            <a:off x="1005840" y="3218688"/>
            <a:ext cx="4754880" cy="548640"/>
          </a:xfrm>
          <a:prstGeom prst="roundRect">
            <a:avLst>
              <a:gd name="adj" fmla="val 8333"/>
            </a:avLst>
          </a:prstGeom>
          <a:solidFill>
            <a:srgbClr val="F1F4F8"/>
          </a:solidFill>
          <a:ln w="9525">
            <a:solidFill>
              <a:srgbClr val="CFD8E3"/>
            </a:solidFill>
            <a:prstDash val="solid"/>
          </a:ln>
        </p:spPr>
      </p:sp>
      <p:sp>
        <p:nvSpPr>
          <p:cNvPr id="24" name="Text 22"/>
          <p:cNvSpPr/>
          <p:nvPr/>
        </p:nvSpPr>
        <p:spPr>
          <a:xfrm>
            <a:off x="1152144" y="3218688"/>
            <a:ext cx="4480560" cy="548640"/>
          </a:xfrm>
          <a:prstGeom prst="rect">
            <a:avLst/>
          </a:prstGeom>
          <a:noFill/>
          <a:ln/>
        </p:spPr>
        <p:txBody>
          <a:bodyPr wrap="square" lIns="0" tIns="0" rIns="0" bIns="0" rtlCol="0" anchor="ctr"/>
          <a:lstStyle/>
          <a:p>
            <a:pPr indent="0" marL="0">
              <a:buNone/>
            </a:pPr>
            <a:r>
              <a:rPr lang="en-US" sz="1100" i="1" dirty="0">
                <a:solidFill>
                  <a:srgbClr val="9AA8B8"/>
                </a:solidFill>
                <a:latin typeface="Calibri" pitchFamily="34" charset="0"/>
                <a:ea typeface="Calibri" pitchFamily="34" charset="-122"/>
                <a:cs typeface="Calibri" pitchFamily="34" charset="-120"/>
              </a:rPr>
              <a:t>“Be careful of dropped objects”</a:t>
            </a:r>
            <a:endParaRPr lang="en-US" sz="1100" dirty="0"/>
          </a:p>
        </p:txBody>
      </p:sp>
      <p:sp>
        <p:nvSpPr>
          <p:cNvPr id="25" name="Shape 23"/>
          <p:cNvSpPr/>
          <p:nvPr/>
        </p:nvSpPr>
        <p:spPr>
          <a:xfrm>
            <a:off x="5852160" y="3410712"/>
            <a:ext cx="237744" cy="164592"/>
          </a:xfrm>
          <a:prstGeom prst="rightArrow">
            <a:avLst/>
          </a:prstGeom>
          <a:solidFill>
            <a:srgbClr val="AEBBCA"/>
          </a:solidFill>
          <a:ln/>
        </p:spPr>
      </p:sp>
      <p:sp>
        <p:nvSpPr>
          <p:cNvPr id="26" name="Shape 24"/>
          <p:cNvSpPr/>
          <p:nvPr/>
        </p:nvSpPr>
        <p:spPr>
          <a:xfrm>
            <a:off x="6181344" y="3218688"/>
            <a:ext cx="5440680" cy="548640"/>
          </a:xfrm>
          <a:prstGeom prst="roundRect">
            <a:avLst>
              <a:gd name="adj" fmla="val 8333"/>
            </a:avLst>
          </a:prstGeom>
          <a:solidFill>
            <a:srgbClr val="EFF6F2"/>
          </a:solidFill>
          <a:ln w="9525">
            <a:solidFill>
              <a:srgbClr val="2E7D5B"/>
            </a:solidFill>
            <a:prstDash val="solid"/>
          </a:ln>
        </p:spPr>
      </p:sp>
      <p:sp>
        <p:nvSpPr>
          <p:cNvPr id="27" name="Text 25"/>
          <p:cNvSpPr/>
          <p:nvPr/>
        </p:nvSpPr>
        <p:spPr>
          <a:xfrm>
            <a:off x="6327648" y="3218688"/>
            <a:ext cx="5148072" cy="548640"/>
          </a:xfrm>
          <a:prstGeom prst="rect">
            <a:avLst/>
          </a:prstGeom>
          <a:noFill/>
          <a:ln/>
        </p:spPr>
        <p:txBody>
          <a:bodyPr wrap="square" lIns="0" tIns="0" rIns="0" bIns="0" rtlCol="0" anchor="ctr"/>
          <a:lstStyle/>
          <a:p>
            <a:pPr indent="0" marL="0">
              <a:lnSpc>
                <a:spcPts val="1300"/>
              </a:lnSpc>
              <a:buNone/>
            </a:pPr>
            <a:r>
              <a:rPr lang="en-US" sz="1050" dirty="0">
                <a:solidFill>
                  <a:srgbClr val="0A2540"/>
                </a:solidFill>
                <a:latin typeface="Calibri" pitchFamily="34" charset="0"/>
                <a:ea typeface="Calibri" pitchFamily="34" charset="-122"/>
                <a:cs typeface="Calibri" pitchFamily="34" charset="-120"/>
              </a:rPr>
              <a:t>Far-side bolts slackened first, so the joint opens away from the fitter</a:t>
            </a:r>
            <a:endParaRPr lang="en-US" sz="1050" dirty="0"/>
          </a:p>
        </p:txBody>
      </p:sp>
      <p:sp>
        <p:nvSpPr>
          <p:cNvPr id="28" name="Shape 26"/>
          <p:cNvSpPr/>
          <p:nvPr/>
        </p:nvSpPr>
        <p:spPr>
          <a:xfrm>
            <a:off x="566928" y="3986784"/>
            <a:ext cx="310896" cy="310896"/>
          </a:xfrm>
          <a:prstGeom prst="ellipse">
            <a:avLst/>
          </a:prstGeom>
          <a:solidFill>
            <a:srgbClr val="AEBBCA"/>
          </a:solidFill>
          <a:ln/>
        </p:spPr>
      </p:sp>
      <p:sp>
        <p:nvSpPr>
          <p:cNvPr id="29" name="Text 27"/>
          <p:cNvSpPr/>
          <p:nvPr/>
        </p:nvSpPr>
        <p:spPr>
          <a:xfrm>
            <a:off x="566928" y="39867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0" name="Shape 28"/>
          <p:cNvSpPr/>
          <p:nvPr/>
        </p:nvSpPr>
        <p:spPr>
          <a:xfrm>
            <a:off x="1005840" y="3858768"/>
            <a:ext cx="4754880" cy="548640"/>
          </a:xfrm>
          <a:prstGeom prst="roundRect">
            <a:avLst>
              <a:gd name="adj" fmla="val 8333"/>
            </a:avLst>
          </a:prstGeom>
          <a:solidFill>
            <a:srgbClr val="F1F4F8"/>
          </a:solidFill>
          <a:ln w="9525">
            <a:solidFill>
              <a:srgbClr val="CFD8E3"/>
            </a:solidFill>
            <a:prstDash val="solid"/>
          </a:ln>
        </p:spPr>
      </p:sp>
      <p:sp>
        <p:nvSpPr>
          <p:cNvPr id="31" name="Text 29"/>
          <p:cNvSpPr/>
          <p:nvPr/>
        </p:nvSpPr>
        <p:spPr>
          <a:xfrm>
            <a:off x="1152144" y="3858768"/>
            <a:ext cx="4480560" cy="548640"/>
          </a:xfrm>
          <a:prstGeom prst="rect">
            <a:avLst/>
          </a:prstGeom>
          <a:noFill/>
          <a:ln/>
        </p:spPr>
        <p:txBody>
          <a:bodyPr wrap="square" lIns="0" tIns="0" rIns="0" bIns="0" rtlCol="0" anchor="ctr"/>
          <a:lstStyle/>
          <a:p>
            <a:pPr indent="0" marL="0">
              <a:buNone/>
            </a:pPr>
            <a:r>
              <a:rPr lang="en-US" sz="1100" i="1" dirty="0">
                <a:solidFill>
                  <a:srgbClr val="9AA8B8"/>
                </a:solidFill>
                <a:latin typeface="Calibri" pitchFamily="34" charset="0"/>
                <a:ea typeface="Calibri" pitchFamily="34" charset="-122"/>
                <a:cs typeface="Calibri" pitchFamily="34" charset="-120"/>
              </a:rPr>
              <a:t>“Clean the seal chamber”</a:t>
            </a:r>
            <a:endParaRPr lang="en-US" sz="1100" dirty="0"/>
          </a:p>
        </p:txBody>
      </p:sp>
      <p:sp>
        <p:nvSpPr>
          <p:cNvPr id="32" name="Shape 30"/>
          <p:cNvSpPr/>
          <p:nvPr/>
        </p:nvSpPr>
        <p:spPr>
          <a:xfrm>
            <a:off x="5852160" y="4050792"/>
            <a:ext cx="237744" cy="164592"/>
          </a:xfrm>
          <a:prstGeom prst="rightArrow">
            <a:avLst/>
          </a:prstGeom>
          <a:solidFill>
            <a:srgbClr val="AEBBCA"/>
          </a:solidFill>
          <a:ln/>
        </p:spPr>
      </p:sp>
      <p:sp>
        <p:nvSpPr>
          <p:cNvPr id="33" name="Shape 31"/>
          <p:cNvSpPr/>
          <p:nvPr/>
        </p:nvSpPr>
        <p:spPr>
          <a:xfrm>
            <a:off x="6181344" y="3858768"/>
            <a:ext cx="5440680" cy="548640"/>
          </a:xfrm>
          <a:prstGeom prst="roundRect">
            <a:avLst>
              <a:gd name="adj" fmla="val 8333"/>
            </a:avLst>
          </a:prstGeom>
          <a:solidFill>
            <a:srgbClr val="EFF6F2"/>
          </a:solidFill>
          <a:ln w="9525">
            <a:solidFill>
              <a:srgbClr val="2E7D5B"/>
            </a:solidFill>
            <a:prstDash val="solid"/>
          </a:ln>
        </p:spPr>
      </p:sp>
      <p:sp>
        <p:nvSpPr>
          <p:cNvPr id="34" name="Text 32"/>
          <p:cNvSpPr/>
          <p:nvPr/>
        </p:nvSpPr>
        <p:spPr>
          <a:xfrm>
            <a:off x="6327648" y="3858768"/>
            <a:ext cx="5148072" cy="548640"/>
          </a:xfrm>
          <a:prstGeom prst="rect">
            <a:avLst/>
          </a:prstGeom>
          <a:noFill/>
          <a:ln/>
        </p:spPr>
        <p:txBody>
          <a:bodyPr wrap="square" lIns="0" tIns="0" rIns="0" bIns="0" rtlCol="0" anchor="ctr"/>
          <a:lstStyle/>
          <a:p>
            <a:pPr indent="0" marL="0">
              <a:lnSpc>
                <a:spcPts val="1300"/>
              </a:lnSpc>
              <a:buNone/>
            </a:pPr>
            <a:r>
              <a:rPr lang="en-US" sz="1050" dirty="0">
                <a:solidFill>
                  <a:srgbClr val="0A2540"/>
                </a:solidFill>
                <a:latin typeface="Calibri" pitchFamily="34" charset="0"/>
                <a:ea typeface="Calibri" pitchFamily="34" charset="-122"/>
                <a:cs typeface="Calibri" pitchFamily="34" charset="-120"/>
              </a:rPr>
              <a:t>Pyrophoric scale kept wet, sealed drum, no dry brushing, no compressed air</a:t>
            </a:r>
            <a:endParaRPr lang="en-US" sz="1050" dirty="0"/>
          </a:p>
        </p:txBody>
      </p:sp>
      <p:sp>
        <p:nvSpPr>
          <p:cNvPr id="35" name="Shape 33"/>
          <p:cNvSpPr/>
          <p:nvPr/>
        </p:nvSpPr>
        <p:spPr>
          <a:xfrm>
            <a:off x="566928" y="4626864"/>
            <a:ext cx="310896" cy="310896"/>
          </a:xfrm>
          <a:prstGeom prst="ellipse">
            <a:avLst/>
          </a:prstGeom>
          <a:solidFill>
            <a:srgbClr val="AEBBCA"/>
          </a:solidFill>
          <a:ln/>
        </p:spPr>
      </p:sp>
      <p:sp>
        <p:nvSpPr>
          <p:cNvPr id="36" name="Text 34"/>
          <p:cNvSpPr/>
          <p:nvPr/>
        </p:nvSpPr>
        <p:spPr>
          <a:xfrm>
            <a:off x="566928" y="46268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7" name="Shape 35"/>
          <p:cNvSpPr/>
          <p:nvPr/>
        </p:nvSpPr>
        <p:spPr>
          <a:xfrm>
            <a:off x="1005840" y="4498848"/>
            <a:ext cx="4754880" cy="548640"/>
          </a:xfrm>
          <a:prstGeom prst="roundRect">
            <a:avLst>
              <a:gd name="adj" fmla="val 8333"/>
            </a:avLst>
          </a:prstGeom>
          <a:solidFill>
            <a:srgbClr val="F1F4F8"/>
          </a:solidFill>
          <a:ln w="9525">
            <a:solidFill>
              <a:srgbClr val="CFD8E3"/>
            </a:solidFill>
            <a:prstDash val="solid"/>
          </a:ln>
        </p:spPr>
      </p:sp>
      <p:sp>
        <p:nvSpPr>
          <p:cNvPr id="38" name="Text 36"/>
          <p:cNvSpPr/>
          <p:nvPr/>
        </p:nvSpPr>
        <p:spPr>
          <a:xfrm>
            <a:off x="1152144" y="4498848"/>
            <a:ext cx="4480560" cy="548640"/>
          </a:xfrm>
          <a:prstGeom prst="rect">
            <a:avLst/>
          </a:prstGeom>
          <a:noFill/>
          <a:ln/>
        </p:spPr>
        <p:txBody>
          <a:bodyPr wrap="square" lIns="0" tIns="0" rIns="0" bIns="0" rtlCol="0" anchor="ctr"/>
          <a:lstStyle/>
          <a:p>
            <a:pPr indent="0" marL="0">
              <a:buNone/>
            </a:pPr>
            <a:r>
              <a:rPr lang="en-US" sz="1100" i="1" dirty="0">
                <a:solidFill>
                  <a:srgbClr val="9AA8B8"/>
                </a:solidFill>
                <a:latin typeface="Calibri" pitchFamily="34" charset="0"/>
                <a:ea typeface="Calibri" pitchFamily="34" charset="-122"/>
                <a:cs typeface="Calibri" pitchFamily="34" charset="-120"/>
              </a:rPr>
              <a:t>“Align the pump”</a:t>
            </a:r>
            <a:endParaRPr lang="en-US" sz="1100" dirty="0"/>
          </a:p>
        </p:txBody>
      </p:sp>
      <p:sp>
        <p:nvSpPr>
          <p:cNvPr id="39" name="Shape 37"/>
          <p:cNvSpPr/>
          <p:nvPr/>
        </p:nvSpPr>
        <p:spPr>
          <a:xfrm>
            <a:off x="5852160" y="4690872"/>
            <a:ext cx="237744" cy="164592"/>
          </a:xfrm>
          <a:prstGeom prst="rightArrow">
            <a:avLst/>
          </a:prstGeom>
          <a:solidFill>
            <a:srgbClr val="AEBBCA"/>
          </a:solidFill>
          <a:ln/>
        </p:spPr>
      </p:sp>
      <p:sp>
        <p:nvSpPr>
          <p:cNvPr id="40" name="Shape 38"/>
          <p:cNvSpPr/>
          <p:nvPr/>
        </p:nvSpPr>
        <p:spPr>
          <a:xfrm>
            <a:off x="6181344" y="4498848"/>
            <a:ext cx="5440680" cy="548640"/>
          </a:xfrm>
          <a:prstGeom prst="roundRect">
            <a:avLst>
              <a:gd name="adj" fmla="val 8333"/>
            </a:avLst>
          </a:prstGeom>
          <a:solidFill>
            <a:srgbClr val="EFF6F2"/>
          </a:solidFill>
          <a:ln w="9525">
            <a:solidFill>
              <a:srgbClr val="2E7D5B"/>
            </a:solidFill>
            <a:prstDash val="solid"/>
          </a:ln>
        </p:spPr>
      </p:sp>
      <p:sp>
        <p:nvSpPr>
          <p:cNvPr id="41" name="Text 39"/>
          <p:cNvSpPr/>
          <p:nvPr/>
        </p:nvSpPr>
        <p:spPr>
          <a:xfrm>
            <a:off x="6327648" y="4498848"/>
            <a:ext cx="5148072" cy="548640"/>
          </a:xfrm>
          <a:prstGeom prst="rect">
            <a:avLst/>
          </a:prstGeom>
          <a:noFill/>
          <a:ln/>
        </p:spPr>
        <p:txBody>
          <a:bodyPr wrap="square" lIns="0" tIns="0" rIns="0" bIns="0" rtlCol="0" anchor="ctr"/>
          <a:lstStyle/>
          <a:p>
            <a:pPr indent="0" marL="0">
              <a:lnSpc>
                <a:spcPts val="1300"/>
              </a:lnSpc>
              <a:buNone/>
            </a:pPr>
            <a:r>
              <a:rPr lang="en-US" sz="1050" dirty="0">
                <a:solidFill>
                  <a:srgbClr val="0A2540"/>
                </a:solidFill>
                <a:latin typeface="Calibri" pitchFamily="34" charset="0"/>
                <a:ea typeface="Calibri" pitchFamily="34" charset="-122"/>
                <a:cs typeface="Calibri" pitchFamily="34" charset="-120"/>
              </a:rPr>
              <a:t>Pipe strain checked with a dial gauge on the casing, accept below 0.05 mm</a:t>
            </a:r>
            <a:endParaRPr lang="en-US" sz="1050" dirty="0"/>
          </a:p>
        </p:txBody>
      </p:sp>
      <p:sp>
        <p:nvSpPr>
          <p:cNvPr id="42" name="Shape 40"/>
          <p:cNvSpPr/>
          <p:nvPr/>
        </p:nvSpPr>
        <p:spPr>
          <a:xfrm>
            <a:off x="566928" y="5266944"/>
            <a:ext cx="310896" cy="310896"/>
          </a:xfrm>
          <a:prstGeom prst="ellipse">
            <a:avLst/>
          </a:prstGeom>
          <a:solidFill>
            <a:srgbClr val="AEBBCA"/>
          </a:solidFill>
          <a:ln/>
        </p:spPr>
      </p:sp>
      <p:sp>
        <p:nvSpPr>
          <p:cNvPr id="43" name="Text 41"/>
          <p:cNvSpPr/>
          <p:nvPr/>
        </p:nvSpPr>
        <p:spPr>
          <a:xfrm>
            <a:off x="566928" y="52669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4" name="Shape 42"/>
          <p:cNvSpPr/>
          <p:nvPr/>
        </p:nvSpPr>
        <p:spPr>
          <a:xfrm>
            <a:off x="1005840" y="5138928"/>
            <a:ext cx="4754880" cy="548640"/>
          </a:xfrm>
          <a:prstGeom prst="roundRect">
            <a:avLst>
              <a:gd name="adj" fmla="val 8333"/>
            </a:avLst>
          </a:prstGeom>
          <a:solidFill>
            <a:srgbClr val="F1F4F8"/>
          </a:solidFill>
          <a:ln w="9525">
            <a:solidFill>
              <a:srgbClr val="CFD8E3"/>
            </a:solidFill>
            <a:prstDash val="solid"/>
          </a:ln>
        </p:spPr>
      </p:sp>
      <p:sp>
        <p:nvSpPr>
          <p:cNvPr id="45" name="Text 43"/>
          <p:cNvSpPr/>
          <p:nvPr/>
        </p:nvSpPr>
        <p:spPr>
          <a:xfrm>
            <a:off x="1152144" y="5138928"/>
            <a:ext cx="4480560" cy="548640"/>
          </a:xfrm>
          <a:prstGeom prst="rect">
            <a:avLst/>
          </a:prstGeom>
          <a:noFill/>
          <a:ln/>
        </p:spPr>
        <p:txBody>
          <a:bodyPr wrap="square" lIns="0" tIns="0" rIns="0" bIns="0" rtlCol="0" anchor="ctr"/>
          <a:lstStyle/>
          <a:p>
            <a:pPr indent="0" marL="0">
              <a:buNone/>
            </a:pPr>
            <a:r>
              <a:rPr lang="en-US" sz="1100" i="1" dirty="0">
                <a:solidFill>
                  <a:srgbClr val="9AA8B8"/>
                </a:solidFill>
                <a:latin typeface="Calibri" pitchFamily="34" charset="0"/>
                <a:ea typeface="Calibri" pitchFamily="34" charset="-122"/>
                <a:cs typeface="Calibri" pitchFamily="34" charset="-120"/>
              </a:rPr>
              <a:t>“Start the pump”</a:t>
            </a:r>
            <a:endParaRPr lang="en-US" sz="1100" dirty="0"/>
          </a:p>
        </p:txBody>
      </p:sp>
      <p:sp>
        <p:nvSpPr>
          <p:cNvPr id="46" name="Shape 44"/>
          <p:cNvSpPr/>
          <p:nvPr/>
        </p:nvSpPr>
        <p:spPr>
          <a:xfrm>
            <a:off x="5852160" y="5330952"/>
            <a:ext cx="237744" cy="164592"/>
          </a:xfrm>
          <a:prstGeom prst="rightArrow">
            <a:avLst/>
          </a:prstGeom>
          <a:solidFill>
            <a:srgbClr val="AEBBCA"/>
          </a:solidFill>
          <a:ln/>
        </p:spPr>
      </p:sp>
      <p:sp>
        <p:nvSpPr>
          <p:cNvPr id="47" name="Shape 45"/>
          <p:cNvSpPr/>
          <p:nvPr/>
        </p:nvSpPr>
        <p:spPr>
          <a:xfrm>
            <a:off x="6181344" y="5138928"/>
            <a:ext cx="5440680" cy="548640"/>
          </a:xfrm>
          <a:prstGeom prst="roundRect">
            <a:avLst>
              <a:gd name="adj" fmla="val 8333"/>
            </a:avLst>
          </a:prstGeom>
          <a:solidFill>
            <a:srgbClr val="EFF6F2"/>
          </a:solidFill>
          <a:ln w="9525">
            <a:solidFill>
              <a:srgbClr val="2E7D5B"/>
            </a:solidFill>
            <a:prstDash val="solid"/>
          </a:ln>
        </p:spPr>
      </p:sp>
      <p:sp>
        <p:nvSpPr>
          <p:cNvPr id="48" name="Text 46"/>
          <p:cNvSpPr/>
          <p:nvPr/>
        </p:nvSpPr>
        <p:spPr>
          <a:xfrm>
            <a:off x="6327648" y="5138928"/>
            <a:ext cx="5148072" cy="548640"/>
          </a:xfrm>
          <a:prstGeom prst="rect">
            <a:avLst/>
          </a:prstGeom>
          <a:noFill/>
          <a:ln/>
        </p:spPr>
        <p:txBody>
          <a:bodyPr wrap="square" lIns="0" tIns="0" rIns="0" bIns="0" rtlCol="0" anchor="ctr"/>
          <a:lstStyle/>
          <a:p>
            <a:pPr indent="0" marL="0">
              <a:lnSpc>
                <a:spcPts val="1300"/>
              </a:lnSpc>
              <a:buNone/>
            </a:pPr>
            <a:r>
              <a:rPr lang="en-US" sz="1050" dirty="0">
                <a:solidFill>
                  <a:srgbClr val="0A2540"/>
                </a:solidFill>
                <a:latin typeface="Calibri" pitchFamily="34" charset="0"/>
                <a:ea typeface="Calibri" pitchFamily="34" charset="-122"/>
                <a:cs typeface="Calibri" pitchFamily="34" charset="-120"/>
              </a:rPr>
              <a:t>Nobody stands in line with the gland during first pressurisation</a:t>
            </a:r>
            <a:endParaRPr lang="en-US" sz="1050" dirty="0"/>
          </a:p>
        </p:txBody>
      </p:sp>
      <p:sp>
        <p:nvSpPr>
          <p:cNvPr id="49" name="Shape 47"/>
          <p:cNvSpPr/>
          <p:nvPr/>
        </p:nvSpPr>
        <p:spPr>
          <a:xfrm>
            <a:off x="566928" y="6053328"/>
            <a:ext cx="11055096" cy="475488"/>
          </a:xfrm>
          <a:prstGeom prst="roundRect">
            <a:avLst>
              <a:gd name="adj" fmla="val 11538"/>
            </a:avLst>
          </a:prstGeom>
          <a:solidFill>
            <a:srgbClr val="F1F4F8"/>
          </a:solidFill>
          <a:ln w="9525">
            <a:solidFill>
              <a:srgbClr val="CFD8E3"/>
            </a:solidFill>
            <a:prstDash val="solid"/>
          </a:ln>
        </p:spPr>
      </p:sp>
      <p:sp>
        <p:nvSpPr>
          <p:cNvPr id="50" name="Text 48"/>
          <p:cNvSpPr/>
          <p:nvPr/>
        </p:nvSpPr>
        <p:spPr>
          <a:xfrm>
            <a:off x="713232" y="6053328"/>
            <a:ext cx="10762488" cy="475488"/>
          </a:xfrm>
          <a:prstGeom prst="rect">
            <a:avLst/>
          </a:prstGeom>
          <a:noFill/>
          <a:ln/>
        </p:spPr>
        <p:txBody>
          <a:bodyPr wrap="square" lIns="0" tIns="0" rIns="0" bIns="0" rtlCol="0" anchor="ctr"/>
          <a:lstStyle/>
          <a:p>
            <a:pPr indent="0" marL="0">
              <a:lnSpc>
                <a:spcPts val="1200"/>
              </a:lnSpc>
              <a:buNone/>
            </a:pPr>
            <a:r>
              <a:rPr lang="en-US" sz="950" b="1" dirty="0">
                <a:solidFill>
                  <a:srgbClr val="0A2540"/>
                </a:solidFill>
                <a:latin typeface="Calibri" pitchFamily="34" charset="0"/>
                <a:ea typeface="Calibri" pitchFamily="34" charset="-122"/>
                <a:cs typeface="Calibri" pitchFamily="34" charset="-120"/>
              </a:rPr>
              <a:t>Why it matters  </a:t>
            </a:r>
            <a:pPr indent="0" marL="0">
              <a:lnSpc>
                <a:spcPts val="1200"/>
              </a:lnSpc>
              <a:buNone/>
            </a:pPr>
            <a:r>
              <a:rPr lang="en-US" sz="950" dirty="0">
                <a:solidFill>
                  <a:srgbClr val="56677A"/>
                </a:solidFill>
                <a:latin typeface="Calibri" pitchFamily="34" charset="0"/>
                <a:ea typeface="Calibri" pitchFamily="34" charset="-122"/>
                <a:cs typeface="Calibri" pitchFamily="34" charset="-120"/>
              </a:rPr>
              <a:t>PPE is the last line of defence. A JSA that leans on it has run out of ideas earlier in the hierarchy than it should have.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THE CHAIN, CLOSED</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The job that fixes the pump also repairs the system that let it fail three times.</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Step 12 codes the work order with failure and repair data — the input to the bad-actor register that RCA-02 found missing.</a:t>
            </a:r>
            <a:endParaRPr lang="en-US" sz="1200" dirty="0"/>
          </a:p>
        </p:txBody>
      </p:sp>
      <p:sp>
        <p:nvSpPr>
          <p:cNvPr id="5" name="Shape 3"/>
          <p:cNvSpPr/>
          <p:nvPr/>
        </p:nvSpPr>
        <p:spPr>
          <a:xfrm>
            <a:off x="566928" y="1645920"/>
            <a:ext cx="2551176" cy="2926080"/>
          </a:xfrm>
          <a:prstGeom prst="roundRect">
            <a:avLst>
              <a:gd name="adj" fmla="val 1792"/>
            </a:avLst>
          </a:prstGeom>
          <a:solidFill>
            <a:srgbClr val="FFFFFF"/>
          </a:solidFill>
          <a:ln w="9525">
            <a:solidFill>
              <a:srgbClr val="00539B"/>
            </a:solidFill>
            <a:prstDash val="solid"/>
          </a:ln>
          <a:effectLst>
            <a:outerShdw sx="100000" sy="100000" kx="0" ky="0" algn="bl" rotWithShape="0" blurRad="101600" dist="19050" dir="5400000">
              <a:srgbClr val="8A99AC">
                <a:alpha val="16000"/>
              </a:srgbClr>
            </a:outerShdw>
          </a:effectLst>
        </p:spPr>
      </p:sp>
      <p:sp>
        <p:nvSpPr>
          <p:cNvPr id="6" name="Shape 4"/>
          <p:cNvSpPr/>
          <p:nvPr/>
        </p:nvSpPr>
        <p:spPr>
          <a:xfrm>
            <a:off x="822960" y="1920240"/>
            <a:ext cx="566928" cy="566928"/>
          </a:xfrm>
          <a:prstGeom prst="ellipse">
            <a:avLst/>
          </a:prstGeom>
          <a:solidFill>
            <a:srgbClr val="00539B"/>
          </a:solidFill>
          <a:ln/>
        </p:spPr>
      </p:sp>
      <p:sp>
        <p:nvSpPr>
          <p:cNvPr id="7" name="Text 5"/>
          <p:cNvSpPr/>
          <p:nvPr/>
        </p:nvSpPr>
        <p:spPr>
          <a:xfrm>
            <a:off x="822960"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8" name="Text 6"/>
          <p:cNvSpPr/>
          <p:nvPr/>
        </p:nvSpPr>
        <p:spPr>
          <a:xfrm>
            <a:off x="822960" y="2633472"/>
            <a:ext cx="2039112" cy="603504"/>
          </a:xfrm>
          <a:prstGeom prst="rect">
            <a:avLst/>
          </a:prstGeom>
          <a:noFill/>
          <a:ln/>
        </p:spPr>
        <p:txBody>
          <a:bodyPr wrap="square" lIns="0" tIns="0" rIns="0" bIns="0" rtlCol="0" anchor="t"/>
          <a:lstStyle/>
          <a:p>
            <a:pPr indent="0" marL="0">
              <a:lnSpc>
                <a:spcPts val="1900"/>
              </a:lnSpc>
              <a:buNone/>
            </a:pPr>
            <a:r>
              <a:rPr lang="en-US" sz="1600" b="1" dirty="0">
                <a:solidFill>
                  <a:srgbClr val="0A2540"/>
                </a:solidFill>
                <a:latin typeface="Cambria" pitchFamily="34" charset="0"/>
                <a:ea typeface="Cambria" pitchFamily="34" charset="-122"/>
                <a:cs typeface="Cambria" pitchFamily="34" charset="-120"/>
              </a:rPr>
              <a:t>Root Cause Analysis</a:t>
            </a:r>
            <a:endParaRPr lang="en-US" sz="1600" dirty="0"/>
          </a:p>
        </p:txBody>
      </p:sp>
      <p:sp>
        <p:nvSpPr>
          <p:cNvPr id="9" name="Text 7"/>
          <p:cNvSpPr/>
          <p:nvPr/>
        </p:nvSpPr>
        <p:spPr>
          <a:xfrm>
            <a:off x="822960" y="3255264"/>
            <a:ext cx="2039112" cy="274320"/>
          </a:xfrm>
          <a:prstGeom prst="rect">
            <a:avLst/>
          </a:prstGeom>
          <a:noFill/>
          <a:ln/>
        </p:spPr>
        <p:txBody>
          <a:bodyPr wrap="square" lIns="0" tIns="0" rIns="0" bIns="0" rtlCol="0" anchor="ctr"/>
          <a:lstStyle/>
          <a:p>
            <a:pPr indent="0" marL="0">
              <a:buNone/>
            </a:pPr>
            <a:r>
              <a:rPr lang="en-US" sz="1200" b="1" i="1" dirty="0">
                <a:solidFill>
                  <a:srgbClr val="00539B"/>
                </a:solidFill>
                <a:latin typeface="Calibri" pitchFamily="34" charset="0"/>
                <a:ea typeface="Calibri" pitchFamily="34" charset="-122"/>
                <a:cs typeface="Calibri" pitchFamily="34" charset="-120"/>
              </a:rPr>
              <a:t>Why did it fail?</a:t>
            </a:r>
            <a:endParaRPr lang="en-US" sz="1200" dirty="0"/>
          </a:p>
        </p:txBody>
      </p:sp>
      <p:sp>
        <p:nvSpPr>
          <p:cNvPr id="10" name="Text 8"/>
          <p:cNvSpPr/>
          <p:nvPr/>
        </p:nvSpPr>
        <p:spPr>
          <a:xfrm>
            <a:off x="822960" y="3584448"/>
            <a:ext cx="2039112" cy="91440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Three failures, one template, down to the organisational root.</a:t>
            </a:r>
            <a:endParaRPr lang="en-US" sz="1100" dirty="0"/>
          </a:p>
        </p:txBody>
      </p:sp>
      <p:sp>
        <p:nvSpPr>
          <p:cNvPr id="11" name="Shape 9"/>
          <p:cNvSpPr/>
          <p:nvPr/>
        </p:nvSpPr>
        <p:spPr>
          <a:xfrm>
            <a:off x="3159252" y="2048256"/>
            <a:ext cx="201168" cy="310896"/>
          </a:xfrm>
          <a:prstGeom prst="rightArrow">
            <a:avLst/>
          </a:prstGeom>
          <a:solidFill>
            <a:srgbClr val="00539B"/>
          </a:solidFill>
          <a:ln/>
        </p:spPr>
      </p:sp>
      <p:sp>
        <p:nvSpPr>
          <p:cNvPr id="12" name="Shape 10"/>
          <p:cNvSpPr/>
          <p:nvPr/>
        </p:nvSpPr>
        <p:spPr>
          <a:xfrm>
            <a:off x="3401568" y="1645920"/>
            <a:ext cx="2551176" cy="2926080"/>
          </a:xfrm>
          <a:prstGeom prst="roundRect">
            <a:avLst>
              <a:gd name="adj" fmla="val 1792"/>
            </a:avLst>
          </a:prstGeom>
          <a:solidFill>
            <a:srgbClr val="FFFFFF"/>
          </a:solidFill>
          <a:ln w="9525">
            <a:solidFill>
              <a:srgbClr val="C87F16"/>
            </a:solidFill>
            <a:prstDash val="solid"/>
          </a:ln>
          <a:effectLst>
            <a:outerShdw sx="100000" sy="100000" kx="0" ky="0" algn="bl" rotWithShape="0" blurRad="101600" dist="19050" dir="5400000">
              <a:srgbClr val="8A99AC">
                <a:alpha val="16000"/>
              </a:srgbClr>
            </a:outerShdw>
          </a:effectLst>
        </p:spPr>
      </p:sp>
      <p:sp>
        <p:nvSpPr>
          <p:cNvPr id="13" name="Shape 11"/>
          <p:cNvSpPr/>
          <p:nvPr/>
        </p:nvSpPr>
        <p:spPr>
          <a:xfrm>
            <a:off x="3657600" y="1920240"/>
            <a:ext cx="566928" cy="566928"/>
          </a:xfrm>
          <a:prstGeom prst="ellipse">
            <a:avLst/>
          </a:prstGeom>
          <a:solidFill>
            <a:srgbClr val="C87F16"/>
          </a:solidFill>
          <a:ln/>
        </p:spPr>
      </p:sp>
      <p:sp>
        <p:nvSpPr>
          <p:cNvPr id="14" name="Text 12"/>
          <p:cNvSpPr/>
          <p:nvPr/>
        </p:nvSpPr>
        <p:spPr>
          <a:xfrm>
            <a:off x="3657600"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5" name="Text 13"/>
          <p:cNvSpPr/>
          <p:nvPr/>
        </p:nvSpPr>
        <p:spPr>
          <a:xfrm>
            <a:off x="3657600" y="2633472"/>
            <a:ext cx="2039112" cy="603504"/>
          </a:xfrm>
          <a:prstGeom prst="rect">
            <a:avLst/>
          </a:prstGeom>
          <a:noFill/>
          <a:ln/>
        </p:spPr>
        <p:txBody>
          <a:bodyPr wrap="square" lIns="0" tIns="0" rIns="0" bIns="0" rtlCol="0" anchor="t"/>
          <a:lstStyle/>
          <a:p>
            <a:pPr indent="0" marL="0">
              <a:lnSpc>
                <a:spcPts val="1900"/>
              </a:lnSpc>
              <a:buNone/>
            </a:pPr>
            <a:r>
              <a:rPr lang="en-US" sz="1600" b="1" dirty="0">
                <a:solidFill>
                  <a:srgbClr val="0A2540"/>
                </a:solidFill>
                <a:latin typeface="Cambria" pitchFamily="34" charset="0"/>
                <a:ea typeface="Cambria" pitchFamily="34" charset="-122"/>
                <a:cs typeface="Cambria" pitchFamily="34" charset="-120"/>
              </a:rPr>
              <a:t>Risk Register</a:t>
            </a:r>
            <a:endParaRPr lang="en-US" sz="1600" dirty="0"/>
          </a:p>
        </p:txBody>
      </p:sp>
      <p:sp>
        <p:nvSpPr>
          <p:cNvPr id="16" name="Text 14"/>
          <p:cNvSpPr/>
          <p:nvPr/>
        </p:nvSpPr>
        <p:spPr>
          <a:xfrm>
            <a:off x="3657600" y="3255264"/>
            <a:ext cx="2039112" cy="274320"/>
          </a:xfrm>
          <a:prstGeom prst="rect">
            <a:avLst/>
          </a:prstGeom>
          <a:noFill/>
          <a:ln/>
        </p:spPr>
        <p:txBody>
          <a:bodyPr wrap="square" lIns="0" tIns="0" rIns="0" bIns="0" rtlCol="0" anchor="ctr"/>
          <a:lstStyle/>
          <a:p>
            <a:pPr indent="0" marL="0">
              <a:buNone/>
            </a:pPr>
            <a:r>
              <a:rPr lang="en-US" sz="1200" b="1" i="1" dirty="0">
                <a:solidFill>
                  <a:srgbClr val="C87F16"/>
                </a:solidFill>
                <a:latin typeface="Calibri" pitchFamily="34" charset="0"/>
                <a:ea typeface="Calibri" pitchFamily="34" charset="-122"/>
                <a:cs typeface="Calibri" pitchFamily="34" charset="-120"/>
              </a:rPr>
              <a:t>What could still fail?</a:t>
            </a:r>
            <a:endParaRPr lang="en-US" sz="1200" dirty="0"/>
          </a:p>
        </p:txBody>
      </p:sp>
      <p:sp>
        <p:nvSpPr>
          <p:cNvPr id="17" name="Text 15"/>
          <p:cNvSpPr/>
          <p:nvPr/>
        </p:nvSpPr>
        <p:spPr>
          <a:xfrm>
            <a:off x="3657600" y="3584448"/>
            <a:ext cx="2039112" cy="91440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Five entries, scored twice, every one with a named owner.</a:t>
            </a:r>
            <a:endParaRPr lang="en-US" sz="1100" dirty="0"/>
          </a:p>
        </p:txBody>
      </p:sp>
      <p:sp>
        <p:nvSpPr>
          <p:cNvPr id="18" name="Shape 16"/>
          <p:cNvSpPr/>
          <p:nvPr/>
        </p:nvSpPr>
        <p:spPr>
          <a:xfrm>
            <a:off x="5993892" y="2048256"/>
            <a:ext cx="201168" cy="310896"/>
          </a:xfrm>
          <a:prstGeom prst="rightArrow">
            <a:avLst/>
          </a:prstGeom>
          <a:solidFill>
            <a:srgbClr val="C87F16"/>
          </a:solidFill>
          <a:ln/>
        </p:spPr>
      </p:sp>
      <p:sp>
        <p:nvSpPr>
          <p:cNvPr id="19" name="Shape 17"/>
          <p:cNvSpPr/>
          <p:nvPr/>
        </p:nvSpPr>
        <p:spPr>
          <a:xfrm>
            <a:off x="6236208" y="1645920"/>
            <a:ext cx="2551176" cy="2926080"/>
          </a:xfrm>
          <a:prstGeom prst="roundRect">
            <a:avLst>
              <a:gd name="adj" fmla="val 1792"/>
            </a:avLst>
          </a:prstGeom>
          <a:solidFill>
            <a:srgbClr val="FFFFFF"/>
          </a:solidFill>
          <a:ln w="9525">
            <a:solidFill>
              <a:srgbClr val="2E7D5B"/>
            </a:solidFill>
            <a:prstDash val="solid"/>
          </a:ln>
          <a:effectLst>
            <a:outerShdw sx="100000" sy="100000" kx="0" ky="0" algn="bl" rotWithShape="0" blurRad="101600" dist="19050" dir="5400000">
              <a:srgbClr val="8A99AC">
                <a:alpha val="16000"/>
              </a:srgbClr>
            </a:outerShdw>
          </a:effectLst>
        </p:spPr>
      </p:sp>
      <p:sp>
        <p:nvSpPr>
          <p:cNvPr id="20" name="Shape 18"/>
          <p:cNvSpPr/>
          <p:nvPr/>
        </p:nvSpPr>
        <p:spPr>
          <a:xfrm>
            <a:off x="6492240" y="1920240"/>
            <a:ext cx="566928" cy="566928"/>
          </a:xfrm>
          <a:prstGeom prst="ellipse">
            <a:avLst/>
          </a:prstGeom>
          <a:solidFill>
            <a:srgbClr val="2E7D5B"/>
          </a:solidFill>
          <a:ln/>
        </p:spPr>
      </p:sp>
      <p:sp>
        <p:nvSpPr>
          <p:cNvPr id="21" name="Text 19"/>
          <p:cNvSpPr/>
          <p:nvPr/>
        </p:nvSpPr>
        <p:spPr>
          <a:xfrm>
            <a:off x="6492240"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2" name="Text 20"/>
          <p:cNvSpPr/>
          <p:nvPr/>
        </p:nvSpPr>
        <p:spPr>
          <a:xfrm>
            <a:off x="6492240" y="2633472"/>
            <a:ext cx="2039112" cy="603504"/>
          </a:xfrm>
          <a:prstGeom prst="rect">
            <a:avLst/>
          </a:prstGeom>
          <a:noFill/>
          <a:ln/>
        </p:spPr>
        <p:txBody>
          <a:bodyPr wrap="square" lIns="0" tIns="0" rIns="0" bIns="0" rtlCol="0" anchor="t"/>
          <a:lstStyle/>
          <a:p>
            <a:pPr indent="0" marL="0">
              <a:lnSpc>
                <a:spcPts val="1900"/>
              </a:lnSpc>
              <a:buNone/>
            </a:pPr>
            <a:r>
              <a:rPr lang="en-US" sz="1600" b="1" dirty="0">
                <a:solidFill>
                  <a:srgbClr val="0A2540"/>
                </a:solidFill>
                <a:latin typeface="Cambria" pitchFamily="34" charset="0"/>
                <a:ea typeface="Cambria" pitchFamily="34" charset="-122"/>
                <a:cs typeface="Cambria" pitchFamily="34" charset="-120"/>
              </a:rPr>
              <a:t>Permit to Work</a:t>
            </a:r>
            <a:endParaRPr lang="en-US" sz="1600" dirty="0"/>
          </a:p>
        </p:txBody>
      </p:sp>
      <p:sp>
        <p:nvSpPr>
          <p:cNvPr id="23" name="Text 21"/>
          <p:cNvSpPr/>
          <p:nvPr/>
        </p:nvSpPr>
        <p:spPr>
          <a:xfrm>
            <a:off x="6492240" y="3255264"/>
            <a:ext cx="2039112" cy="274320"/>
          </a:xfrm>
          <a:prstGeom prst="rect">
            <a:avLst/>
          </a:prstGeom>
          <a:noFill/>
          <a:ln/>
        </p:spPr>
        <p:txBody>
          <a:bodyPr wrap="square" lIns="0" tIns="0" rIns="0" bIns="0" rtlCol="0" anchor="ctr"/>
          <a:lstStyle/>
          <a:p>
            <a:pPr indent="0" marL="0">
              <a:buNone/>
            </a:pPr>
            <a:r>
              <a:rPr lang="en-US" sz="1200" b="1" i="1" dirty="0">
                <a:solidFill>
                  <a:srgbClr val="2E7D5B"/>
                </a:solidFill>
                <a:latin typeface="Calibri" pitchFamily="34" charset="0"/>
                <a:ea typeface="Calibri" pitchFamily="34" charset="-122"/>
                <a:cs typeface="Calibri" pitchFamily="34" charset="-120"/>
              </a:rPr>
              <a:t>Who authorises it?</a:t>
            </a:r>
            <a:endParaRPr lang="en-US" sz="1200" dirty="0"/>
          </a:p>
        </p:txBody>
      </p:sp>
      <p:sp>
        <p:nvSpPr>
          <p:cNvPr id="24" name="Text 22"/>
          <p:cNvSpPr/>
          <p:nvPr/>
        </p:nvSpPr>
        <p:spPr>
          <a:xfrm>
            <a:off x="6492240" y="3584448"/>
            <a:ext cx="2039112" cy="91440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A control architecture, evidenced by a form.</a:t>
            </a:r>
            <a:endParaRPr lang="en-US" sz="1100" dirty="0"/>
          </a:p>
        </p:txBody>
      </p:sp>
      <p:sp>
        <p:nvSpPr>
          <p:cNvPr id="25" name="Shape 23"/>
          <p:cNvSpPr/>
          <p:nvPr/>
        </p:nvSpPr>
        <p:spPr>
          <a:xfrm>
            <a:off x="8828532" y="2048256"/>
            <a:ext cx="201168" cy="310896"/>
          </a:xfrm>
          <a:prstGeom prst="rightArrow">
            <a:avLst/>
          </a:prstGeom>
          <a:solidFill>
            <a:srgbClr val="2E7D5B"/>
          </a:solidFill>
          <a:ln/>
        </p:spPr>
      </p:sp>
      <p:sp>
        <p:nvSpPr>
          <p:cNvPr id="26" name="Shape 24"/>
          <p:cNvSpPr/>
          <p:nvPr/>
        </p:nvSpPr>
        <p:spPr>
          <a:xfrm>
            <a:off x="9070848" y="1645920"/>
            <a:ext cx="2551176" cy="2926080"/>
          </a:xfrm>
          <a:prstGeom prst="roundRect">
            <a:avLst>
              <a:gd name="adj" fmla="val 1792"/>
            </a:avLst>
          </a:prstGeom>
          <a:solidFill>
            <a:srgbClr val="FFFFFF"/>
          </a:solidFill>
          <a:ln w="9525">
            <a:solidFill>
              <a:srgbClr val="C8102E"/>
            </a:solidFill>
            <a:prstDash val="solid"/>
          </a:ln>
          <a:effectLst>
            <a:outerShdw sx="100000" sy="100000" kx="0" ky="0" algn="bl" rotWithShape="0" blurRad="101600" dist="19050" dir="5400000">
              <a:srgbClr val="8A99AC">
                <a:alpha val="16000"/>
              </a:srgbClr>
            </a:outerShdw>
          </a:effectLst>
        </p:spPr>
      </p:sp>
      <p:sp>
        <p:nvSpPr>
          <p:cNvPr id="27" name="Shape 25"/>
          <p:cNvSpPr/>
          <p:nvPr/>
        </p:nvSpPr>
        <p:spPr>
          <a:xfrm>
            <a:off x="9326880" y="1920240"/>
            <a:ext cx="566928" cy="566928"/>
          </a:xfrm>
          <a:prstGeom prst="ellipse">
            <a:avLst/>
          </a:prstGeom>
          <a:solidFill>
            <a:srgbClr val="C8102E"/>
          </a:solidFill>
          <a:ln/>
        </p:spPr>
      </p:sp>
      <p:sp>
        <p:nvSpPr>
          <p:cNvPr id="28" name="Text 26"/>
          <p:cNvSpPr/>
          <p:nvPr/>
        </p:nvSpPr>
        <p:spPr>
          <a:xfrm>
            <a:off x="9326880"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9" name="Text 27"/>
          <p:cNvSpPr/>
          <p:nvPr/>
        </p:nvSpPr>
        <p:spPr>
          <a:xfrm>
            <a:off x="9326880" y="2633472"/>
            <a:ext cx="2039112" cy="603504"/>
          </a:xfrm>
          <a:prstGeom prst="rect">
            <a:avLst/>
          </a:prstGeom>
          <a:noFill/>
          <a:ln/>
        </p:spPr>
        <p:txBody>
          <a:bodyPr wrap="square" lIns="0" tIns="0" rIns="0" bIns="0" rtlCol="0" anchor="t"/>
          <a:lstStyle/>
          <a:p>
            <a:pPr indent="0" marL="0">
              <a:lnSpc>
                <a:spcPts val="1900"/>
              </a:lnSpc>
              <a:buNone/>
            </a:pPr>
            <a:r>
              <a:rPr lang="en-US" sz="1600" b="1" dirty="0">
                <a:solidFill>
                  <a:srgbClr val="0A2540"/>
                </a:solidFill>
                <a:latin typeface="Cambria" pitchFamily="34" charset="0"/>
                <a:ea typeface="Cambria" pitchFamily="34" charset="-122"/>
                <a:cs typeface="Cambria" pitchFamily="34" charset="-120"/>
              </a:rPr>
              <a:t>Job Safety Analysis</a:t>
            </a:r>
            <a:endParaRPr lang="en-US" sz="1600" dirty="0"/>
          </a:p>
        </p:txBody>
      </p:sp>
      <p:sp>
        <p:nvSpPr>
          <p:cNvPr id="30" name="Text 28"/>
          <p:cNvSpPr/>
          <p:nvPr/>
        </p:nvSpPr>
        <p:spPr>
          <a:xfrm>
            <a:off x="9326880" y="3255264"/>
            <a:ext cx="2039112" cy="274320"/>
          </a:xfrm>
          <a:prstGeom prst="rect">
            <a:avLst/>
          </a:prstGeom>
          <a:noFill/>
          <a:ln/>
        </p:spPr>
        <p:txBody>
          <a:bodyPr wrap="square" lIns="0" tIns="0" rIns="0" bIns="0" rtlCol="0" anchor="ctr"/>
          <a:lstStyle/>
          <a:p>
            <a:pPr indent="0" marL="0">
              <a:buNone/>
            </a:pPr>
            <a:r>
              <a:rPr lang="en-US" sz="1200" b="1" i="1" dirty="0">
                <a:solidFill>
                  <a:srgbClr val="C8102E"/>
                </a:solidFill>
                <a:latin typeface="Calibri" pitchFamily="34" charset="0"/>
                <a:ea typeface="Calibri" pitchFamily="34" charset="-122"/>
                <a:cs typeface="Calibri" pitchFamily="34" charset="-120"/>
              </a:rPr>
              <a:t>How is it done safely?</a:t>
            </a:r>
            <a:endParaRPr lang="en-US" sz="1200" dirty="0"/>
          </a:p>
        </p:txBody>
      </p:sp>
      <p:sp>
        <p:nvSpPr>
          <p:cNvPr id="31" name="Text 29"/>
          <p:cNvSpPr/>
          <p:nvPr/>
        </p:nvSpPr>
        <p:spPr>
          <a:xfrm>
            <a:off x="9326880" y="3584448"/>
            <a:ext cx="2039112" cy="914400"/>
          </a:xfrm>
          <a:prstGeom prst="rect">
            <a:avLst/>
          </a:prstGeom>
          <a:noFill/>
          <a:ln/>
        </p:spPr>
        <p:txBody>
          <a:bodyPr wrap="square" lIns="0" tIns="0" rIns="0" bIns="0" rtlCol="0" anchor="t"/>
          <a:lstStyle/>
          <a:p>
            <a:pPr indent="0" marL="0">
              <a:lnSpc>
                <a:spcPts val="1400"/>
              </a:lnSpc>
              <a:buNone/>
            </a:pPr>
            <a:r>
              <a:rPr lang="en-US" sz="1100" dirty="0">
                <a:solidFill>
                  <a:srgbClr val="56677A"/>
                </a:solidFill>
                <a:latin typeface="Calibri" pitchFamily="34" charset="0"/>
                <a:ea typeface="Calibri" pitchFamily="34" charset="-122"/>
                <a:cs typeface="Calibri" pitchFamily="34" charset="-120"/>
              </a:rPr>
              <a:t>Twelve steps at the hands of a fitter with a spanner.</a:t>
            </a:r>
            <a:endParaRPr lang="en-US" sz="1100" dirty="0"/>
          </a:p>
        </p:txBody>
      </p:sp>
      <p:sp>
        <p:nvSpPr>
          <p:cNvPr id="32" name="Text 30"/>
          <p:cNvSpPr/>
          <p:nvPr/>
        </p:nvSpPr>
        <p:spPr>
          <a:xfrm>
            <a:off x="1842516" y="4700016"/>
            <a:ext cx="2834640" cy="310896"/>
          </a:xfrm>
          <a:prstGeom prst="rect">
            <a:avLst/>
          </a:prstGeom>
          <a:noFill/>
          <a:ln/>
        </p:spPr>
        <p:txBody>
          <a:bodyPr wrap="square" lIns="0" tIns="0" rIns="0" bIns="0" rtlCol="0" anchor="t"/>
          <a:lstStyle/>
          <a:p>
            <a:pPr algn="ctr" indent="0" marL="0">
              <a:lnSpc>
                <a:spcPts val="1100"/>
              </a:lnSpc>
              <a:buNone/>
            </a:pPr>
            <a:r>
              <a:rPr lang="en-US" sz="850" i="1" dirty="0">
                <a:solidFill>
                  <a:srgbClr val="8494A6"/>
                </a:solidFill>
                <a:latin typeface="Calibri" pitchFamily="34" charset="0"/>
                <a:ea typeface="Calibri" pitchFamily="34" charset="-122"/>
                <a:cs typeface="Calibri" pitchFamily="34" charset="-120"/>
              </a:rPr>
              <a:t>→  what we learn becomes tracked risk</a:t>
            </a:r>
            <a:endParaRPr lang="en-US" sz="850" dirty="0"/>
          </a:p>
        </p:txBody>
      </p:sp>
      <p:sp>
        <p:nvSpPr>
          <p:cNvPr id="33" name="Text 31"/>
          <p:cNvSpPr/>
          <p:nvPr/>
        </p:nvSpPr>
        <p:spPr>
          <a:xfrm>
            <a:off x="4677156" y="4700016"/>
            <a:ext cx="2834640" cy="310896"/>
          </a:xfrm>
          <a:prstGeom prst="rect">
            <a:avLst/>
          </a:prstGeom>
          <a:noFill/>
          <a:ln/>
        </p:spPr>
        <p:txBody>
          <a:bodyPr wrap="square" lIns="0" tIns="0" rIns="0" bIns="0" rtlCol="0" anchor="t"/>
          <a:lstStyle/>
          <a:p>
            <a:pPr algn="ctr" indent="0" marL="0">
              <a:lnSpc>
                <a:spcPts val="1100"/>
              </a:lnSpc>
              <a:buNone/>
            </a:pPr>
            <a:r>
              <a:rPr lang="en-US" sz="850" i="1" dirty="0">
                <a:solidFill>
                  <a:srgbClr val="8494A6"/>
                </a:solidFill>
                <a:latin typeface="Calibri" pitchFamily="34" charset="0"/>
                <a:ea typeface="Calibri" pitchFamily="34" charset="-122"/>
                <a:cs typeface="Calibri" pitchFamily="34" charset="-120"/>
              </a:rPr>
              <a:t>→  tracked risk generates work on live plant</a:t>
            </a:r>
            <a:endParaRPr lang="en-US" sz="850" dirty="0"/>
          </a:p>
        </p:txBody>
      </p:sp>
      <p:sp>
        <p:nvSpPr>
          <p:cNvPr id="34" name="Text 32"/>
          <p:cNvSpPr/>
          <p:nvPr/>
        </p:nvSpPr>
        <p:spPr>
          <a:xfrm>
            <a:off x="7511796" y="4700016"/>
            <a:ext cx="2834640" cy="310896"/>
          </a:xfrm>
          <a:prstGeom prst="rect">
            <a:avLst/>
          </a:prstGeom>
          <a:noFill/>
          <a:ln/>
        </p:spPr>
        <p:txBody>
          <a:bodyPr wrap="square" lIns="0" tIns="0" rIns="0" bIns="0" rtlCol="0" anchor="t"/>
          <a:lstStyle/>
          <a:p>
            <a:pPr algn="ctr" indent="0" marL="0">
              <a:lnSpc>
                <a:spcPts val="1100"/>
              </a:lnSpc>
              <a:buNone/>
            </a:pPr>
            <a:r>
              <a:rPr lang="en-US" sz="850" i="1" dirty="0">
                <a:solidFill>
                  <a:srgbClr val="8494A6"/>
                </a:solidFill>
                <a:latin typeface="Calibri" pitchFamily="34" charset="0"/>
                <a:ea typeface="Calibri" pitchFamily="34" charset="-122"/>
                <a:cs typeface="Calibri" pitchFamily="34" charset="-120"/>
              </a:rPr>
              <a:t>→  the permit authorises the task</a:t>
            </a:r>
            <a:endParaRPr lang="en-US" sz="850" dirty="0"/>
          </a:p>
        </p:txBody>
      </p:sp>
      <p:sp>
        <p:nvSpPr>
          <p:cNvPr id="35" name="Shape 33"/>
          <p:cNvSpPr/>
          <p:nvPr/>
        </p:nvSpPr>
        <p:spPr>
          <a:xfrm>
            <a:off x="566928" y="5230368"/>
            <a:ext cx="11055096" cy="1060704"/>
          </a:xfrm>
          <a:prstGeom prst="roundRect">
            <a:avLst>
              <a:gd name="adj" fmla="val 4310"/>
            </a:avLst>
          </a:prstGeom>
          <a:solidFill>
            <a:srgbClr val="0A2540"/>
          </a:solidFill>
          <a:ln/>
        </p:spPr>
      </p:sp>
      <p:sp>
        <p:nvSpPr>
          <p:cNvPr id="36" name="Text 34"/>
          <p:cNvSpPr/>
          <p:nvPr/>
        </p:nvSpPr>
        <p:spPr>
          <a:xfrm>
            <a:off x="877824" y="5230368"/>
            <a:ext cx="10433304" cy="1060704"/>
          </a:xfrm>
          <a:prstGeom prst="rect">
            <a:avLst/>
          </a:prstGeom>
          <a:noFill/>
          <a:ln/>
        </p:spPr>
        <p:txBody>
          <a:bodyPr wrap="square" lIns="0" tIns="0" rIns="0" bIns="0" rtlCol="0" anchor="ctr"/>
          <a:lstStyle/>
          <a:p>
            <a:pPr indent="0" marL="0">
              <a:lnSpc>
                <a:spcPts val="2000"/>
              </a:lnSpc>
              <a:buNone/>
            </a:pPr>
            <a:r>
              <a:rPr lang="en-US" sz="1300" b="1" dirty="0">
                <a:solidFill>
                  <a:srgbClr val="FFFFFF"/>
                </a:solidFill>
                <a:latin typeface="Calibri" pitchFamily="34" charset="0"/>
                <a:ea typeface="Calibri" pitchFamily="34" charset="-122"/>
                <a:cs typeface="Calibri" pitchFamily="34" charset="-120"/>
              </a:rPr>
              <a:t>RCA-02  →  RR-02  →  PTW-CDU-2026-0473  →  JSA-CDU-2026-0473  →  CMMS  →  bad-actor register  →  RCA</a:t>
            </a:r>
            <a:pPr indent="0" marL="0">
              <a:lnSpc>
                <a:spcPts val="2000"/>
              </a:lnSpc>
              <a:buNone/>
            </a:pPr>
            <a:endParaRPr lang="en-US" sz="1300" dirty="0"/>
          </a:p>
          <a:p>
            <a:pPr indent="0" marL="0">
              <a:lnSpc>
                <a:spcPts val="2000"/>
              </a:lnSpc>
              <a:buNone/>
            </a:pPr>
            <a:r>
              <a:rPr lang="en-US" sz="1200" dirty="0">
                <a:solidFill>
                  <a:srgbClr val="B9CBDD"/>
                </a:solidFill>
                <a:latin typeface="Calibri" pitchFamily="34" charset="0"/>
                <a:ea typeface="Calibri" pitchFamily="34" charset="-122"/>
                <a:cs typeface="Calibri" pitchFamily="34" charset="-120"/>
              </a:rPr>
              <a:t>One pump, all the way round. The loop does not end at the repair — it ends by feeding the next analysis.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66928" y="548640"/>
            <a:ext cx="11055096" cy="274320"/>
          </a:xfrm>
          <a:prstGeom prst="rect">
            <a:avLst/>
          </a:prstGeom>
          <a:noFill/>
          <a:ln/>
        </p:spPr>
        <p:txBody>
          <a:bodyPr wrap="square" lIns="0" tIns="0" rIns="0" bIns="0" rtlCol="0" anchor="ctr"/>
          <a:lstStyle/>
          <a:p>
            <a:pPr indent="0" marL="0">
              <a:buNone/>
            </a:pPr>
            <a:r>
              <a:rPr lang="en-US" sz="1150" b="1" spc="200" kern="0" dirty="0">
                <a:solidFill>
                  <a:srgbClr val="7FA8CE"/>
                </a:solidFill>
                <a:latin typeface="Calibri" pitchFamily="34" charset="0"/>
                <a:ea typeface="Calibri" pitchFamily="34" charset="-122"/>
                <a:cs typeface="Calibri" pitchFamily="34" charset="-120"/>
              </a:rPr>
              <a:t>WHAT WE ARE ASKING FOR</a:t>
            </a:r>
            <a:endParaRPr lang="en-US" sz="1150" dirty="0"/>
          </a:p>
        </p:txBody>
      </p:sp>
      <p:sp>
        <p:nvSpPr>
          <p:cNvPr id="3" name="Text 1"/>
          <p:cNvSpPr/>
          <p:nvPr/>
        </p:nvSpPr>
        <p:spPr>
          <a:xfrm>
            <a:off x="566928" y="841248"/>
            <a:ext cx="11055096" cy="621792"/>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Four decisions, four owners.</a:t>
            </a:r>
            <a:endParaRPr lang="en-US" sz="3300" dirty="0"/>
          </a:p>
        </p:txBody>
      </p:sp>
      <p:sp>
        <p:nvSpPr>
          <p:cNvPr id="4" name="Text 2"/>
          <p:cNvSpPr/>
          <p:nvPr/>
        </p:nvSpPr>
        <p:spPr>
          <a:xfrm>
            <a:off x="566928" y="1481328"/>
            <a:ext cx="11055096" cy="292608"/>
          </a:xfrm>
          <a:prstGeom prst="rect">
            <a:avLst/>
          </a:prstGeom>
          <a:noFill/>
          <a:ln/>
        </p:spPr>
        <p:txBody>
          <a:bodyPr wrap="square" lIns="0" tIns="0" rIns="0" bIns="0" rtlCol="0" anchor="ctr"/>
          <a:lstStyle/>
          <a:p>
            <a:pPr indent="0" marL="0">
              <a:buNone/>
            </a:pPr>
            <a:r>
              <a:rPr lang="en-US" sz="1300" i="1" dirty="0">
                <a:solidFill>
                  <a:srgbClr val="9FBAD4"/>
                </a:solidFill>
                <a:latin typeface="Calibri" pitchFamily="34" charset="0"/>
                <a:ea typeface="Calibri" pitchFamily="34" charset="-122"/>
                <a:cs typeface="Calibri" pitchFamily="34" charset="-120"/>
              </a:rPr>
              <a:t>Three of these cost almost nothing. The one that costs money is the one that stops an $18 million failure repeating.</a:t>
            </a:r>
            <a:endParaRPr lang="en-US" sz="1300" dirty="0"/>
          </a:p>
        </p:txBody>
      </p:sp>
      <p:sp>
        <p:nvSpPr>
          <p:cNvPr id="5" name="Shape 3"/>
          <p:cNvSpPr/>
          <p:nvPr/>
        </p:nvSpPr>
        <p:spPr>
          <a:xfrm>
            <a:off x="566928" y="1956816"/>
            <a:ext cx="2615184" cy="3291840"/>
          </a:xfrm>
          <a:prstGeom prst="roundRect">
            <a:avLst>
              <a:gd name="adj" fmla="val 2098"/>
            </a:avLst>
          </a:prstGeom>
          <a:solidFill>
            <a:srgbClr val="12395F"/>
          </a:solidFill>
          <a:ln/>
        </p:spPr>
      </p:sp>
      <p:sp>
        <p:nvSpPr>
          <p:cNvPr id="6" name="Shape 4"/>
          <p:cNvSpPr/>
          <p:nvPr/>
        </p:nvSpPr>
        <p:spPr>
          <a:xfrm>
            <a:off x="786384" y="2157984"/>
            <a:ext cx="475488" cy="475488"/>
          </a:xfrm>
          <a:prstGeom prst="ellipse">
            <a:avLst/>
          </a:prstGeom>
          <a:solidFill>
            <a:srgbClr val="00539B"/>
          </a:solidFill>
          <a:ln/>
        </p:spPr>
      </p:sp>
      <p:sp>
        <p:nvSpPr>
          <p:cNvPr id="7" name="Text 5"/>
          <p:cNvSpPr/>
          <p:nvPr/>
        </p:nvSpPr>
        <p:spPr>
          <a:xfrm>
            <a:off x="786384" y="2157984"/>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786384" y="2743200"/>
            <a:ext cx="2176272" cy="841248"/>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mbria" pitchFamily="34" charset="0"/>
                <a:ea typeface="Cambria" pitchFamily="34" charset="-122"/>
                <a:cs typeface="Cambria" pitchFamily="34" charset="-120"/>
              </a:rPr>
              <a:t>Make crude slate change an MOC trigger</a:t>
            </a:r>
            <a:endParaRPr lang="en-US" sz="1300" dirty="0"/>
          </a:p>
        </p:txBody>
      </p:sp>
      <p:sp>
        <p:nvSpPr>
          <p:cNvPr id="9" name="Text 7"/>
          <p:cNvSpPr/>
          <p:nvPr/>
        </p:nvSpPr>
        <p:spPr>
          <a:xfrm>
            <a:off x="786384" y="3566160"/>
            <a:ext cx="2176272" cy="969264"/>
          </a:xfrm>
          <a:prstGeom prst="rect">
            <a:avLst/>
          </a:prstGeom>
          <a:noFill/>
          <a:ln/>
        </p:spPr>
        <p:txBody>
          <a:bodyPr wrap="square" lIns="0" tIns="0" rIns="0" bIns="0" rtlCol="0" anchor="t"/>
          <a:lstStyle/>
          <a:p>
            <a:pPr indent="0" marL="0">
              <a:lnSpc>
                <a:spcPts val="1300"/>
              </a:lnSpc>
              <a:buNone/>
            </a:pPr>
            <a:r>
              <a:rPr lang="en-US" sz="1000" dirty="0">
                <a:solidFill>
                  <a:srgbClr val="A9C0D6"/>
                </a:solidFill>
                <a:latin typeface="Calibri" pitchFamily="34" charset="0"/>
                <a:ea typeface="Calibri" pitchFamily="34" charset="-122"/>
                <a:cs typeface="Calibri" pitchFamily="34" charset="-120"/>
              </a:rPr>
              <a:t>With corrosion loop review as a required step. This is the control missing in RCA-01, and it is a change to a procedure, not to the plant.</a:t>
            </a:r>
            <a:endParaRPr lang="en-US" sz="1000" dirty="0"/>
          </a:p>
        </p:txBody>
      </p:sp>
      <p:sp>
        <p:nvSpPr>
          <p:cNvPr id="10" name="Text 8"/>
          <p:cNvSpPr/>
          <p:nvPr/>
        </p:nvSpPr>
        <p:spPr>
          <a:xfrm>
            <a:off x="786384" y="4572000"/>
            <a:ext cx="2176272" cy="640080"/>
          </a:xfrm>
          <a:prstGeom prst="rect">
            <a:avLst/>
          </a:prstGeom>
          <a:noFill/>
          <a:ln/>
        </p:spPr>
        <p:txBody>
          <a:bodyPr wrap="square" lIns="0" tIns="0" rIns="0" bIns="0" rtlCol="0" anchor="t"/>
          <a:lstStyle/>
          <a:p>
            <a:pPr indent="0" marL="0">
              <a:lnSpc>
                <a:spcPts val="1250"/>
              </a:lnSpc>
              <a:buNone/>
            </a:pPr>
            <a:r>
              <a:rPr lang="en-US" sz="950" b="1" dirty="0">
                <a:solidFill>
                  <a:srgbClr val="8FD4B4"/>
                </a:solidFill>
                <a:latin typeface="Calibri" pitchFamily="34" charset="0"/>
                <a:ea typeface="Calibri" pitchFamily="34" charset="-122"/>
                <a:cs typeface="Calibri" pitchFamily="34" charset="-120"/>
              </a:rPr>
              <a:t>Procedure only  ·  Two weeks
</a:t>
            </a:r>
            <a:pPr indent="0" marL="0">
              <a:lnSpc>
                <a:spcPts val="1250"/>
              </a:lnSpc>
              <a:buNone/>
            </a:pPr>
            <a:r>
              <a:rPr lang="en-US" sz="950" dirty="0">
                <a:solidFill>
                  <a:srgbClr val="7FA8CE"/>
                </a:solidFill>
                <a:latin typeface="Calibri" pitchFamily="34" charset="0"/>
                <a:ea typeface="Calibri" pitchFamily="34" charset="-122"/>
                <a:cs typeface="Calibri" pitchFamily="34" charset="-120"/>
              </a:rPr>
              <a:t>HSE &amp; Technical Safety Manager</a:t>
            </a:r>
            <a:endParaRPr lang="en-US" sz="950" dirty="0"/>
          </a:p>
        </p:txBody>
      </p:sp>
      <p:sp>
        <p:nvSpPr>
          <p:cNvPr id="11" name="Shape 9"/>
          <p:cNvSpPr/>
          <p:nvPr/>
        </p:nvSpPr>
        <p:spPr>
          <a:xfrm>
            <a:off x="3355848" y="1956816"/>
            <a:ext cx="2615184" cy="3291840"/>
          </a:xfrm>
          <a:prstGeom prst="roundRect">
            <a:avLst>
              <a:gd name="adj" fmla="val 2098"/>
            </a:avLst>
          </a:prstGeom>
          <a:solidFill>
            <a:srgbClr val="12395F"/>
          </a:solidFill>
          <a:ln/>
        </p:spPr>
      </p:sp>
      <p:sp>
        <p:nvSpPr>
          <p:cNvPr id="12" name="Shape 10"/>
          <p:cNvSpPr/>
          <p:nvPr/>
        </p:nvSpPr>
        <p:spPr>
          <a:xfrm>
            <a:off x="3575304" y="2157984"/>
            <a:ext cx="475488" cy="475488"/>
          </a:xfrm>
          <a:prstGeom prst="ellipse">
            <a:avLst/>
          </a:prstGeom>
          <a:solidFill>
            <a:srgbClr val="00539B"/>
          </a:solidFill>
          <a:ln/>
        </p:spPr>
      </p:sp>
      <p:sp>
        <p:nvSpPr>
          <p:cNvPr id="13" name="Text 11"/>
          <p:cNvSpPr/>
          <p:nvPr/>
        </p:nvSpPr>
        <p:spPr>
          <a:xfrm>
            <a:off x="3575304" y="2157984"/>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3575304" y="2743200"/>
            <a:ext cx="2176272" cy="841248"/>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mbria" pitchFamily="34" charset="0"/>
                <a:ea typeface="Cambria" pitchFamily="34" charset="-122"/>
                <a:cs typeface="Cambria" pitchFamily="34" charset="-120"/>
              </a:rPr>
              <a:t>Open an instrument inhibit register</a:t>
            </a:r>
            <a:endParaRPr lang="en-US" sz="1300" dirty="0"/>
          </a:p>
        </p:txBody>
      </p:sp>
      <p:sp>
        <p:nvSpPr>
          <p:cNvPr id="15" name="Text 13"/>
          <p:cNvSpPr/>
          <p:nvPr/>
        </p:nvSpPr>
        <p:spPr>
          <a:xfrm>
            <a:off x="3575304" y="3566160"/>
            <a:ext cx="2176272" cy="969264"/>
          </a:xfrm>
          <a:prstGeom prst="rect">
            <a:avLst/>
          </a:prstGeom>
          <a:noFill/>
          <a:ln/>
        </p:spPr>
        <p:txBody>
          <a:bodyPr wrap="square" lIns="0" tIns="0" rIns="0" bIns="0" rtlCol="0" anchor="t"/>
          <a:lstStyle/>
          <a:p>
            <a:pPr indent="0" marL="0">
              <a:lnSpc>
                <a:spcPts val="1300"/>
              </a:lnSpc>
              <a:buNone/>
            </a:pPr>
            <a:r>
              <a:rPr lang="en-US" sz="1000" dirty="0">
                <a:solidFill>
                  <a:srgbClr val="A9C0D6"/>
                </a:solidFill>
                <a:latin typeface="Calibri" pitchFamily="34" charset="0"/>
                <a:ea typeface="Calibri" pitchFamily="34" charset="-122"/>
                <a:cs typeface="Calibri" pitchFamily="34" charset="-120"/>
              </a:rPr>
              <a:t>Mandatory expiry, risk assessment at application, weekly management review of everything live. Eight months of silence killed a heater tube.</a:t>
            </a:r>
            <a:endParaRPr lang="en-US" sz="1000" dirty="0"/>
          </a:p>
        </p:txBody>
      </p:sp>
      <p:sp>
        <p:nvSpPr>
          <p:cNvPr id="16" name="Text 14"/>
          <p:cNvSpPr/>
          <p:nvPr/>
        </p:nvSpPr>
        <p:spPr>
          <a:xfrm>
            <a:off x="3575304" y="4572000"/>
            <a:ext cx="2176272" cy="640080"/>
          </a:xfrm>
          <a:prstGeom prst="rect">
            <a:avLst/>
          </a:prstGeom>
          <a:noFill/>
          <a:ln/>
        </p:spPr>
        <p:txBody>
          <a:bodyPr wrap="square" lIns="0" tIns="0" rIns="0" bIns="0" rtlCol="0" anchor="t"/>
          <a:lstStyle/>
          <a:p>
            <a:pPr indent="0" marL="0">
              <a:lnSpc>
                <a:spcPts val="1250"/>
              </a:lnSpc>
              <a:buNone/>
            </a:pPr>
            <a:r>
              <a:rPr lang="en-US" sz="950" b="1" dirty="0">
                <a:solidFill>
                  <a:srgbClr val="8FD4B4"/>
                </a:solidFill>
                <a:latin typeface="Calibri" pitchFamily="34" charset="0"/>
                <a:ea typeface="Calibri" pitchFamily="34" charset="-122"/>
                <a:cs typeface="Calibri" pitchFamily="34" charset="-120"/>
              </a:rPr>
              <a:t>No capital  ·  One month
</a:t>
            </a:r>
            <a:pPr indent="0" marL="0">
              <a:lnSpc>
                <a:spcPts val="1250"/>
              </a:lnSpc>
              <a:buNone/>
            </a:pPr>
            <a:r>
              <a:rPr lang="en-US" sz="950" dirty="0">
                <a:solidFill>
                  <a:srgbClr val="7FA8CE"/>
                </a:solidFill>
                <a:latin typeface="Calibri" pitchFamily="34" charset="0"/>
                <a:ea typeface="Calibri" pitchFamily="34" charset="-122"/>
                <a:cs typeface="Calibri" pitchFamily="34" charset="-120"/>
              </a:rPr>
              <a:t>Instrument Engineer</a:t>
            </a:r>
            <a:endParaRPr lang="en-US" sz="950" dirty="0"/>
          </a:p>
        </p:txBody>
      </p:sp>
      <p:sp>
        <p:nvSpPr>
          <p:cNvPr id="17" name="Shape 15"/>
          <p:cNvSpPr/>
          <p:nvPr/>
        </p:nvSpPr>
        <p:spPr>
          <a:xfrm>
            <a:off x="6144768" y="1956816"/>
            <a:ext cx="2615184" cy="3291840"/>
          </a:xfrm>
          <a:prstGeom prst="roundRect">
            <a:avLst>
              <a:gd name="adj" fmla="val 2098"/>
            </a:avLst>
          </a:prstGeom>
          <a:solidFill>
            <a:srgbClr val="12395F"/>
          </a:solidFill>
          <a:ln/>
        </p:spPr>
      </p:sp>
      <p:sp>
        <p:nvSpPr>
          <p:cNvPr id="18" name="Shape 16"/>
          <p:cNvSpPr/>
          <p:nvPr/>
        </p:nvSpPr>
        <p:spPr>
          <a:xfrm>
            <a:off x="6364224" y="2157984"/>
            <a:ext cx="475488" cy="475488"/>
          </a:xfrm>
          <a:prstGeom prst="ellipse">
            <a:avLst/>
          </a:prstGeom>
          <a:solidFill>
            <a:srgbClr val="00539B"/>
          </a:solidFill>
          <a:ln/>
        </p:spPr>
      </p:sp>
      <p:sp>
        <p:nvSpPr>
          <p:cNvPr id="19" name="Text 17"/>
          <p:cNvSpPr/>
          <p:nvPr/>
        </p:nvSpPr>
        <p:spPr>
          <a:xfrm>
            <a:off x="6364224" y="2157984"/>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0" name="Text 18"/>
          <p:cNvSpPr/>
          <p:nvPr/>
        </p:nvSpPr>
        <p:spPr>
          <a:xfrm>
            <a:off x="6364224" y="2743200"/>
            <a:ext cx="2176272" cy="841248"/>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mbria" pitchFamily="34" charset="0"/>
                <a:ea typeface="Cambria" pitchFamily="34" charset="-122"/>
                <a:cs typeface="Cambria" pitchFamily="34" charset="-120"/>
              </a:rPr>
              <a:t>Set a bad-actor threshold</a:t>
            </a:r>
            <a:endParaRPr lang="en-US" sz="1300" dirty="0"/>
          </a:p>
        </p:txBody>
      </p:sp>
      <p:sp>
        <p:nvSpPr>
          <p:cNvPr id="21" name="Text 19"/>
          <p:cNvSpPr/>
          <p:nvPr/>
        </p:nvSpPr>
        <p:spPr>
          <a:xfrm>
            <a:off x="6364224" y="3566160"/>
            <a:ext cx="2176272" cy="969264"/>
          </a:xfrm>
          <a:prstGeom prst="rect">
            <a:avLst/>
          </a:prstGeom>
          <a:noFill/>
          <a:ln/>
        </p:spPr>
        <p:txBody>
          <a:bodyPr wrap="square" lIns="0" tIns="0" rIns="0" bIns="0" rtlCol="0" anchor="t"/>
          <a:lstStyle/>
          <a:p>
            <a:pPr indent="0" marL="0">
              <a:lnSpc>
                <a:spcPts val="1300"/>
              </a:lnSpc>
              <a:buNone/>
            </a:pPr>
            <a:r>
              <a:rPr lang="en-US" sz="1000" dirty="0">
                <a:solidFill>
                  <a:srgbClr val="A9C0D6"/>
                </a:solidFill>
                <a:latin typeface="Calibri" pitchFamily="34" charset="0"/>
                <a:ea typeface="Calibri" pitchFamily="34" charset="-122"/>
                <a:cs typeface="Calibri" pitchFamily="34" charset="-120"/>
              </a:rPr>
              <a:t>Two failures in twelve months triggers an automatic RCA, reviewed monthly. P-1104A failed three times and the system had no way to add them up.</a:t>
            </a:r>
            <a:endParaRPr lang="en-US" sz="1000" dirty="0"/>
          </a:p>
        </p:txBody>
      </p:sp>
      <p:sp>
        <p:nvSpPr>
          <p:cNvPr id="22" name="Text 20"/>
          <p:cNvSpPr/>
          <p:nvPr/>
        </p:nvSpPr>
        <p:spPr>
          <a:xfrm>
            <a:off x="6364224" y="4572000"/>
            <a:ext cx="2176272" cy="640080"/>
          </a:xfrm>
          <a:prstGeom prst="rect">
            <a:avLst/>
          </a:prstGeom>
          <a:noFill/>
          <a:ln/>
        </p:spPr>
        <p:txBody>
          <a:bodyPr wrap="square" lIns="0" tIns="0" rIns="0" bIns="0" rtlCol="0" anchor="t"/>
          <a:lstStyle/>
          <a:p>
            <a:pPr indent="0" marL="0">
              <a:lnSpc>
                <a:spcPts val="1250"/>
              </a:lnSpc>
              <a:buNone/>
            </a:pPr>
            <a:r>
              <a:rPr lang="en-US" sz="950" b="1" dirty="0">
                <a:solidFill>
                  <a:srgbClr val="8FD4B4"/>
                </a:solidFill>
                <a:latin typeface="Calibri" pitchFamily="34" charset="0"/>
                <a:ea typeface="Calibri" pitchFamily="34" charset="-122"/>
                <a:cs typeface="Calibri" pitchFamily="34" charset="-120"/>
              </a:rPr>
              <a:t>No capital  ·  One month
</a:t>
            </a:r>
            <a:pPr indent="0" marL="0">
              <a:lnSpc>
                <a:spcPts val="1250"/>
              </a:lnSpc>
              <a:buNone/>
            </a:pPr>
            <a:r>
              <a:rPr lang="en-US" sz="950" dirty="0">
                <a:solidFill>
                  <a:srgbClr val="7FA8CE"/>
                </a:solidFill>
                <a:latin typeface="Calibri" pitchFamily="34" charset="0"/>
                <a:ea typeface="Calibri" pitchFamily="34" charset="-122"/>
                <a:cs typeface="Calibri" pitchFamily="34" charset="-120"/>
              </a:rPr>
              <a:t>Maintenance Manager</a:t>
            </a:r>
            <a:endParaRPr lang="en-US" sz="950" dirty="0"/>
          </a:p>
        </p:txBody>
      </p:sp>
      <p:sp>
        <p:nvSpPr>
          <p:cNvPr id="23" name="Shape 21"/>
          <p:cNvSpPr/>
          <p:nvPr/>
        </p:nvSpPr>
        <p:spPr>
          <a:xfrm>
            <a:off x="8933688" y="1956816"/>
            <a:ext cx="2615184" cy="3291840"/>
          </a:xfrm>
          <a:prstGeom prst="roundRect">
            <a:avLst>
              <a:gd name="adj" fmla="val 2098"/>
            </a:avLst>
          </a:prstGeom>
          <a:solidFill>
            <a:srgbClr val="12395F"/>
          </a:solidFill>
          <a:ln/>
        </p:spPr>
      </p:sp>
      <p:sp>
        <p:nvSpPr>
          <p:cNvPr id="24" name="Shape 22"/>
          <p:cNvSpPr/>
          <p:nvPr/>
        </p:nvSpPr>
        <p:spPr>
          <a:xfrm>
            <a:off x="9153144" y="2157984"/>
            <a:ext cx="475488" cy="475488"/>
          </a:xfrm>
          <a:prstGeom prst="ellipse">
            <a:avLst/>
          </a:prstGeom>
          <a:solidFill>
            <a:srgbClr val="C87F16"/>
          </a:solidFill>
          <a:ln/>
        </p:spPr>
      </p:sp>
      <p:sp>
        <p:nvSpPr>
          <p:cNvPr id="25" name="Text 23"/>
          <p:cNvSpPr/>
          <p:nvPr/>
        </p:nvSpPr>
        <p:spPr>
          <a:xfrm>
            <a:off x="9153144" y="2157984"/>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6" name="Text 24"/>
          <p:cNvSpPr/>
          <p:nvPr/>
        </p:nvSpPr>
        <p:spPr>
          <a:xfrm>
            <a:off x="9153144" y="2743200"/>
            <a:ext cx="2176272" cy="841248"/>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mbria" pitchFamily="34" charset="0"/>
                <a:ea typeface="Cambria" pitchFamily="34" charset="-122"/>
                <a:cs typeface="Cambria" pitchFamily="34" charset="-120"/>
              </a:rPr>
              <a:t>Fund the three actions on RR-05</a:t>
            </a:r>
            <a:endParaRPr lang="en-US" sz="1300" dirty="0"/>
          </a:p>
        </p:txBody>
      </p:sp>
      <p:sp>
        <p:nvSpPr>
          <p:cNvPr id="27" name="Text 25"/>
          <p:cNvSpPr/>
          <p:nvPr/>
        </p:nvSpPr>
        <p:spPr>
          <a:xfrm>
            <a:off x="9153144" y="3566160"/>
            <a:ext cx="2176272" cy="969264"/>
          </a:xfrm>
          <a:prstGeom prst="rect">
            <a:avLst/>
          </a:prstGeom>
          <a:noFill/>
          <a:ln/>
        </p:spPr>
        <p:txBody>
          <a:bodyPr wrap="square" lIns="0" tIns="0" rIns="0" bIns="0" rtlCol="0" anchor="t"/>
          <a:lstStyle/>
          <a:p>
            <a:pPr indent="0" marL="0">
              <a:lnSpc>
                <a:spcPts val="1300"/>
              </a:lnSpc>
              <a:buNone/>
            </a:pPr>
            <a:r>
              <a:rPr lang="en-US" sz="1000" dirty="0">
                <a:solidFill>
                  <a:srgbClr val="A9C0D6"/>
                </a:solidFill>
                <a:latin typeface="Calibri" pitchFamily="34" charset="0"/>
                <a:ea typeface="Calibri" pitchFamily="34" charset="-122"/>
                <a:cs typeface="Calibri" pitchFamily="34" charset="-120"/>
              </a:rPr>
              <a:t>Hydrocarbon-in-cooling-water analyser, biocide dosing loop repair, overdue eddy current inspection. It is the one register entry that has not moved.</a:t>
            </a:r>
            <a:endParaRPr lang="en-US" sz="1000" dirty="0"/>
          </a:p>
        </p:txBody>
      </p:sp>
      <p:sp>
        <p:nvSpPr>
          <p:cNvPr id="28" name="Text 26"/>
          <p:cNvSpPr/>
          <p:nvPr/>
        </p:nvSpPr>
        <p:spPr>
          <a:xfrm>
            <a:off x="9153144" y="4572000"/>
            <a:ext cx="2176272" cy="640080"/>
          </a:xfrm>
          <a:prstGeom prst="rect">
            <a:avLst/>
          </a:prstGeom>
          <a:noFill/>
          <a:ln/>
        </p:spPr>
        <p:txBody>
          <a:bodyPr wrap="square" lIns="0" tIns="0" rIns="0" bIns="0" rtlCol="0" anchor="t"/>
          <a:lstStyle/>
          <a:p>
            <a:pPr indent="0" marL="0">
              <a:lnSpc>
                <a:spcPts val="1250"/>
              </a:lnSpc>
              <a:buNone/>
            </a:pPr>
            <a:r>
              <a:rPr lang="en-US" sz="950" b="1" dirty="0">
                <a:solidFill>
                  <a:srgbClr val="F0C078"/>
                </a:solidFill>
                <a:latin typeface="Calibri" pitchFamily="34" charset="0"/>
                <a:ea typeface="Calibri" pitchFamily="34" charset="-122"/>
                <a:cs typeface="Calibri" pitchFamily="34" charset="-120"/>
              </a:rPr>
              <a:t>~$420k indicative  ·  Q3–Q4 2026
</a:t>
            </a:r>
            <a:pPr indent="0" marL="0">
              <a:lnSpc>
                <a:spcPts val="1250"/>
              </a:lnSpc>
              <a:buNone/>
            </a:pPr>
            <a:r>
              <a:rPr lang="en-US" sz="950" dirty="0">
                <a:solidFill>
                  <a:srgbClr val="7FA8CE"/>
                </a:solidFill>
                <a:latin typeface="Calibri" pitchFamily="34" charset="0"/>
                <a:ea typeface="Calibri" pitchFamily="34" charset="-122"/>
                <a:cs typeface="Calibri" pitchFamily="34" charset="-120"/>
              </a:rPr>
              <a:t>Utilities Engineer</a:t>
            </a:r>
            <a:endParaRPr lang="en-US" sz="950" dirty="0"/>
          </a:p>
        </p:txBody>
      </p:sp>
      <p:sp>
        <p:nvSpPr>
          <p:cNvPr id="29" name="Shape 27"/>
          <p:cNvSpPr/>
          <p:nvPr/>
        </p:nvSpPr>
        <p:spPr>
          <a:xfrm>
            <a:off x="566928" y="5449824"/>
            <a:ext cx="11055096" cy="768096"/>
          </a:xfrm>
          <a:prstGeom prst="roundRect">
            <a:avLst>
              <a:gd name="adj" fmla="val 7143"/>
            </a:avLst>
          </a:prstGeom>
          <a:solidFill>
            <a:srgbClr val="12395F"/>
          </a:solidFill>
          <a:ln/>
        </p:spPr>
      </p:sp>
      <p:sp>
        <p:nvSpPr>
          <p:cNvPr id="30" name="Text 28"/>
          <p:cNvSpPr/>
          <p:nvPr/>
        </p:nvSpPr>
        <p:spPr>
          <a:xfrm>
            <a:off x="877824" y="5449824"/>
            <a:ext cx="10433304" cy="7680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Three failures cost $23.1 million in twelve months. Three of these four asks are procedural and cost nothing but attention.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11055096" cy="219456"/>
          </a:xfrm>
          <a:prstGeom prst="rect">
            <a:avLst/>
          </a:prstGeom>
          <a:noFill/>
          <a:ln/>
        </p:spPr>
        <p:txBody>
          <a:bodyPr wrap="square" lIns="0" tIns="0" rIns="0" bIns="0" rtlCol="0" anchor="ctr"/>
          <a:lstStyle/>
          <a:p>
            <a:pPr indent="0" marL="0">
              <a:buNone/>
            </a:pPr>
            <a:r>
              <a:rPr lang="en-US" sz="1100" b="1" spc="160" kern="0" dirty="0">
                <a:solidFill>
                  <a:srgbClr val="00539B"/>
                </a:solidFill>
                <a:latin typeface="Calibri" pitchFamily="34" charset="0"/>
                <a:ea typeface="Calibri" pitchFamily="34" charset="-122"/>
                <a:cs typeface="Calibri" pitchFamily="34" charset="-120"/>
              </a:rPr>
              <a:t>REFERENCE</a:t>
            </a:r>
            <a:endParaRPr lang="en-US" sz="1100" dirty="0"/>
          </a:p>
        </p:txBody>
      </p:sp>
      <p:sp>
        <p:nvSpPr>
          <p:cNvPr id="3" name="Text 1"/>
          <p:cNvSpPr/>
          <p:nvPr/>
        </p:nvSpPr>
        <p:spPr>
          <a:xfrm>
            <a:off x="566928" y="493776"/>
            <a:ext cx="11055096" cy="804672"/>
          </a:xfrm>
          <a:prstGeom prst="rect">
            <a:avLst/>
          </a:prstGeom>
          <a:noFill/>
          <a:ln/>
        </p:spPr>
        <p:txBody>
          <a:bodyPr wrap="square" lIns="0" tIns="0" rIns="0" bIns="0" rtlCol="0" anchor="ctr"/>
          <a:lstStyle/>
          <a:p>
            <a:pPr indent="0" marL="0">
              <a:lnSpc>
                <a:spcPts val="2900"/>
              </a:lnSpc>
              <a:buNone/>
            </a:pPr>
            <a:r>
              <a:rPr lang="en-US" sz="2400" b="1" dirty="0">
                <a:solidFill>
                  <a:srgbClr val="0A2540"/>
                </a:solidFill>
                <a:latin typeface="Cambria" pitchFamily="34" charset="0"/>
                <a:ea typeface="Cambria" pitchFamily="34" charset="-122"/>
                <a:cs typeface="Cambria" pitchFamily="34" charset="-120"/>
              </a:rPr>
              <a:t>Acronyms, standards, and where the detail lives.</a:t>
            </a:r>
            <a:endParaRPr lang="en-US" sz="2400" dirty="0"/>
          </a:p>
        </p:txBody>
      </p:sp>
      <p:sp>
        <p:nvSpPr>
          <p:cNvPr id="4" name="Text 2"/>
          <p:cNvSpPr/>
          <p:nvPr/>
        </p:nvSpPr>
        <p:spPr>
          <a:xfrm>
            <a:off x="566928" y="1316736"/>
            <a:ext cx="11055096" cy="256032"/>
          </a:xfrm>
          <a:prstGeom prst="rect">
            <a:avLst/>
          </a:prstGeom>
          <a:noFill/>
          <a:ln/>
        </p:spPr>
        <p:txBody>
          <a:bodyPr wrap="square" lIns="0" tIns="0" rIns="0" bIns="0" rtlCol="0" anchor="ctr"/>
          <a:lstStyle/>
          <a:p>
            <a:pPr indent="0" marL="0">
              <a:buNone/>
            </a:pPr>
            <a:r>
              <a:rPr lang="en-US" sz="1200" i="1" dirty="0">
                <a:solidFill>
                  <a:srgbClr val="56677A"/>
                </a:solidFill>
                <a:latin typeface="Calibri" pitchFamily="34" charset="0"/>
                <a:ea typeface="Calibri" pitchFamily="34" charset="-122"/>
                <a:cs typeface="Calibri" pitchFamily="34" charset="-120"/>
              </a:rPr>
              <a:t>Every acronym in this deck was defined on the slide where it first appeared. This is the safety net.</a:t>
            </a:r>
            <a:endParaRPr lang="en-US" sz="1200" dirty="0"/>
          </a:p>
        </p:txBody>
      </p:sp>
      <p:sp>
        <p:nvSpPr>
          <p:cNvPr id="5" name="Shape 3"/>
          <p:cNvSpPr/>
          <p:nvPr/>
        </p:nvSpPr>
        <p:spPr>
          <a:xfrm>
            <a:off x="566928" y="1645920"/>
            <a:ext cx="6766560" cy="3017520"/>
          </a:xfrm>
          <a:prstGeom prst="roundRect">
            <a:avLst>
              <a:gd name="adj" fmla="val 1515"/>
            </a:avLst>
          </a:prstGeom>
          <a:solidFill>
            <a:srgbClr val="F1F4F8"/>
          </a:solidFill>
          <a:ln w="9525">
            <a:solidFill>
              <a:srgbClr val="CFD8E3"/>
            </a:solidFill>
            <a:prstDash val="solid"/>
          </a:ln>
        </p:spPr>
      </p:sp>
      <p:sp>
        <p:nvSpPr>
          <p:cNvPr id="6" name="Text 4"/>
          <p:cNvSpPr/>
          <p:nvPr/>
        </p:nvSpPr>
        <p:spPr>
          <a:xfrm>
            <a:off x="786384" y="1773936"/>
            <a:ext cx="3657600" cy="201168"/>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ACRONYMS</a:t>
            </a:r>
            <a:endParaRPr lang="en-US" sz="850" dirty="0"/>
          </a:p>
        </p:txBody>
      </p:sp>
      <p:sp>
        <p:nvSpPr>
          <p:cNvPr id="7" name="Text 5"/>
          <p:cNvSpPr/>
          <p:nvPr/>
        </p:nvSpPr>
        <p:spPr>
          <a:xfrm>
            <a:off x="786384" y="2048256"/>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AGT</a:t>
            </a:r>
            <a:pPr indent="0" marL="0">
              <a:buNone/>
            </a:pPr>
            <a:r>
              <a:rPr lang="en-US" sz="950" dirty="0">
                <a:solidFill>
                  <a:srgbClr val="56677A"/>
                </a:solidFill>
                <a:latin typeface="Calibri" pitchFamily="34" charset="0"/>
                <a:ea typeface="Calibri" pitchFamily="34" charset="-122"/>
                <a:cs typeface="Calibri" pitchFamily="34" charset="-120"/>
              </a:rPr>
              <a:t>   Authorised Gas Tester</a:t>
            </a:r>
            <a:endParaRPr lang="en-US" sz="950" dirty="0"/>
          </a:p>
        </p:txBody>
      </p:sp>
      <p:sp>
        <p:nvSpPr>
          <p:cNvPr id="8" name="Text 6"/>
          <p:cNvSpPr/>
          <p:nvPr/>
        </p:nvSpPr>
        <p:spPr>
          <a:xfrm>
            <a:off x="4041648" y="2048256"/>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CDU</a:t>
            </a:r>
            <a:pPr indent="0" marL="0">
              <a:buNone/>
            </a:pPr>
            <a:r>
              <a:rPr lang="en-US" sz="950" dirty="0">
                <a:solidFill>
                  <a:srgbClr val="56677A"/>
                </a:solidFill>
                <a:latin typeface="Calibri" pitchFamily="34" charset="0"/>
                <a:ea typeface="Calibri" pitchFamily="34" charset="-122"/>
                <a:cs typeface="Calibri" pitchFamily="34" charset="-120"/>
              </a:rPr>
              <a:t>   Crude Distillation Unit</a:t>
            </a:r>
            <a:endParaRPr lang="en-US" sz="950" dirty="0"/>
          </a:p>
        </p:txBody>
      </p:sp>
      <p:sp>
        <p:nvSpPr>
          <p:cNvPr id="9" name="Text 7"/>
          <p:cNvSpPr/>
          <p:nvPr/>
        </p:nvSpPr>
        <p:spPr>
          <a:xfrm>
            <a:off x="786384" y="2304288"/>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CMMS</a:t>
            </a:r>
            <a:pPr indent="0" marL="0">
              <a:buNone/>
            </a:pPr>
            <a:r>
              <a:rPr lang="en-US" sz="950" dirty="0">
                <a:solidFill>
                  <a:srgbClr val="56677A"/>
                </a:solidFill>
                <a:latin typeface="Calibri" pitchFamily="34" charset="0"/>
                <a:ea typeface="Calibri" pitchFamily="34" charset="-122"/>
                <a:cs typeface="Calibri" pitchFamily="34" charset="-120"/>
              </a:rPr>
              <a:t>   Maintenance Management System</a:t>
            </a:r>
            <a:endParaRPr lang="en-US" sz="950" dirty="0"/>
          </a:p>
        </p:txBody>
      </p:sp>
      <p:sp>
        <p:nvSpPr>
          <p:cNvPr id="10" name="Text 8"/>
          <p:cNvSpPr/>
          <p:nvPr/>
        </p:nvSpPr>
        <p:spPr>
          <a:xfrm>
            <a:off x="4041648" y="2304288"/>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DBB</a:t>
            </a:r>
            <a:pPr indent="0" marL="0">
              <a:buNone/>
            </a:pPr>
            <a:r>
              <a:rPr lang="en-US" sz="950" dirty="0">
                <a:solidFill>
                  <a:srgbClr val="56677A"/>
                </a:solidFill>
                <a:latin typeface="Calibri" pitchFamily="34" charset="0"/>
                <a:ea typeface="Calibri" pitchFamily="34" charset="-122"/>
                <a:cs typeface="Calibri" pitchFamily="34" charset="-120"/>
              </a:rPr>
              <a:t>   Double Block and Bleed</a:t>
            </a:r>
            <a:endParaRPr lang="en-US" sz="950" dirty="0"/>
          </a:p>
        </p:txBody>
      </p:sp>
      <p:sp>
        <p:nvSpPr>
          <p:cNvPr id="11" name="Text 9"/>
          <p:cNvSpPr/>
          <p:nvPr/>
        </p:nvSpPr>
        <p:spPr>
          <a:xfrm>
            <a:off x="786384" y="2560320"/>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ESD</a:t>
            </a:r>
            <a:pPr indent="0" marL="0">
              <a:buNone/>
            </a:pPr>
            <a:r>
              <a:rPr lang="en-US" sz="950" dirty="0">
                <a:solidFill>
                  <a:srgbClr val="56677A"/>
                </a:solidFill>
                <a:latin typeface="Calibri" pitchFamily="34" charset="0"/>
                <a:ea typeface="Calibri" pitchFamily="34" charset="-122"/>
                <a:cs typeface="Calibri" pitchFamily="34" charset="-120"/>
              </a:rPr>
              <a:t>   Emergency Shutdown</a:t>
            </a:r>
            <a:endParaRPr lang="en-US" sz="950" dirty="0"/>
          </a:p>
        </p:txBody>
      </p:sp>
      <p:sp>
        <p:nvSpPr>
          <p:cNvPr id="12" name="Text 10"/>
          <p:cNvSpPr/>
          <p:nvPr/>
        </p:nvSpPr>
        <p:spPr>
          <a:xfrm>
            <a:off x="4041648" y="2560320"/>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HGO</a:t>
            </a:r>
            <a:pPr indent="0" marL="0">
              <a:buNone/>
            </a:pPr>
            <a:r>
              <a:rPr lang="en-US" sz="950" dirty="0">
                <a:solidFill>
                  <a:srgbClr val="56677A"/>
                </a:solidFill>
                <a:latin typeface="Calibri" pitchFamily="34" charset="0"/>
                <a:ea typeface="Calibri" pitchFamily="34" charset="-122"/>
                <a:cs typeface="Calibri" pitchFamily="34" charset="-120"/>
              </a:rPr>
              <a:t>   Heavy Gas Oil</a:t>
            </a:r>
            <a:endParaRPr lang="en-US" sz="950" dirty="0"/>
          </a:p>
        </p:txBody>
      </p:sp>
      <p:sp>
        <p:nvSpPr>
          <p:cNvPr id="13" name="Text 11"/>
          <p:cNvSpPr/>
          <p:nvPr/>
        </p:nvSpPr>
        <p:spPr>
          <a:xfrm>
            <a:off x="786384" y="2816352"/>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IOW</a:t>
            </a:r>
            <a:pPr indent="0" marL="0">
              <a:buNone/>
            </a:pPr>
            <a:r>
              <a:rPr lang="en-US" sz="950" dirty="0">
                <a:solidFill>
                  <a:srgbClr val="56677A"/>
                </a:solidFill>
                <a:latin typeface="Calibri" pitchFamily="34" charset="0"/>
                <a:ea typeface="Calibri" pitchFamily="34" charset="-122"/>
                <a:cs typeface="Calibri" pitchFamily="34" charset="-120"/>
              </a:rPr>
              <a:t>   Integrity Operating Window</a:t>
            </a:r>
            <a:endParaRPr lang="en-US" sz="950" dirty="0"/>
          </a:p>
        </p:txBody>
      </p:sp>
      <p:sp>
        <p:nvSpPr>
          <p:cNvPr id="14" name="Text 12"/>
          <p:cNvSpPr/>
          <p:nvPr/>
        </p:nvSpPr>
        <p:spPr>
          <a:xfrm>
            <a:off x="4041648" y="2816352"/>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JSA</a:t>
            </a:r>
            <a:pPr indent="0" marL="0">
              <a:buNone/>
            </a:pPr>
            <a:r>
              <a:rPr lang="en-US" sz="950" dirty="0">
                <a:solidFill>
                  <a:srgbClr val="56677A"/>
                </a:solidFill>
                <a:latin typeface="Calibri" pitchFamily="34" charset="0"/>
                <a:ea typeface="Calibri" pitchFamily="34" charset="-122"/>
                <a:cs typeface="Calibri" pitchFamily="34" charset="-120"/>
              </a:rPr>
              <a:t>   Job Safety Analysis</a:t>
            </a:r>
            <a:endParaRPr lang="en-US" sz="950" dirty="0"/>
          </a:p>
        </p:txBody>
      </p:sp>
      <p:sp>
        <p:nvSpPr>
          <p:cNvPr id="15" name="Text 13"/>
          <p:cNvSpPr/>
          <p:nvPr/>
        </p:nvSpPr>
        <p:spPr>
          <a:xfrm>
            <a:off x="786384" y="3072384"/>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LEL</a:t>
            </a:r>
            <a:pPr indent="0" marL="0">
              <a:buNone/>
            </a:pPr>
            <a:r>
              <a:rPr lang="en-US" sz="950" dirty="0">
                <a:solidFill>
                  <a:srgbClr val="56677A"/>
                </a:solidFill>
                <a:latin typeface="Calibri" pitchFamily="34" charset="0"/>
                <a:ea typeface="Calibri" pitchFamily="34" charset="-122"/>
                <a:cs typeface="Calibri" pitchFamily="34" charset="-120"/>
              </a:rPr>
              <a:t>   Lower Explosive Limit</a:t>
            </a:r>
            <a:endParaRPr lang="en-US" sz="950" dirty="0"/>
          </a:p>
        </p:txBody>
      </p:sp>
      <p:sp>
        <p:nvSpPr>
          <p:cNvPr id="16" name="Text 14"/>
          <p:cNvSpPr/>
          <p:nvPr/>
        </p:nvSpPr>
        <p:spPr>
          <a:xfrm>
            <a:off x="4041648" y="3072384"/>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LOC</a:t>
            </a:r>
            <a:pPr indent="0" marL="0">
              <a:buNone/>
            </a:pPr>
            <a:r>
              <a:rPr lang="en-US" sz="950" dirty="0">
                <a:solidFill>
                  <a:srgbClr val="56677A"/>
                </a:solidFill>
                <a:latin typeface="Calibri" pitchFamily="34" charset="0"/>
                <a:ea typeface="Calibri" pitchFamily="34" charset="-122"/>
                <a:cs typeface="Calibri" pitchFamily="34" charset="-120"/>
              </a:rPr>
              <a:t>   Loss of Containment</a:t>
            </a:r>
            <a:endParaRPr lang="en-US" sz="950" dirty="0"/>
          </a:p>
        </p:txBody>
      </p:sp>
      <p:sp>
        <p:nvSpPr>
          <p:cNvPr id="17" name="Text 15"/>
          <p:cNvSpPr/>
          <p:nvPr/>
        </p:nvSpPr>
        <p:spPr>
          <a:xfrm>
            <a:off x="786384" y="3328416"/>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LOTO</a:t>
            </a:r>
            <a:pPr indent="0" marL="0">
              <a:buNone/>
            </a:pPr>
            <a:r>
              <a:rPr lang="en-US" sz="950" dirty="0">
                <a:solidFill>
                  <a:srgbClr val="56677A"/>
                </a:solidFill>
                <a:latin typeface="Calibri" pitchFamily="34" charset="0"/>
                <a:ea typeface="Calibri" pitchFamily="34" charset="-122"/>
                <a:cs typeface="Calibri" pitchFamily="34" charset="-120"/>
              </a:rPr>
              <a:t>   Lock Out Tag Out</a:t>
            </a:r>
            <a:endParaRPr lang="en-US" sz="950" dirty="0"/>
          </a:p>
        </p:txBody>
      </p:sp>
      <p:sp>
        <p:nvSpPr>
          <p:cNvPr id="18" name="Text 16"/>
          <p:cNvSpPr/>
          <p:nvPr/>
        </p:nvSpPr>
        <p:spPr>
          <a:xfrm>
            <a:off x="4041648" y="3328416"/>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MOC</a:t>
            </a:r>
            <a:pPr indent="0" marL="0">
              <a:buNone/>
            </a:pPr>
            <a:r>
              <a:rPr lang="en-US" sz="950" dirty="0">
                <a:solidFill>
                  <a:srgbClr val="56677A"/>
                </a:solidFill>
                <a:latin typeface="Calibri" pitchFamily="34" charset="0"/>
                <a:ea typeface="Calibri" pitchFamily="34" charset="-122"/>
                <a:cs typeface="Calibri" pitchFamily="34" charset="-120"/>
              </a:rPr>
              <a:t>   Management of Change</a:t>
            </a:r>
            <a:endParaRPr lang="en-US" sz="950" dirty="0"/>
          </a:p>
        </p:txBody>
      </p:sp>
      <p:sp>
        <p:nvSpPr>
          <p:cNvPr id="19" name="Text 17"/>
          <p:cNvSpPr/>
          <p:nvPr/>
        </p:nvSpPr>
        <p:spPr>
          <a:xfrm>
            <a:off x="786384" y="3584448"/>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MTBF</a:t>
            </a:r>
            <a:pPr indent="0" marL="0">
              <a:buNone/>
            </a:pPr>
            <a:r>
              <a:rPr lang="en-US" sz="950" dirty="0">
                <a:solidFill>
                  <a:srgbClr val="56677A"/>
                </a:solidFill>
                <a:latin typeface="Calibri" pitchFamily="34" charset="0"/>
                <a:ea typeface="Calibri" pitchFamily="34" charset="-122"/>
                <a:cs typeface="Calibri" pitchFamily="34" charset="-120"/>
              </a:rPr>
              <a:t>   Mean Time Between Failures</a:t>
            </a:r>
            <a:endParaRPr lang="en-US" sz="950" dirty="0"/>
          </a:p>
        </p:txBody>
      </p:sp>
      <p:sp>
        <p:nvSpPr>
          <p:cNvPr id="20" name="Text 18"/>
          <p:cNvSpPr/>
          <p:nvPr/>
        </p:nvSpPr>
        <p:spPr>
          <a:xfrm>
            <a:off x="4041648" y="3584448"/>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PTW</a:t>
            </a:r>
            <a:pPr indent="0" marL="0">
              <a:buNone/>
            </a:pPr>
            <a:r>
              <a:rPr lang="en-US" sz="950" dirty="0">
                <a:solidFill>
                  <a:srgbClr val="56677A"/>
                </a:solidFill>
                <a:latin typeface="Calibri" pitchFamily="34" charset="0"/>
                <a:ea typeface="Calibri" pitchFamily="34" charset="-122"/>
                <a:cs typeface="Calibri" pitchFamily="34" charset="-120"/>
              </a:rPr>
              <a:t>   Permit to Work</a:t>
            </a:r>
            <a:endParaRPr lang="en-US" sz="950" dirty="0"/>
          </a:p>
        </p:txBody>
      </p:sp>
      <p:sp>
        <p:nvSpPr>
          <p:cNvPr id="21" name="Text 19"/>
          <p:cNvSpPr/>
          <p:nvPr/>
        </p:nvSpPr>
        <p:spPr>
          <a:xfrm>
            <a:off x="786384" y="3840480"/>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RBI</a:t>
            </a:r>
            <a:pPr indent="0" marL="0">
              <a:buNone/>
            </a:pPr>
            <a:r>
              <a:rPr lang="en-US" sz="950" dirty="0">
                <a:solidFill>
                  <a:srgbClr val="56677A"/>
                </a:solidFill>
                <a:latin typeface="Calibri" pitchFamily="34" charset="0"/>
                <a:ea typeface="Calibri" pitchFamily="34" charset="-122"/>
                <a:cs typeface="Calibri" pitchFamily="34" charset="-120"/>
              </a:rPr>
              <a:t>   Risk-Based Inspection</a:t>
            </a:r>
            <a:endParaRPr lang="en-US" sz="950" dirty="0"/>
          </a:p>
        </p:txBody>
      </p:sp>
      <p:sp>
        <p:nvSpPr>
          <p:cNvPr id="22" name="Text 20"/>
          <p:cNvSpPr/>
          <p:nvPr/>
        </p:nvSpPr>
        <p:spPr>
          <a:xfrm>
            <a:off x="4041648" y="3840480"/>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RCA</a:t>
            </a:r>
            <a:pPr indent="0" marL="0">
              <a:buNone/>
            </a:pPr>
            <a:r>
              <a:rPr lang="en-US" sz="950" dirty="0">
                <a:solidFill>
                  <a:srgbClr val="56677A"/>
                </a:solidFill>
                <a:latin typeface="Calibri" pitchFamily="34" charset="0"/>
                <a:ea typeface="Calibri" pitchFamily="34" charset="-122"/>
                <a:cs typeface="Calibri" pitchFamily="34" charset="-120"/>
              </a:rPr>
              <a:t>   Root Cause Analysis</a:t>
            </a:r>
            <a:endParaRPr lang="en-US" sz="950" dirty="0"/>
          </a:p>
        </p:txBody>
      </p:sp>
      <p:sp>
        <p:nvSpPr>
          <p:cNvPr id="23" name="Text 21"/>
          <p:cNvSpPr/>
          <p:nvPr/>
        </p:nvSpPr>
        <p:spPr>
          <a:xfrm>
            <a:off x="786384" y="4096512"/>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SIMOPS</a:t>
            </a:r>
            <a:pPr indent="0" marL="0">
              <a:buNone/>
            </a:pPr>
            <a:r>
              <a:rPr lang="en-US" sz="950" dirty="0">
                <a:solidFill>
                  <a:srgbClr val="56677A"/>
                </a:solidFill>
                <a:latin typeface="Calibri" pitchFamily="34" charset="0"/>
                <a:ea typeface="Calibri" pitchFamily="34" charset="-122"/>
                <a:cs typeface="Calibri" pitchFamily="34" charset="-120"/>
              </a:rPr>
              <a:t>   Simultaneous Operations</a:t>
            </a:r>
            <a:endParaRPr lang="en-US" sz="950" dirty="0"/>
          </a:p>
        </p:txBody>
      </p:sp>
      <p:sp>
        <p:nvSpPr>
          <p:cNvPr id="24" name="Text 22"/>
          <p:cNvSpPr/>
          <p:nvPr/>
        </p:nvSpPr>
        <p:spPr>
          <a:xfrm>
            <a:off x="4041648" y="4096512"/>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TML</a:t>
            </a:r>
            <a:pPr indent="0" marL="0">
              <a:buNone/>
            </a:pPr>
            <a:r>
              <a:rPr lang="en-US" sz="950" dirty="0">
                <a:solidFill>
                  <a:srgbClr val="56677A"/>
                </a:solidFill>
                <a:latin typeface="Calibri" pitchFamily="34" charset="0"/>
                <a:ea typeface="Calibri" pitchFamily="34" charset="-122"/>
                <a:cs typeface="Calibri" pitchFamily="34" charset="-120"/>
              </a:rPr>
              <a:t>   Thickness Monitoring Location</a:t>
            </a:r>
            <a:endParaRPr lang="en-US" sz="950" dirty="0"/>
          </a:p>
        </p:txBody>
      </p:sp>
      <p:sp>
        <p:nvSpPr>
          <p:cNvPr id="25" name="Text 23"/>
          <p:cNvSpPr/>
          <p:nvPr/>
        </p:nvSpPr>
        <p:spPr>
          <a:xfrm>
            <a:off x="786384" y="4352544"/>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TMT</a:t>
            </a:r>
            <a:pPr indent="0" marL="0">
              <a:buNone/>
            </a:pPr>
            <a:r>
              <a:rPr lang="en-US" sz="950" dirty="0">
                <a:solidFill>
                  <a:srgbClr val="56677A"/>
                </a:solidFill>
                <a:latin typeface="Calibri" pitchFamily="34" charset="0"/>
                <a:ea typeface="Calibri" pitchFamily="34" charset="-122"/>
                <a:cs typeface="Calibri" pitchFamily="34" charset="-120"/>
              </a:rPr>
              <a:t>   Tube Metal Temperature</a:t>
            </a:r>
            <a:endParaRPr lang="en-US" sz="950" dirty="0"/>
          </a:p>
        </p:txBody>
      </p:sp>
      <p:sp>
        <p:nvSpPr>
          <p:cNvPr id="26" name="Text 24"/>
          <p:cNvSpPr/>
          <p:nvPr/>
        </p:nvSpPr>
        <p:spPr>
          <a:xfrm>
            <a:off x="4041648" y="4352544"/>
            <a:ext cx="3145536"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ptb</a:t>
            </a:r>
            <a:pPr indent="0" marL="0">
              <a:buNone/>
            </a:pPr>
            <a:r>
              <a:rPr lang="en-US" sz="950" dirty="0">
                <a:solidFill>
                  <a:srgbClr val="56677A"/>
                </a:solidFill>
                <a:latin typeface="Calibri" pitchFamily="34" charset="0"/>
                <a:ea typeface="Calibri" pitchFamily="34" charset="-122"/>
                <a:cs typeface="Calibri" pitchFamily="34" charset="-120"/>
              </a:rPr>
              <a:t>   Pounds per thousand barrels</a:t>
            </a:r>
            <a:endParaRPr lang="en-US" sz="950" dirty="0"/>
          </a:p>
        </p:txBody>
      </p:sp>
      <p:sp>
        <p:nvSpPr>
          <p:cNvPr id="27" name="Shape 25"/>
          <p:cNvSpPr/>
          <p:nvPr/>
        </p:nvSpPr>
        <p:spPr>
          <a:xfrm>
            <a:off x="7626096" y="1645920"/>
            <a:ext cx="3995928" cy="3017520"/>
          </a:xfrm>
          <a:prstGeom prst="roundRect">
            <a:avLst>
              <a:gd name="adj" fmla="val 1515"/>
            </a:avLst>
          </a:prstGeom>
          <a:solidFill>
            <a:srgbClr val="F1F4F8"/>
          </a:solidFill>
          <a:ln w="9525">
            <a:solidFill>
              <a:srgbClr val="CFD8E3"/>
            </a:solidFill>
            <a:prstDash val="solid"/>
          </a:ln>
        </p:spPr>
      </p:sp>
      <p:sp>
        <p:nvSpPr>
          <p:cNvPr id="28" name="Text 26"/>
          <p:cNvSpPr/>
          <p:nvPr/>
        </p:nvSpPr>
        <p:spPr>
          <a:xfrm>
            <a:off x="7845552" y="1773936"/>
            <a:ext cx="3557016" cy="201168"/>
          </a:xfrm>
          <a:prstGeom prst="rect">
            <a:avLst/>
          </a:prstGeom>
          <a:noFill/>
          <a:ln/>
        </p:spPr>
        <p:txBody>
          <a:bodyPr wrap="square" lIns="0" tIns="0" rIns="0" bIns="0" rtlCol="0" anchor="ctr"/>
          <a:lstStyle/>
          <a:p>
            <a:pPr indent="0" marL="0">
              <a:buNone/>
            </a:pPr>
            <a:r>
              <a:rPr lang="en-US" sz="850" b="1" spc="120" kern="0" dirty="0">
                <a:solidFill>
                  <a:srgbClr val="00539B"/>
                </a:solidFill>
                <a:latin typeface="Calibri" pitchFamily="34" charset="0"/>
                <a:ea typeface="Calibri" pitchFamily="34" charset="-122"/>
                <a:cs typeface="Calibri" pitchFamily="34" charset="-120"/>
              </a:rPr>
              <a:t>STANDARDS REFERENCED</a:t>
            </a:r>
            <a:endParaRPr lang="en-US" sz="850" dirty="0"/>
          </a:p>
        </p:txBody>
      </p:sp>
      <p:sp>
        <p:nvSpPr>
          <p:cNvPr id="29" name="Text 27"/>
          <p:cNvSpPr/>
          <p:nvPr/>
        </p:nvSpPr>
        <p:spPr>
          <a:xfrm>
            <a:off x="7845552" y="2048256"/>
            <a:ext cx="3557016" cy="1737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API RP 571</a:t>
            </a:r>
            <a:endParaRPr lang="en-US" sz="1000" dirty="0"/>
          </a:p>
        </p:txBody>
      </p:sp>
      <p:sp>
        <p:nvSpPr>
          <p:cNvPr id="30" name="Text 28"/>
          <p:cNvSpPr/>
          <p:nvPr/>
        </p:nvSpPr>
        <p:spPr>
          <a:xfrm>
            <a:off x="7845552" y="2203704"/>
            <a:ext cx="3557016" cy="173736"/>
          </a:xfrm>
          <a:prstGeom prst="rect">
            <a:avLst/>
          </a:prstGeom>
          <a:noFill/>
          <a:ln/>
        </p:spPr>
        <p:txBody>
          <a:bodyPr wrap="square" lIns="0" tIns="0" rIns="0" bIns="0" rtlCol="0" anchor="ctr"/>
          <a:lstStyle/>
          <a:p>
            <a:pPr indent="0" marL="0">
              <a:buNone/>
            </a:pPr>
            <a:r>
              <a:rPr lang="en-US" sz="900" dirty="0">
                <a:solidFill>
                  <a:srgbClr val="56677A"/>
                </a:solidFill>
                <a:latin typeface="Calibri" pitchFamily="34" charset="0"/>
                <a:ea typeface="Calibri" pitchFamily="34" charset="-122"/>
                <a:cs typeface="Calibri" pitchFamily="34" charset="-120"/>
              </a:rPr>
              <a:t>Damage mechanisms in refining</a:t>
            </a:r>
            <a:endParaRPr lang="en-US" sz="900" dirty="0"/>
          </a:p>
        </p:txBody>
      </p:sp>
      <p:sp>
        <p:nvSpPr>
          <p:cNvPr id="31" name="Text 29"/>
          <p:cNvSpPr/>
          <p:nvPr/>
        </p:nvSpPr>
        <p:spPr>
          <a:xfrm>
            <a:off x="7845552" y="2368296"/>
            <a:ext cx="3557016" cy="1737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API RP 580 / 581</a:t>
            </a:r>
            <a:endParaRPr lang="en-US" sz="1000" dirty="0"/>
          </a:p>
        </p:txBody>
      </p:sp>
      <p:sp>
        <p:nvSpPr>
          <p:cNvPr id="32" name="Text 30"/>
          <p:cNvSpPr/>
          <p:nvPr/>
        </p:nvSpPr>
        <p:spPr>
          <a:xfrm>
            <a:off x="7845552" y="2523744"/>
            <a:ext cx="3557016" cy="173736"/>
          </a:xfrm>
          <a:prstGeom prst="rect">
            <a:avLst/>
          </a:prstGeom>
          <a:noFill/>
          <a:ln/>
        </p:spPr>
        <p:txBody>
          <a:bodyPr wrap="square" lIns="0" tIns="0" rIns="0" bIns="0" rtlCol="0" anchor="ctr"/>
          <a:lstStyle/>
          <a:p>
            <a:pPr indent="0" marL="0">
              <a:buNone/>
            </a:pPr>
            <a:r>
              <a:rPr lang="en-US" sz="900" dirty="0">
                <a:solidFill>
                  <a:srgbClr val="56677A"/>
                </a:solidFill>
                <a:latin typeface="Calibri" pitchFamily="34" charset="0"/>
                <a:ea typeface="Calibri" pitchFamily="34" charset="-122"/>
                <a:cs typeface="Calibri" pitchFamily="34" charset="-120"/>
              </a:rPr>
              <a:t>Risk-based inspection</a:t>
            </a:r>
            <a:endParaRPr lang="en-US" sz="900" dirty="0"/>
          </a:p>
        </p:txBody>
      </p:sp>
      <p:sp>
        <p:nvSpPr>
          <p:cNvPr id="33" name="Text 31"/>
          <p:cNvSpPr/>
          <p:nvPr/>
        </p:nvSpPr>
        <p:spPr>
          <a:xfrm>
            <a:off x="7845552" y="2688336"/>
            <a:ext cx="3557016" cy="1737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API RP 584</a:t>
            </a:r>
            <a:endParaRPr lang="en-US" sz="1000" dirty="0"/>
          </a:p>
        </p:txBody>
      </p:sp>
      <p:sp>
        <p:nvSpPr>
          <p:cNvPr id="34" name="Text 32"/>
          <p:cNvSpPr/>
          <p:nvPr/>
        </p:nvSpPr>
        <p:spPr>
          <a:xfrm>
            <a:off x="7845552" y="2843784"/>
            <a:ext cx="3557016" cy="173736"/>
          </a:xfrm>
          <a:prstGeom prst="rect">
            <a:avLst/>
          </a:prstGeom>
          <a:noFill/>
          <a:ln/>
        </p:spPr>
        <p:txBody>
          <a:bodyPr wrap="square" lIns="0" tIns="0" rIns="0" bIns="0" rtlCol="0" anchor="ctr"/>
          <a:lstStyle/>
          <a:p>
            <a:pPr indent="0" marL="0">
              <a:buNone/>
            </a:pPr>
            <a:r>
              <a:rPr lang="en-US" sz="900" dirty="0">
                <a:solidFill>
                  <a:srgbClr val="56677A"/>
                </a:solidFill>
                <a:latin typeface="Calibri" pitchFamily="34" charset="0"/>
                <a:ea typeface="Calibri" pitchFamily="34" charset="-122"/>
                <a:cs typeface="Calibri" pitchFamily="34" charset="-120"/>
              </a:rPr>
              <a:t>Integrity operating windows</a:t>
            </a:r>
            <a:endParaRPr lang="en-US" sz="900" dirty="0"/>
          </a:p>
        </p:txBody>
      </p:sp>
      <p:sp>
        <p:nvSpPr>
          <p:cNvPr id="35" name="Text 33"/>
          <p:cNvSpPr/>
          <p:nvPr/>
        </p:nvSpPr>
        <p:spPr>
          <a:xfrm>
            <a:off x="7845552" y="3008376"/>
            <a:ext cx="3557016" cy="1737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API RP 573</a:t>
            </a:r>
            <a:endParaRPr lang="en-US" sz="1000" dirty="0"/>
          </a:p>
        </p:txBody>
      </p:sp>
      <p:sp>
        <p:nvSpPr>
          <p:cNvPr id="36" name="Text 34"/>
          <p:cNvSpPr/>
          <p:nvPr/>
        </p:nvSpPr>
        <p:spPr>
          <a:xfrm>
            <a:off x="7845552" y="3163824"/>
            <a:ext cx="3557016" cy="173736"/>
          </a:xfrm>
          <a:prstGeom prst="rect">
            <a:avLst/>
          </a:prstGeom>
          <a:noFill/>
          <a:ln/>
        </p:spPr>
        <p:txBody>
          <a:bodyPr wrap="square" lIns="0" tIns="0" rIns="0" bIns="0" rtlCol="0" anchor="ctr"/>
          <a:lstStyle/>
          <a:p>
            <a:pPr indent="0" marL="0">
              <a:buNone/>
            </a:pPr>
            <a:r>
              <a:rPr lang="en-US" sz="900" dirty="0">
                <a:solidFill>
                  <a:srgbClr val="56677A"/>
                </a:solidFill>
                <a:latin typeface="Calibri" pitchFamily="34" charset="0"/>
                <a:ea typeface="Calibri" pitchFamily="34" charset="-122"/>
                <a:cs typeface="Calibri" pitchFamily="34" charset="-120"/>
              </a:rPr>
              <a:t>Inspection of fired heaters</a:t>
            </a:r>
            <a:endParaRPr lang="en-US" sz="900" dirty="0"/>
          </a:p>
        </p:txBody>
      </p:sp>
      <p:sp>
        <p:nvSpPr>
          <p:cNvPr id="37" name="Text 35"/>
          <p:cNvSpPr/>
          <p:nvPr/>
        </p:nvSpPr>
        <p:spPr>
          <a:xfrm>
            <a:off x="7845552" y="3328416"/>
            <a:ext cx="3557016" cy="1737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API 682</a:t>
            </a:r>
            <a:endParaRPr lang="en-US" sz="1000" dirty="0"/>
          </a:p>
        </p:txBody>
      </p:sp>
      <p:sp>
        <p:nvSpPr>
          <p:cNvPr id="38" name="Text 36"/>
          <p:cNvSpPr/>
          <p:nvPr/>
        </p:nvSpPr>
        <p:spPr>
          <a:xfrm>
            <a:off x="7845552" y="3483864"/>
            <a:ext cx="3557016" cy="173736"/>
          </a:xfrm>
          <a:prstGeom prst="rect">
            <a:avLst/>
          </a:prstGeom>
          <a:noFill/>
          <a:ln/>
        </p:spPr>
        <p:txBody>
          <a:bodyPr wrap="square" lIns="0" tIns="0" rIns="0" bIns="0" rtlCol="0" anchor="ctr"/>
          <a:lstStyle/>
          <a:p>
            <a:pPr indent="0" marL="0">
              <a:buNone/>
            </a:pPr>
            <a:r>
              <a:rPr lang="en-US" sz="900" dirty="0">
                <a:solidFill>
                  <a:srgbClr val="56677A"/>
                </a:solidFill>
                <a:latin typeface="Calibri" pitchFamily="34" charset="0"/>
                <a:ea typeface="Calibri" pitchFamily="34" charset="-122"/>
                <a:cs typeface="Calibri" pitchFamily="34" charset="-120"/>
              </a:rPr>
              <a:t>Pump shaft sealing systems</a:t>
            </a:r>
            <a:endParaRPr lang="en-US" sz="900" dirty="0"/>
          </a:p>
        </p:txBody>
      </p:sp>
      <p:sp>
        <p:nvSpPr>
          <p:cNvPr id="39" name="Text 37"/>
          <p:cNvSpPr/>
          <p:nvPr/>
        </p:nvSpPr>
        <p:spPr>
          <a:xfrm>
            <a:off x="7845552" y="3648456"/>
            <a:ext cx="3557016" cy="1737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API 579-1 / ASME FFS-1</a:t>
            </a:r>
            <a:endParaRPr lang="en-US" sz="1000" dirty="0"/>
          </a:p>
        </p:txBody>
      </p:sp>
      <p:sp>
        <p:nvSpPr>
          <p:cNvPr id="40" name="Text 38"/>
          <p:cNvSpPr/>
          <p:nvPr/>
        </p:nvSpPr>
        <p:spPr>
          <a:xfrm>
            <a:off x="7845552" y="3803904"/>
            <a:ext cx="3557016" cy="173736"/>
          </a:xfrm>
          <a:prstGeom prst="rect">
            <a:avLst/>
          </a:prstGeom>
          <a:noFill/>
          <a:ln/>
        </p:spPr>
        <p:txBody>
          <a:bodyPr wrap="square" lIns="0" tIns="0" rIns="0" bIns="0" rtlCol="0" anchor="ctr"/>
          <a:lstStyle/>
          <a:p>
            <a:pPr indent="0" marL="0">
              <a:buNone/>
            </a:pPr>
            <a:r>
              <a:rPr lang="en-US" sz="900" dirty="0">
                <a:solidFill>
                  <a:srgbClr val="56677A"/>
                </a:solidFill>
                <a:latin typeface="Calibri" pitchFamily="34" charset="0"/>
                <a:ea typeface="Calibri" pitchFamily="34" charset="-122"/>
                <a:cs typeface="Calibri" pitchFamily="34" charset="-120"/>
              </a:rPr>
              <a:t>Fitness-for-service</a:t>
            </a:r>
            <a:endParaRPr lang="en-US" sz="900" dirty="0"/>
          </a:p>
        </p:txBody>
      </p:sp>
      <p:sp>
        <p:nvSpPr>
          <p:cNvPr id="41" name="Text 39"/>
          <p:cNvSpPr/>
          <p:nvPr/>
        </p:nvSpPr>
        <p:spPr>
          <a:xfrm>
            <a:off x="7845552" y="3968496"/>
            <a:ext cx="3557016" cy="1737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ISO 10816-3</a:t>
            </a:r>
            <a:endParaRPr lang="en-US" sz="1000" dirty="0"/>
          </a:p>
        </p:txBody>
      </p:sp>
      <p:sp>
        <p:nvSpPr>
          <p:cNvPr id="42" name="Text 40"/>
          <p:cNvSpPr/>
          <p:nvPr/>
        </p:nvSpPr>
        <p:spPr>
          <a:xfrm>
            <a:off x="7845552" y="4123944"/>
            <a:ext cx="3557016" cy="173736"/>
          </a:xfrm>
          <a:prstGeom prst="rect">
            <a:avLst/>
          </a:prstGeom>
          <a:noFill/>
          <a:ln/>
        </p:spPr>
        <p:txBody>
          <a:bodyPr wrap="square" lIns="0" tIns="0" rIns="0" bIns="0" rtlCol="0" anchor="ctr"/>
          <a:lstStyle/>
          <a:p>
            <a:pPr indent="0" marL="0">
              <a:buNone/>
            </a:pPr>
            <a:r>
              <a:rPr lang="en-US" sz="900" dirty="0">
                <a:solidFill>
                  <a:srgbClr val="56677A"/>
                </a:solidFill>
                <a:latin typeface="Calibri" pitchFamily="34" charset="0"/>
                <a:ea typeface="Calibri" pitchFamily="34" charset="-122"/>
                <a:cs typeface="Calibri" pitchFamily="34" charset="-120"/>
              </a:rPr>
              <a:t>Mechanical vibration evaluation</a:t>
            </a:r>
            <a:endParaRPr lang="en-US" sz="900" dirty="0"/>
          </a:p>
        </p:txBody>
      </p:sp>
      <p:sp>
        <p:nvSpPr>
          <p:cNvPr id="43" name="Text 41"/>
          <p:cNvSpPr/>
          <p:nvPr/>
        </p:nvSpPr>
        <p:spPr>
          <a:xfrm>
            <a:off x="7845552" y="4288536"/>
            <a:ext cx="3557016" cy="1737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ISO 45001</a:t>
            </a:r>
            <a:endParaRPr lang="en-US" sz="1000" dirty="0"/>
          </a:p>
        </p:txBody>
      </p:sp>
      <p:sp>
        <p:nvSpPr>
          <p:cNvPr id="44" name="Text 42"/>
          <p:cNvSpPr/>
          <p:nvPr/>
        </p:nvSpPr>
        <p:spPr>
          <a:xfrm>
            <a:off x="7845552" y="4443984"/>
            <a:ext cx="3557016" cy="173736"/>
          </a:xfrm>
          <a:prstGeom prst="rect">
            <a:avLst/>
          </a:prstGeom>
          <a:noFill/>
          <a:ln/>
        </p:spPr>
        <p:txBody>
          <a:bodyPr wrap="square" lIns="0" tIns="0" rIns="0" bIns="0" rtlCol="0" anchor="ctr"/>
          <a:lstStyle/>
          <a:p>
            <a:pPr indent="0" marL="0">
              <a:buNone/>
            </a:pPr>
            <a:r>
              <a:rPr lang="en-US" sz="900" dirty="0">
                <a:solidFill>
                  <a:srgbClr val="56677A"/>
                </a:solidFill>
                <a:latin typeface="Calibri" pitchFamily="34" charset="0"/>
                <a:ea typeface="Calibri" pitchFamily="34" charset="-122"/>
                <a:cs typeface="Calibri" pitchFamily="34" charset="-120"/>
              </a:rPr>
              <a:t>OH&amp;S management systems</a:t>
            </a:r>
            <a:endParaRPr lang="en-US" sz="900" dirty="0"/>
          </a:p>
        </p:txBody>
      </p:sp>
      <p:sp>
        <p:nvSpPr>
          <p:cNvPr id="45" name="Shape 43"/>
          <p:cNvSpPr/>
          <p:nvPr/>
        </p:nvSpPr>
        <p:spPr>
          <a:xfrm>
            <a:off x="566928" y="4901184"/>
            <a:ext cx="11055096" cy="914400"/>
          </a:xfrm>
          <a:prstGeom prst="roundRect">
            <a:avLst>
              <a:gd name="adj" fmla="val 5000"/>
            </a:avLst>
          </a:prstGeom>
          <a:solidFill>
            <a:srgbClr val="0A2540"/>
          </a:solidFill>
          <a:ln/>
        </p:spPr>
      </p:sp>
      <p:sp>
        <p:nvSpPr>
          <p:cNvPr id="46" name="Text 44"/>
          <p:cNvSpPr/>
          <p:nvPr/>
        </p:nvSpPr>
        <p:spPr>
          <a:xfrm>
            <a:off x="877824" y="4901184"/>
            <a:ext cx="10433304" cy="914400"/>
          </a:xfrm>
          <a:prstGeom prst="rect">
            <a:avLst/>
          </a:prstGeom>
          <a:noFill/>
          <a:ln/>
        </p:spPr>
        <p:txBody>
          <a:bodyPr wrap="square" lIns="0" tIns="0" rIns="0" bIns="0" rtlCol="0" anchor="ctr"/>
          <a:lstStyle/>
          <a:p>
            <a:pPr indent="0" marL="0">
              <a:lnSpc>
                <a:spcPts val="1600"/>
              </a:lnSpc>
              <a:buNone/>
            </a:pPr>
            <a:r>
              <a:rPr lang="en-US" sz="1150" b="1" dirty="0">
                <a:solidFill>
                  <a:srgbClr val="FFFFFF"/>
                </a:solidFill>
                <a:latin typeface="Calibri" pitchFamily="34" charset="0"/>
                <a:ea typeface="Calibri" pitchFamily="34" charset="-122"/>
                <a:cs typeface="Calibri" pitchFamily="34" charset="-120"/>
              </a:rPr>
              <a:t>The handout carries the full artefacts:  </a:t>
            </a:r>
            <a:pPr indent="0" marL="0">
              <a:lnSpc>
                <a:spcPts val="1600"/>
              </a:lnSpc>
              <a:buNone/>
            </a:pPr>
            <a:r>
              <a:rPr lang="en-US" sz="1150" dirty="0">
                <a:solidFill>
                  <a:srgbClr val="B9CBDD"/>
                </a:solidFill>
                <a:latin typeface="Calibri" pitchFamily="34" charset="0"/>
                <a:ea typeface="Calibri" pitchFamily="34" charset="-122"/>
                <a:cs typeface="Calibri" pitchFamily="34" charset="-120"/>
              </a:rPr>
              <a:t>three complete RCAs with barrier analysis and ranked corrective actions  ·  the full risk register with mechanisms, barriers, IOWs and action dates  ·  the PTW system description and live permit  ·  all twelve JSA steps</a:t>
            </a:r>
            <a:endParaRPr lang="en-US" sz="1150" dirty="0"/>
          </a:p>
        </p:txBody>
      </p:sp>
      <p:sp>
        <p:nvSpPr>
          <p:cNvPr id="47" name="Text 45"/>
          <p:cNvSpPr/>
          <p:nvPr/>
        </p:nvSpPr>
        <p:spPr>
          <a:xfrm>
            <a:off x="566928" y="5980176"/>
            <a:ext cx="11055096" cy="365760"/>
          </a:xfrm>
          <a:prstGeom prst="rect">
            <a:avLst/>
          </a:prstGeom>
          <a:noFill/>
          <a:ln/>
        </p:spPr>
        <p:txBody>
          <a:bodyPr wrap="square" lIns="0" tIns="0" rIns="0" bIns="0" rtlCol="0" anchor="ctr"/>
          <a:lstStyle/>
          <a:p>
            <a:pPr algn="ctr" indent="0" marL="0">
              <a:buNone/>
            </a:pPr>
            <a:r>
              <a:rPr lang="en-US" sz="1600" b="1" dirty="0">
                <a:solidFill>
                  <a:srgbClr val="0A2540"/>
                </a:solidFill>
                <a:latin typeface="Cambria" pitchFamily="34" charset="0"/>
                <a:ea typeface="Cambria" pitchFamily="34" charset="-122"/>
                <a:cs typeface="Cambria" pitchFamily="34" charset="-120"/>
              </a:rPr>
              <a:t>Group C  (29 Members)  ·  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Crude Distillation Unit Integrity Case 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Failure to Control</dc:title>
  <dc:subject>PptxGenJS Presentation</dc:subject>
  <dc:creator>Group C (29 Members)</dc:creator>
  <cp:lastModifiedBy>Group C (29 Members)</cp:lastModifiedBy>
  <cp:revision>1</cp:revision>
  <dcterms:created xsi:type="dcterms:W3CDTF">2026-08-14T15:28:33Z</dcterms:created>
  <dcterms:modified xsi:type="dcterms:W3CDTF">2026-08-14T15:28:33Z</dcterms:modified>
</cp:coreProperties>
</file>